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提案" id="{526fa925-a5e3-f04f-e598-4a286be25a68}">
          <p14:sldIdLst>
            <p14:sldId id="257"/>
            <p14:sldId id="258"/>
            <p14:sldId id="259"/>
            <p14:sldId id="260"/>
            <p14:sldId id="261"/>
          </p14:sldIdLst>
        </p14:section>
        <p14:section name="Default-1" id="{5e57e491-a96f-c8f4-2bfa-af1cbabe4d27}">
          <p14:sldIdLst>
            <p14:sldId id="256"/>
          </p14:sldIdLst>
        </p14:section>
        <p14:section name="進め方" id="{98133096-51fb-a483-edd0-ba0ed93e8f82}">
          <p14:sldIdLst>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このデッキは社内展開・提案用のたたき台です。詳細は詳細版デッキとWord版の解説書を参照してください。効果の数値はまだ測っていないため、試行で測ることを提案します。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結論から伝えます。いきなり全社展開せず、少数の業務で試し、測ってから広げる提案です。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AIを使っている現場でよく起きることを整理しました。現時点で社内の数値は測っていません。試行の際にこれらを測定項目にします。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Skillは SKILL.md という1枚のテキストファイルです。AIは普段は名前と「いつ使うか」だけを覚えていて、合う依頼が来たときだけ中身を読みます。そのため数が増えても動きが重くなりにくい仕組みです。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繰り返しが多く、手順やルールが決まっている業務が向いています。一度きりの作業や、毎回やり方が違う作業は向きません。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2026年10月時点で、5つのツールが共通形式 Agent Skills に対応しています。一度作ったSkillを少しの手直しで別のツールでも使えるため、特定のツールに縛られにくいのが利点です。ChatGPTの対象プランなど一部は要確認です。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期間は試行対象が決まってから設定します。Skillの試作はAIに手伝わせられるため（skill-creator）、作成自体の負担は小さく始められます。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現時点で効果の数値はありません。試行ではSkillあり／なしで同じ業務を行い、下の項目を比べることを提案します。項目は対象業務に合わせて調整してください。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詳細は詳細版デッキの第13章（安全に使うために）を参照。社内の情報セキュリティ規程との整合は担当部署に確認が必要です。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最後に判断いただきたい事項を3つに絞って示します。ツールの選定と情報管理の判断は、情報セキュリティ担当など社内の所管部署と相談してください。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4C5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280160"/>
          </a:xfrm>
          <a:prstGeom prst="rect">
            <a:avLst/>
          </a:prstGeom>
          <a:noFill/>
          <a:ln/>
        </p:spPr>
        <p:txBody>
          <a:bodyPr wrap="square" rtlCol="0"/>
          <a:lstStyle>
            <a:lvl1pPr algn="l" indent="0" marL="0">
              <a:buNone/>
              <a:defRPr lang="en-US" sz="4400" b="1" dirty="0">
                <a:solidFill>
                  <a:srgbClr val="FFFFFF"/>
                </a:solidFill>
              </a:defRPr>
            </a:lvl1pPr>
          </a:lstStyle>
          <a:p>
            <a:pPr algn="l" indent="0" marL="0">
              <a:buNone/>
            </a:pPr>
            <a:endParaRPr lang="en-US" sz="4400" dirty="0"/>
          </a:p>
        </p:txBody>
      </p:sp>
      <p:sp>
        <p:nvSpPr>
          <p:cNvPr id="3" name="Text 0"/>
          <p:cNvSpPr/>
          <p:nvPr>
            <p:ph idx="101" type="body" hasCustomPrompt="1"/>
          </p:nvPr>
        </p:nvSpPr>
        <p:spPr>
          <a:xfrm>
            <a:off x="548640" y="3474720"/>
            <a:ext cx="11094415" cy="1645920"/>
          </a:xfrm>
          <a:prstGeom prst="rect">
            <a:avLst/>
          </a:prstGeom>
          <a:noFill/>
          <a:ln/>
        </p:spPr>
        <p:txBody>
          <a:bodyPr wrap="square" rtlCol="0"/>
          <a:lstStyle>
            <a:lvl1pPr algn="l" indent="0" marL="0">
              <a:buNone/>
              <a:defRPr lang="en-US" sz="2000" dirty="0">
                <a:solidFill>
                  <a:srgbClr val="D7E6EA"/>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F4C5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11094415" cy="109728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548640" y="2834640"/>
            <a:ext cx="11094415" cy="3108960"/>
          </a:xfrm>
          <a:prstGeom prst="rect">
            <a:avLst/>
          </a:prstGeom>
          <a:noFill/>
          <a:ln/>
        </p:spPr>
        <p:txBody>
          <a:bodyPr wrap="square" rtlCol="0"/>
          <a:lstStyle>
            <a:lvl1pPr algn="l" indent="0" marL="0">
              <a:buNone/>
              <a:defRPr lang="en-US" sz="2200" dirty="0">
                <a:solidFill>
                  <a:srgbClr val="D7E6EA"/>
                </a:solidFill>
              </a:defRPr>
            </a:lvl1pPr>
          </a:lstStyle>
          <a:p>
            <a:pPr algn="l" indent="0" marL="0">
              <a:buNone/>
            </a:pPr>
            <a:endParaRPr lang="en-US"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7E6EA"/>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lstStyle>
            <a:lvl1pPr algn="l" indent="0" marL="0">
              <a:buNone/>
              <a:defRPr lang="en-US" sz="3000" b="1" dirty="0">
                <a:solidFill>
                  <a:srgbClr val="0F4C5C"/>
                </a:solidFill>
              </a:defRPr>
            </a:lvl1pPr>
          </a:lstStyle>
          <a:p>
            <a:pPr algn="l" indent="0" marL="0">
              <a:buNone/>
            </a:pPr>
            <a:endParaRPr lang="en-US" sz="30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F6B76"/>
                </a:solidFill>
              </a:rPr>
              <a:t>Skill導入の提案（たたき台）</a:t>
            </a:r>
            <a:endParaRPr lang="en-US" sz="1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7E6E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280160"/>
          </a:xfrm>
          <a:prstGeom prst="rect">
            <a:avLst/>
          </a:prstGeom>
          <a:noFill/>
          <a:ln/>
        </p:spPr>
        <p:txBody>
          <a:bodyPr wrap="square" lIns="0" tIns="0" rIns="0" bIns="0" rtlCol="0" anchor="b"/>
          <a:lstStyle/>
          <a:p>
            <a:pPr algn="l" indent="0" marL="0">
              <a:buNone/>
            </a:pPr>
            <a:r>
              <a:rPr lang="en-US" sz="4400" b="1" dirty="0">
                <a:solidFill>
                  <a:srgbClr val="FFFFFF"/>
                </a:solidFill>
              </a:rPr>
              <a:t>AIの「業務マニュアル」Skill 導入の提案</a:t>
            </a:r>
            <a:endParaRPr lang="en-US" sz="4400" dirty="0"/>
          </a:p>
        </p:txBody>
      </p:sp>
      <p:sp>
        <p:nvSpPr>
          <p:cNvPr id="3" name="Text 0"/>
          <p:cNvSpPr/>
          <p:nvPr>
            <p:ph idx="101" type="body" hasCustomPrompt="1"/>
          </p:nvPr>
        </p:nvSpPr>
        <p:spPr>
          <a:xfrm>
            <a:off x="548640" y="3474720"/>
            <a:ext cx="11094415" cy="1645920"/>
          </a:xfrm>
          <a:prstGeom prst="rect">
            <a:avLst/>
          </a:prstGeom>
          <a:noFill/>
          <a:ln/>
        </p:spPr>
        <p:txBody>
          <a:bodyPr wrap="square" lIns="0" tIns="0" rIns="0" bIns="0" rtlCol="0" anchor="t"/>
          <a:lstStyle/>
          <a:p>
            <a:pPr algn="l" indent="0" marL="0">
              <a:buNone/>
            </a:pPr>
            <a:r>
              <a:rPr lang="en-US" sz="2000" dirty="0">
                <a:solidFill>
                  <a:srgbClr val="D7E6EA"/>
                </a:solidFill>
              </a:rPr>
              <a:t>小さく試して、効果を測ってから広げる</a:t>
            </a:r>
            <a:endParaRPr lang="en-US" sz="2000" dirty="0"/>
          </a:p>
          <a:p>
            <a:pPr algn="l" indent="0" marL="0">
              <a:buNone/>
            </a:pPr>
            <a:r>
              <a:rPr lang="en-US" sz="2000" dirty="0">
                <a:solidFill>
                  <a:srgbClr val="D7E6EA"/>
                </a:solidFill>
              </a:rPr>
              <a:t>対象ツール: Claude.ai / ChatGPT / Claude Code / OpenAI Codex / GitHub Copilot</a:t>
            </a:r>
            <a:endParaRPr lang="en-US" sz="2000" dirty="0"/>
          </a:p>
          <a:p>
            <a:pPr algn="l" indent="0" marL="0">
              <a:buNone/>
            </a:pPr>
            <a:r>
              <a:rPr lang="en-US" sz="2000" dirty="0">
                <a:solidFill>
                  <a:srgbClr val="D7E6EA"/>
                </a:solidFill>
              </a:rPr>
              <a:t>情報の確認日: 2026-10-17（たたき台）</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提案の要点</a:t>
            </a:r>
            <a:endParaRPr lang="en-US" sz="3000" dirty="0"/>
          </a:p>
        </p:txBody>
      </p:sp>
      <p:sp>
        <p:nvSpPr>
          <p:cNvPr id="4" name="card-1"/>
          <p:cNvSpPr/>
          <p:nvPr/>
        </p:nvSpPr>
        <p:spPr>
          <a:xfrm>
            <a:off x="548640" y="1325880"/>
            <a:ext cx="3515258" cy="3840480"/>
          </a:xfrm>
          <a:prstGeom prst="roundRect">
            <a:avLst>
              <a:gd name="adj" fmla="val 3121"/>
            </a:avLst>
          </a:prstGeom>
          <a:solidFill>
            <a:srgbClr val="E6F0F2"/>
          </a:solidFill>
          <a:ln w="12700">
            <a:solidFill>
              <a:srgbClr val="E6F0F2"/>
            </a:solidFill>
            <a:prstDash val="solid"/>
          </a:ln>
        </p:spPr>
      </p:sp>
      <p:sp>
        <p:nvSpPr>
          <p:cNvPr id="5" name="Shape 2"/>
          <p:cNvSpPr/>
          <p:nvPr/>
        </p:nvSpPr>
        <p:spPr>
          <a:xfrm>
            <a:off x="731520" y="1508760"/>
            <a:ext cx="457200" cy="457200"/>
          </a:xfrm>
          <a:prstGeom prst="ellipse">
            <a:avLst/>
          </a:prstGeom>
          <a:solidFill>
            <a:srgbClr val="E36414"/>
          </a:solidFill>
          <a:ln w="12700">
            <a:solidFill>
              <a:srgbClr val="E36414"/>
            </a:solidFill>
            <a:prstDash val="solid"/>
          </a:ln>
        </p:spPr>
      </p:sp>
      <p:sp>
        <p:nvSpPr>
          <p:cNvPr id="6" name="Text 3"/>
          <p:cNvSpPr txBox="1"/>
          <p:nvPr/>
        </p:nvSpPr>
        <p:spPr>
          <a:xfrm>
            <a:off x="731520"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 4"/>
          <p:cNvSpPr txBox="1"/>
          <p:nvPr/>
        </p:nvSpPr>
        <p:spPr>
          <a:xfrm>
            <a:off x="1325880" y="1508760"/>
            <a:ext cx="2555138" cy="457200"/>
          </a:xfrm>
          <a:prstGeom prst="rect">
            <a:avLst/>
          </a:prstGeom>
          <a:noFill/>
          <a:ln/>
        </p:spPr>
        <p:txBody>
          <a:bodyPr wrap="square" lIns="0" tIns="0" rIns="0" bIns="0" rtlCol="0" anchor="ctr"/>
          <a:lstStyle/>
          <a:p>
            <a:pPr indent="0" marL="0">
              <a:buNone/>
            </a:pPr>
            <a:r>
              <a:rPr lang="en-US" sz="2000" b="1" dirty="0">
                <a:solidFill>
                  <a:srgbClr val="0F4C5C"/>
                </a:solidFill>
              </a:rPr>
              <a:t>何を</a:t>
            </a:r>
            <a:endParaRPr lang="en-US" sz="2000" dirty="0"/>
          </a:p>
        </p:txBody>
      </p:sp>
      <p:sp>
        <p:nvSpPr>
          <p:cNvPr id="8" name="Text 5"/>
          <p:cNvSpPr txBox="1"/>
          <p:nvPr/>
        </p:nvSpPr>
        <p:spPr>
          <a:xfrm>
            <a:off x="777240" y="2103120"/>
            <a:ext cx="3058058" cy="2926080"/>
          </a:xfrm>
          <a:prstGeom prst="rect">
            <a:avLst/>
          </a:prstGeom>
          <a:noFill/>
          <a:ln/>
        </p:spPr>
        <p:txBody>
          <a:bodyPr wrap="square" lIns="0" tIns="0" rIns="0" bIns="0" rtlCol="0" anchor="t"/>
          <a:lstStyle/>
          <a:p>
            <a:pPr indent="0" marL="0">
              <a:spcAft>
                <a:spcPts val="600"/>
              </a:spcAft>
              <a:buNone/>
            </a:pPr>
            <a:r>
              <a:rPr lang="en-US" sz="1800" dirty="0">
                <a:solidFill>
                  <a:srgbClr val="1F2933"/>
                </a:solidFill>
              </a:rPr>
              <a:t>AIに業務手順を覚えさせる「Skill」を、繰り返しの多い業務から作る</a:t>
            </a:r>
            <a:endParaRPr lang="en-US" sz="1800" dirty="0"/>
          </a:p>
        </p:txBody>
      </p:sp>
      <p:sp>
        <p:nvSpPr>
          <p:cNvPr id="9" name="card-2"/>
          <p:cNvSpPr/>
          <p:nvPr/>
        </p:nvSpPr>
        <p:spPr>
          <a:xfrm>
            <a:off x="4338218" y="1325880"/>
            <a:ext cx="3515258" cy="3840480"/>
          </a:xfrm>
          <a:prstGeom prst="roundRect">
            <a:avLst>
              <a:gd name="adj" fmla="val 3121"/>
            </a:avLst>
          </a:prstGeom>
          <a:solidFill>
            <a:srgbClr val="E6F0F2"/>
          </a:solidFill>
          <a:ln w="12700">
            <a:solidFill>
              <a:srgbClr val="E6F0F2"/>
            </a:solidFill>
            <a:prstDash val="solid"/>
          </a:ln>
        </p:spPr>
      </p:sp>
      <p:sp>
        <p:nvSpPr>
          <p:cNvPr id="10" name="Shape 7"/>
          <p:cNvSpPr/>
          <p:nvPr/>
        </p:nvSpPr>
        <p:spPr>
          <a:xfrm>
            <a:off x="4521098" y="1508760"/>
            <a:ext cx="457200" cy="457200"/>
          </a:xfrm>
          <a:prstGeom prst="ellipse">
            <a:avLst/>
          </a:prstGeom>
          <a:solidFill>
            <a:srgbClr val="E36414"/>
          </a:solidFill>
          <a:ln w="12700">
            <a:solidFill>
              <a:srgbClr val="E36414"/>
            </a:solidFill>
            <a:prstDash val="solid"/>
          </a:ln>
        </p:spPr>
      </p:sp>
      <p:sp>
        <p:nvSpPr>
          <p:cNvPr id="11" name="Text 8"/>
          <p:cNvSpPr txBox="1"/>
          <p:nvPr/>
        </p:nvSpPr>
        <p:spPr>
          <a:xfrm>
            <a:off x="4521098"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2" name="Text 9"/>
          <p:cNvSpPr txBox="1"/>
          <p:nvPr/>
        </p:nvSpPr>
        <p:spPr>
          <a:xfrm>
            <a:off x="5115458" y="1508760"/>
            <a:ext cx="2555138" cy="457200"/>
          </a:xfrm>
          <a:prstGeom prst="rect">
            <a:avLst/>
          </a:prstGeom>
          <a:noFill/>
          <a:ln/>
        </p:spPr>
        <p:txBody>
          <a:bodyPr wrap="square" lIns="0" tIns="0" rIns="0" bIns="0" rtlCol="0" anchor="ctr"/>
          <a:lstStyle/>
          <a:p>
            <a:pPr indent="0" marL="0">
              <a:buNone/>
            </a:pPr>
            <a:r>
              <a:rPr lang="en-US" sz="2000" b="1" dirty="0">
                <a:solidFill>
                  <a:srgbClr val="0F4C5C"/>
                </a:solidFill>
              </a:rPr>
              <a:t>どう進める</a:t>
            </a:r>
            <a:endParaRPr lang="en-US" sz="2000" dirty="0"/>
          </a:p>
        </p:txBody>
      </p:sp>
      <p:sp>
        <p:nvSpPr>
          <p:cNvPr id="13" name="Text 10"/>
          <p:cNvSpPr txBox="1"/>
          <p:nvPr/>
        </p:nvSpPr>
        <p:spPr>
          <a:xfrm>
            <a:off x="4566818" y="2103120"/>
            <a:ext cx="3058058" cy="2926080"/>
          </a:xfrm>
          <a:prstGeom prst="rect">
            <a:avLst/>
          </a:prstGeom>
          <a:noFill/>
          <a:ln/>
        </p:spPr>
        <p:txBody>
          <a:bodyPr wrap="square" lIns="0" tIns="0" rIns="0" bIns="0" rtlCol="0" anchor="t"/>
          <a:lstStyle/>
          <a:p>
            <a:pPr indent="0" marL="0">
              <a:spcAft>
                <a:spcPts val="600"/>
              </a:spcAft>
              <a:buNone/>
            </a:pPr>
            <a:r>
              <a:rPr lang="en-US" sz="1800" dirty="0">
                <a:solidFill>
                  <a:srgbClr val="1F2933"/>
                </a:solidFill>
              </a:rPr>
              <a:t>2〜3業務で試作 → 試行で効果を測る → 結果を見て展開を判断</a:t>
            </a:r>
            <a:endParaRPr lang="en-US" sz="1800" dirty="0"/>
          </a:p>
        </p:txBody>
      </p:sp>
      <p:sp>
        <p:nvSpPr>
          <p:cNvPr id="14" name="card-3"/>
          <p:cNvSpPr/>
          <p:nvPr/>
        </p:nvSpPr>
        <p:spPr>
          <a:xfrm>
            <a:off x="8127797" y="1325880"/>
            <a:ext cx="3515258" cy="3840480"/>
          </a:xfrm>
          <a:prstGeom prst="roundRect">
            <a:avLst>
              <a:gd name="adj" fmla="val 3121"/>
            </a:avLst>
          </a:prstGeom>
          <a:solidFill>
            <a:srgbClr val="FFF1E7"/>
          </a:solidFill>
          <a:ln w="12700">
            <a:solidFill>
              <a:srgbClr val="E36414"/>
            </a:solidFill>
            <a:prstDash val="solid"/>
          </a:ln>
        </p:spPr>
      </p:sp>
      <p:sp>
        <p:nvSpPr>
          <p:cNvPr id="15" name="Shape 12"/>
          <p:cNvSpPr/>
          <p:nvPr/>
        </p:nvSpPr>
        <p:spPr>
          <a:xfrm>
            <a:off x="8310677" y="1508760"/>
            <a:ext cx="457200" cy="457200"/>
          </a:xfrm>
          <a:prstGeom prst="ellipse">
            <a:avLst/>
          </a:prstGeom>
          <a:solidFill>
            <a:srgbClr val="E36414"/>
          </a:solidFill>
          <a:ln w="12700">
            <a:solidFill>
              <a:srgbClr val="E36414"/>
            </a:solidFill>
            <a:prstDash val="solid"/>
          </a:ln>
        </p:spPr>
      </p:sp>
      <p:sp>
        <p:nvSpPr>
          <p:cNvPr id="16" name="Text 13"/>
          <p:cNvSpPr txBox="1"/>
          <p:nvPr/>
        </p:nvSpPr>
        <p:spPr>
          <a:xfrm>
            <a:off x="8310677"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7" name="Text 14"/>
          <p:cNvSpPr txBox="1"/>
          <p:nvPr/>
        </p:nvSpPr>
        <p:spPr>
          <a:xfrm>
            <a:off x="8905037" y="1508760"/>
            <a:ext cx="2555138" cy="457200"/>
          </a:xfrm>
          <a:prstGeom prst="rect">
            <a:avLst/>
          </a:prstGeom>
          <a:noFill/>
          <a:ln/>
        </p:spPr>
        <p:txBody>
          <a:bodyPr wrap="square" lIns="0" tIns="0" rIns="0" bIns="0" rtlCol="0" anchor="ctr"/>
          <a:lstStyle/>
          <a:p>
            <a:pPr indent="0" marL="0">
              <a:buNone/>
            </a:pPr>
            <a:r>
              <a:rPr lang="en-US" sz="2000" b="1" dirty="0">
                <a:solidFill>
                  <a:srgbClr val="0F4C5C"/>
                </a:solidFill>
              </a:rPr>
              <a:t>お願いしたいこと</a:t>
            </a:r>
            <a:endParaRPr lang="en-US" sz="2000" dirty="0"/>
          </a:p>
        </p:txBody>
      </p:sp>
      <p:sp>
        <p:nvSpPr>
          <p:cNvPr id="18" name="Text 15"/>
          <p:cNvSpPr txBox="1"/>
          <p:nvPr/>
        </p:nvSpPr>
        <p:spPr>
          <a:xfrm>
            <a:off x="8356397" y="2103120"/>
            <a:ext cx="3058058" cy="2926080"/>
          </a:xfrm>
          <a:prstGeom prst="rect">
            <a:avLst/>
          </a:prstGeom>
          <a:noFill/>
          <a:ln/>
        </p:spPr>
        <p:txBody>
          <a:bodyPr wrap="square" lIns="0" tIns="0" rIns="0" bIns="0" rtlCol="0" anchor="t"/>
          <a:lstStyle/>
          <a:p>
            <a:pPr indent="0" marL="0">
              <a:spcAft>
                <a:spcPts val="600"/>
              </a:spcAft>
              <a:buNone/>
            </a:pPr>
            <a:r>
              <a:rPr lang="en-US" sz="1800" dirty="0">
                <a:solidFill>
                  <a:srgbClr val="1F2933"/>
                </a:solidFill>
              </a:rPr>
              <a:t>試行対象の業務選定、利用ツールの社内確認、試行の承認</a:t>
            </a:r>
            <a:endParaRPr lang="en-US" sz="1800" dirty="0"/>
          </a:p>
        </p:txBody>
      </p:sp>
      <p:sp>
        <p:nvSpPr>
          <p:cNvPr id="19" name="Shape 16"/>
          <p:cNvSpPr/>
          <p:nvPr/>
        </p:nvSpPr>
        <p:spPr>
          <a:xfrm>
            <a:off x="548640" y="5440680"/>
            <a:ext cx="11094415" cy="640080"/>
          </a:xfrm>
          <a:prstGeom prst="roundRect">
            <a:avLst>
              <a:gd name="adj" fmla="val 14286"/>
            </a:avLst>
          </a:prstGeom>
          <a:solidFill>
            <a:srgbClr val="FFF1E7"/>
          </a:solidFill>
          <a:ln w="12700">
            <a:solidFill>
              <a:srgbClr val="E36414"/>
            </a:solidFill>
            <a:prstDash val="solid"/>
          </a:ln>
        </p:spPr>
      </p:sp>
      <p:sp>
        <p:nvSpPr>
          <p:cNvPr id="20" name="Text 17"/>
          <p:cNvSpPr txBox="1"/>
          <p:nvPr/>
        </p:nvSpPr>
        <p:spPr>
          <a:xfrm>
            <a:off x="777240" y="5440680"/>
            <a:ext cx="10637215" cy="640080"/>
          </a:xfrm>
          <a:prstGeom prst="rect">
            <a:avLst/>
          </a:prstGeom>
          <a:noFill/>
          <a:ln/>
        </p:spPr>
        <p:txBody>
          <a:bodyPr wrap="square" lIns="0" tIns="0" rIns="0" bIns="0" rtlCol="0" anchor="ctr"/>
          <a:lstStyle/>
          <a:p>
            <a:pPr indent="0" marL="0">
              <a:buNone/>
            </a:pPr>
            <a:r>
              <a:rPr lang="en-US" sz="1800" dirty="0">
                <a:solidFill>
                  <a:srgbClr val="1F2933"/>
                </a:solidFill>
              </a:rPr>
              <a:t>効果の数値は</a:t>
            </a:r>
            <a:r>
              <a:rPr lang="en-US" sz="1800" b="1" dirty="0">
                <a:solidFill>
                  <a:srgbClr val="E36414"/>
                </a:solidFill>
              </a:rPr>
              <a:t>未測定</a:t>
            </a:r>
            <a:r>
              <a:rPr lang="en-US" sz="1800" dirty="0">
                <a:solidFill>
                  <a:srgbClr val="1F2933"/>
                </a:solidFill>
              </a:rPr>
              <a:t>。試行で測ってから判断する</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いまの困りごと</a:t>
            </a:r>
            <a:endParaRPr lang="en-US" sz="3000" dirty="0"/>
          </a:p>
        </p:txBody>
      </p:sp>
      <p:sp>
        <p:nvSpPr>
          <p:cNvPr id="4" name="card-1"/>
          <p:cNvSpPr/>
          <p:nvPr/>
        </p:nvSpPr>
        <p:spPr>
          <a:xfrm>
            <a:off x="548640" y="1325880"/>
            <a:ext cx="3515258" cy="3840480"/>
          </a:xfrm>
          <a:prstGeom prst="roundRect">
            <a:avLst>
              <a:gd name="adj" fmla="val 3121"/>
            </a:avLst>
          </a:prstGeom>
          <a:solidFill>
            <a:srgbClr val="E6F0F2"/>
          </a:solidFill>
          <a:ln w="12700">
            <a:solidFill>
              <a:srgbClr val="E6F0F2"/>
            </a:solidFill>
            <a:prstDash val="solid"/>
          </a:ln>
        </p:spPr>
      </p:sp>
      <p:sp>
        <p:nvSpPr>
          <p:cNvPr id="5" name="Text 2"/>
          <p:cNvSpPr txBox="1"/>
          <p:nvPr/>
        </p:nvSpPr>
        <p:spPr>
          <a:xfrm>
            <a:off x="777240" y="1508760"/>
            <a:ext cx="3058058" cy="457200"/>
          </a:xfrm>
          <a:prstGeom prst="rect">
            <a:avLst/>
          </a:prstGeom>
          <a:noFill/>
          <a:ln/>
        </p:spPr>
        <p:txBody>
          <a:bodyPr wrap="square" lIns="0" tIns="0" rIns="0" bIns="0" rtlCol="0" anchor="ctr"/>
          <a:lstStyle/>
          <a:p>
            <a:pPr indent="0" marL="0">
              <a:buNone/>
            </a:pPr>
            <a:r>
              <a:rPr lang="en-US" sz="2000" b="1" dirty="0">
                <a:solidFill>
                  <a:srgbClr val="0F4C5C"/>
                </a:solidFill>
              </a:rPr>
              <a:t>毎回同じ説明をしている</a:t>
            </a:r>
            <a:endParaRPr lang="en-US" sz="2000" dirty="0"/>
          </a:p>
        </p:txBody>
      </p:sp>
      <p:sp>
        <p:nvSpPr>
          <p:cNvPr id="6" name="Text 3"/>
          <p:cNvSpPr txBox="1"/>
          <p:nvPr/>
        </p:nvSpPr>
        <p:spPr>
          <a:xfrm>
            <a:off x="777240" y="2103120"/>
            <a:ext cx="3058058" cy="2926080"/>
          </a:xfrm>
          <a:prstGeom prst="rect">
            <a:avLst/>
          </a:prstGeom>
          <a:noFill/>
          <a:ln/>
        </p:spPr>
        <p:txBody>
          <a:bodyPr wrap="square" lIns="0" tIns="0" rIns="0" bIns="0" rtlCol="0" anchor="t"/>
          <a:lstStyle/>
          <a:p>
            <a:pPr indent="0" marL="0">
              <a:spcAft>
                <a:spcPts val="600"/>
              </a:spcAft>
              <a:buNone/>
            </a:pPr>
            <a:r>
              <a:rPr lang="en-US" sz="1800" dirty="0">
                <a:solidFill>
                  <a:srgbClr val="1F2933"/>
                </a:solidFill>
              </a:rPr>
              <a:t>書式やルールを依頼のたびにAIへ説明し直している</a:t>
            </a:r>
            <a:endParaRPr lang="en-US" sz="1800" dirty="0"/>
          </a:p>
        </p:txBody>
      </p:sp>
      <p:sp>
        <p:nvSpPr>
          <p:cNvPr id="7" name="card-2"/>
          <p:cNvSpPr/>
          <p:nvPr/>
        </p:nvSpPr>
        <p:spPr>
          <a:xfrm>
            <a:off x="4338218" y="1325880"/>
            <a:ext cx="3515258" cy="3840480"/>
          </a:xfrm>
          <a:prstGeom prst="roundRect">
            <a:avLst>
              <a:gd name="adj" fmla="val 3121"/>
            </a:avLst>
          </a:prstGeom>
          <a:solidFill>
            <a:srgbClr val="E6F0F2"/>
          </a:solidFill>
          <a:ln w="12700">
            <a:solidFill>
              <a:srgbClr val="E6F0F2"/>
            </a:solidFill>
            <a:prstDash val="solid"/>
          </a:ln>
        </p:spPr>
      </p:sp>
      <p:sp>
        <p:nvSpPr>
          <p:cNvPr id="8" name="Text 5"/>
          <p:cNvSpPr txBox="1"/>
          <p:nvPr/>
        </p:nvSpPr>
        <p:spPr>
          <a:xfrm>
            <a:off x="4566818" y="1508760"/>
            <a:ext cx="3058058" cy="457200"/>
          </a:xfrm>
          <a:prstGeom prst="rect">
            <a:avLst/>
          </a:prstGeom>
          <a:noFill/>
          <a:ln/>
        </p:spPr>
        <p:txBody>
          <a:bodyPr wrap="square" lIns="0" tIns="0" rIns="0" bIns="0" rtlCol="0" anchor="ctr"/>
          <a:lstStyle/>
          <a:p>
            <a:pPr indent="0" marL="0">
              <a:buNone/>
            </a:pPr>
            <a:r>
              <a:rPr lang="en-US" sz="2000" b="1" dirty="0">
                <a:solidFill>
                  <a:srgbClr val="0F4C5C"/>
                </a:solidFill>
              </a:rPr>
              <a:t>出来がばらつく</a:t>
            </a:r>
            <a:endParaRPr lang="en-US" sz="2000" dirty="0"/>
          </a:p>
        </p:txBody>
      </p:sp>
      <p:sp>
        <p:nvSpPr>
          <p:cNvPr id="9" name="Text 6"/>
          <p:cNvSpPr txBox="1"/>
          <p:nvPr/>
        </p:nvSpPr>
        <p:spPr>
          <a:xfrm>
            <a:off x="4566818" y="2103120"/>
            <a:ext cx="3058058" cy="2926080"/>
          </a:xfrm>
          <a:prstGeom prst="rect">
            <a:avLst/>
          </a:prstGeom>
          <a:noFill/>
          <a:ln/>
        </p:spPr>
        <p:txBody>
          <a:bodyPr wrap="square" lIns="0" tIns="0" rIns="0" bIns="0" rtlCol="0" anchor="t"/>
          <a:lstStyle/>
          <a:p>
            <a:pPr indent="0" marL="0">
              <a:spcAft>
                <a:spcPts val="600"/>
              </a:spcAft>
              <a:buNone/>
            </a:pPr>
            <a:r>
              <a:rPr lang="en-US" sz="1800" dirty="0">
                <a:solidFill>
                  <a:srgbClr val="1F2933"/>
                </a:solidFill>
              </a:rPr>
              <a:t>説明の漏れや人による頼み方の違いで、成果物の品質がそろわない</a:t>
            </a:r>
            <a:endParaRPr lang="en-US" sz="1800" dirty="0"/>
          </a:p>
        </p:txBody>
      </p:sp>
      <p:sp>
        <p:nvSpPr>
          <p:cNvPr id="10" name="card-3"/>
          <p:cNvSpPr/>
          <p:nvPr/>
        </p:nvSpPr>
        <p:spPr>
          <a:xfrm>
            <a:off x="8127797" y="1325880"/>
            <a:ext cx="3515258" cy="3840480"/>
          </a:xfrm>
          <a:prstGeom prst="roundRect">
            <a:avLst>
              <a:gd name="adj" fmla="val 3121"/>
            </a:avLst>
          </a:prstGeom>
          <a:solidFill>
            <a:srgbClr val="E6F0F2"/>
          </a:solidFill>
          <a:ln w="12700">
            <a:solidFill>
              <a:srgbClr val="E6F0F2"/>
            </a:solidFill>
            <a:prstDash val="solid"/>
          </a:ln>
        </p:spPr>
      </p:sp>
      <p:sp>
        <p:nvSpPr>
          <p:cNvPr id="11" name="Text 8"/>
          <p:cNvSpPr txBox="1"/>
          <p:nvPr/>
        </p:nvSpPr>
        <p:spPr>
          <a:xfrm>
            <a:off x="8356397" y="1508760"/>
            <a:ext cx="3058058" cy="457200"/>
          </a:xfrm>
          <a:prstGeom prst="rect">
            <a:avLst/>
          </a:prstGeom>
          <a:noFill/>
          <a:ln/>
        </p:spPr>
        <p:txBody>
          <a:bodyPr wrap="square" lIns="0" tIns="0" rIns="0" bIns="0" rtlCol="0" anchor="ctr"/>
          <a:lstStyle/>
          <a:p>
            <a:pPr indent="0" marL="0">
              <a:buNone/>
            </a:pPr>
            <a:r>
              <a:rPr lang="en-US" sz="2000" b="1" dirty="0">
                <a:solidFill>
                  <a:srgbClr val="0F4C5C"/>
                </a:solidFill>
              </a:rPr>
              <a:t>ノウハウが個人に閉じる</a:t>
            </a:r>
            <a:endParaRPr lang="en-US" sz="2000" dirty="0"/>
          </a:p>
        </p:txBody>
      </p:sp>
      <p:sp>
        <p:nvSpPr>
          <p:cNvPr id="12" name="Text 9"/>
          <p:cNvSpPr txBox="1"/>
          <p:nvPr/>
        </p:nvSpPr>
        <p:spPr>
          <a:xfrm>
            <a:off x="8356397" y="2103120"/>
            <a:ext cx="3058058" cy="2926080"/>
          </a:xfrm>
          <a:prstGeom prst="rect">
            <a:avLst/>
          </a:prstGeom>
          <a:noFill/>
          <a:ln/>
        </p:spPr>
        <p:txBody>
          <a:bodyPr wrap="square" lIns="0" tIns="0" rIns="0" bIns="0" rtlCol="0" anchor="t"/>
          <a:lstStyle/>
          <a:p>
            <a:pPr indent="0" marL="0">
              <a:spcAft>
                <a:spcPts val="600"/>
              </a:spcAft>
              <a:buNone/>
            </a:pPr>
            <a:r>
              <a:rPr lang="en-US" sz="1800" dirty="0">
                <a:solidFill>
                  <a:srgbClr val="1F2933"/>
                </a:solidFill>
              </a:rPr>
              <a:t>うまい頼み方が個人のメモに埋もれ、チームで共有されない</a:t>
            </a:r>
            <a:endParaRPr lang="en-US" sz="1800" dirty="0"/>
          </a:p>
        </p:txBody>
      </p:sp>
      <p:sp>
        <p:nvSpPr>
          <p:cNvPr id="13" name="Shape 10"/>
          <p:cNvSpPr/>
          <p:nvPr/>
        </p:nvSpPr>
        <p:spPr>
          <a:xfrm>
            <a:off x="548640" y="5440680"/>
            <a:ext cx="11094415" cy="640080"/>
          </a:xfrm>
          <a:prstGeom prst="roundRect">
            <a:avLst>
              <a:gd name="adj" fmla="val 14286"/>
            </a:avLst>
          </a:prstGeom>
          <a:solidFill>
            <a:srgbClr val="FFF1E7"/>
          </a:solidFill>
          <a:ln w="12700">
            <a:solidFill>
              <a:srgbClr val="E36414"/>
            </a:solidFill>
            <a:prstDash val="solid"/>
          </a:ln>
        </p:spPr>
      </p:sp>
      <p:sp>
        <p:nvSpPr>
          <p:cNvPr id="14" name="Text 11"/>
          <p:cNvSpPr txBox="1"/>
          <p:nvPr/>
        </p:nvSpPr>
        <p:spPr>
          <a:xfrm>
            <a:off x="777240" y="5440680"/>
            <a:ext cx="10637215" cy="640080"/>
          </a:xfrm>
          <a:prstGeom prst="rect">
            <a:avLst/>
          </a:prstGeom>
          <a:noFill/>
          <a:ln/>
        </p:spPr>
        <p:txBody>
          <a:bodyPr wrap="square" lIns="0" tIns="0" rIns="0" bIns="0" rtlCol="0" anchor="ctr"/>
          <a:lstStyle/>
          <a:p>
            <a:pPr indent="0" marL="0">
              <a:buNone/>
            </a:pPr>
            <a:r>
              <a:rPr lang="en-US" sz="1800" dirty="0">
                <a:solidFill>
                  <a:srgbClr val="1F2933"/>
                </a:solidFill>
              </a:rPr>
              <a:t>原因は「</a:t>
            </a:r>
            <a:r>
              <a:rPr lang="en-US" sz="1800" b="1" dirty="0">
                <a:solidFill>
                  <a:srgbClr val="E36414"/>
                </a:solidFill>
              </a:rPr>
              <a:t>AIは職場のやり方を知らない</a:t>
            </a:r>
            <a:r>
              <a:rPr lang="en-US" sz="1800" dirty="0">
                <a:solidFill>
                  <a:srgbClr val="1F2933"/>
                </a:solidFill>
              </a:rPr>
              <a:t>」こと</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Skillとは: AIに渡す業務マニュアル</a:t>
            </a:r>
            <a:endParaRPr lang="en-US" sz="3000" dirty="0"/>
          </a:p>
        </p:txBody>
      </p:sp>
      <p:sp>
        <p:nvSpPr>
          <p:cNvPr id="4" name="card-1"/>
          <p:cNvSpPr/>
          <p:nvPr/>
        </p:nvSpPr>
        <p:spPr>
          <a:xfrm>
            <a:off x="548640" y="1325880"/>
            <a:ext cx="5410048" cy="2743200"/>
          </a:xfrm>
          <a:prstGeom prst="roundRect">
            <a:avLst>
              <a:gd name="adj" fmla="val 4000"/>
            </a:avLst>
          </a:prstGeom>
          <a:solidFill>
            <a:srgbClr val="E6F0F2"/>
          </a:solidFill>
          <a:ln w="12700">
            <a:solidFill>
              <a:srgbClr val="E6F0F2"/>
            </a:solidFill>
            <a:prstDash val="solid"/>
          </a:ln>
        </p:spPr>
      </p:sp>
      <p:sp>
        <p:nvSpPr>
          <p:cNvPr id="5" name="Text 2"/>
          <p:cNvSpPr txBox="1"/>
          <p:nvPr/>
        </p:nvSpPr>
        <p:spPr>
          <a:xfrm>
            <a:off x="777240" y="1508760"/>
            <a:ext cx="4952848" cy="457200"/>
          </a:xfrm>
          <a:prstGeom prst="rect">
            <a:avLst/>
          </a:prstGeom>
          <a:noFill/>
          <a:ln/>
        </p:spPr>
        <p:txBody>
          <a:bodyPr wrap="square" lIns="0" tIns="0" rIns="0" bIns="0" rtlCol="0" anchor="ctr"/>
          <a:lstStyle/>
          <a:p>
            <a:pPr indent="0" marL="0">
              <a:buNone/>
            </a:pPr>
            <a:r>
              <a:rPr lang="en-US" sz="2000" b="1" dirty="0">
                <a:solidFill>
                  <a:srgbClr val="0F4C5C"/>
                </a:solidFill>
              </a:rPr>
              <a:t>Skillがないとき</a:t>
            </a:r>
            <a:endParaRPr lang="en-US" sz="2000" dirty="0"/>
          </a:p>
        </p:txBody>
      </p:sp>
      <p:sp>
        <p:nvSpPr>
          <p:cNvPr id="6" name="Text 3"/>
          <p:cNvSpPr txBox="1"/>
          <p:nvPr/>
        </p:nvSpPr>
        <p:spPr>
          <a:xfrm>
            <a:off x="777240" y="2103120"/>
            <a:ext cx="4952848" cy="182880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1F2933"/>
                </a:solidFill>
              </a:rPr>
              <a:t>頼むたびに毎回説明する</a:t>
            </a:r>
            <a:endParaRPr lang="en-US" sz="1800" dirty="0"/>
          </a:p>
          <a:p>
            <a:pPr marL="203200" indent="-203200">
              <a:spcAft>
                <a:spcPts val="600"/>
              </a:spcAft>
              <a:buSzPct val="100000"/>
              <a:buChar char="●"/>
            </a:pPr>
            <a:r>
              <a:rPr lang="en-US" sz="1800" dirty="0">
                <a:solidFill>
                  <a:srgbClr val="1F2933"/>
                </a:solidFill>
              </a:rPr>
              <a:t>説明が漏れると出来がばらつく</a:t>
            </a:r>
            <a:endParaRPr lang="en-US" sz="1800" dirty="0"/>
          </a:p>
        </p:txBody>
      </p:sp>
      <p:sp>
        <p:nvSpPr>
          <p:cNvPr id="7" name="card-2"/>
          <p:cNvSpPr/>
          <p:nvPr/>
        </p:nvSpPr>
        <p:spPr>
          <a:xfrm>
            <a:off x="6233008" y="1325880"/>
            <a:ext cx="5410048" cy="2743200"/>
          </a:xfrm>
          <a:prstGeom prst="roundRect">
            <a:avLst>
              <a:gd name="adj" fmla="val 4000"/>
            </a:avLst>
          </a:prstGeom>
          <a:solidFill>
            <a:srgbClr val="FFF1E7"/>
          </a:solidFill>
          <a:ln w="12700">
            <a:solidFill>
              <a:srgbClr val="E36414"/>
            </a:solidFill>
            <a:prstDash val="solid"/>
          </a:ln>
        </p:spPr>
      </p:sp>
      <p:sp>
        <p:nvSpPr>
          <p:cNvPr id="8" name="Text 5"/>
          <p:cNvSpPr txBox="1"/>
          <p:nvPr/>
        </p:nvSpPr>
        <p:spPr>
          <a:xfrm>
            <a:off x="6461608" y="1508760"/>
            <a:ext cx="4952848" cy="457200"/>
          </a:xfrm>
          <a:prstGeom prst="rect">
            <a:avLst/>
          </a:prstGeom>
          <a:noFill/>
          <a:ln/>
        </p:spPr>
        <p:txBody>
          <a:bodyPr wrap="square" lIns="0" tIns="0" rIns="0" bIns="0" rtlCol="0" anchor="ctr"/>
          <a:lstStyle/>
          <a:p>
            <a:pPr indent="0" marL="0">
              <a:buNone/>
            </a:pPr>
            <a:r>
              <a:rPr lang="en-US" sz="2000" b="1" dirty="0">
                <a:solidFill>
                  <a:srgbClr val="0F4C5C"/>
                </a:solidFill>
              </a:rPr>
              <a:t>Skillがあるとき</a:t>
            </a:r>
            <a:endParaRPr lang="en-US" sz="2000" dirty="0"/>
          </a:p>
        </p:txBody>
      </p:sp>
      <p:sp>
        <p:nvSpPr>
          <p:cNvPr id="9" name="Text 6"/>
          <p:cNvSpPr txBox="1"/>
          <p:nvPr/>
        </p:nvSpPr>
        <p:spPr>
          <a:xfrm>
            <a:off x="6461608" y="2103120"/>
            <a:ext cx="4952848" cy="182880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1F2933"/>
                </a:solidFill>
              </a:rPr>
              <a:t>「議事録にして」と言うだけ</a:t>
            </a:r>
            <a:endParaRPr lang="en-US" sz="1800" dirty="0"/>
          </a:p>
          <a:p>
            <a:pPr marL="203200" indent="-203200">
              <a:spcAft>
                <a:spcPts val="600"/>
              </a:spcAft>
              <a:buSzPct val="100000"/>
              <a:buChar char="●"/>
            </a:pPr>
            <a:r>
              <a:rPr lang="en-US" sz="1800" dirty="0">
                <a:solidFill>
                  <a:srgbClr val="1F2933"/>
                </a:solidFill>
              </a:rPr>
              <a:t>AIが自分からマニュアルを開き、同じ手順・書式で仕上げる</a:t>
            </a:r>
            <a:endParaRPr lang="en-US" sz="1800" dirty="0"/>
          </a:p>
        </p:txBody>
      </p:sp>
      <p:sp>
        <p:nvSpPr>
          <p:cNvPr id="10" name="Shape 7"/>
          <p:cNvSpPr/>
          <p:nvPr/>
        </p:nvSpPr>
        <p:spPr>
          <a:xfrm>
            <a:off x="548640" y="4343400"/>
            <a:ext cx="11094415" cy="708660"/>
          </a:xfrm>
          <a:prstGeom prst="roundRect">
            <a:avLst>
              <a:gd name="adj" fmla="val 12903"/>
            </a:avLst>
          </a:prstGeom>
          <a:solidFill>
            <a:srgbClr val="0F4C5C"/>
          </a:solidFill>
          <a:ln w="12700">
            <a:solidFill>
              <a:srgbClr val="0F4C5C"/>
            </a:solidFill>
            <a:prstDash val="solid"/>
          </a:ln>
        </p:spPr>
      </p:sp>
      <p:sp>
        <p:nvSpPr>
          <p:cNvPr id="11" name="Text 8"/>
          <p:cNvSpPr txBox="1"/>
          <p:nvPr/>
        </p:nvSpPr>
        <p:spPr>
          <a:xfrm>
            <a:off x="777240" y="4343400"/>
            <a:ext cx="2926080" cy="708660"/>
          </a:xfrm>
          <a:prstGeom prst="rect">
            <a:avLst/>
          </a:prstGeom>
          <a:noFill/>
          <a:ln/>
        </p:spPr>
        <p:txBody>
          <a:bodyPr wrap="square" lIns="0" tIns="0" rIns="0" bIns="0" rtlCol="0" anchor="ctr"/>
          <a:lstStyle/>
          <a:p>
            <a:pPr indent="0" marL="0">
              <a:buNone/>
            </a:pPr>
            <a:r>
              <a:rPr lang="en-US" sz="2000" b="1" dirty="0">
                <a:solidFill>
                  <a:srgbClr val="FFFFFF"/>
                </a:solidFill>
              </a:rPr>
              <a:t>普段</a:t>
            </a:r>
            <a:endParaRPr lang="en-US" sz="2000" dirty="0"/>
          </a:p>
        </p:txBody>
      </p:sp>
      <p:sp>
        <p:nvSpPr>
          <p:cNvPr id="12" name="Text 9"/>
          <p:cNvSpPr txBox="1"/>
          <p:nvPr/>
        </p:nvSpPr>
        <p:spPr>
          <a:xfrm>
            <a:off x="3749040" y="4343400"/>
            <a:ext cx="7665415" cy="708660"/>
          </a:xfrm>
          <a:prstGeom prst="rect">
            <a:avLst/>
          </a:prstGeom>
          <a:noFill/>
          <a:ln/>
        </p:spPr>
        <p:txBody>
          <a:bodyPr wrap="square" lIns="0" tIns="0" rIns="0" bIns="0" rtlCol="0" anchor="ctr"/>
          <a:lstStyle/>
          <a:p>
            <a:pPr indent="0" marL="0">
              <a:buNone/>
            </a:pPr>
            <a:r>
              <a:rPr lang="en-US" sz="1700" dirty="0">
                <a:solidFill>
                  <a:srgbClr val="FFFFFF"/>
                </a:solidFill>
              </a:rPr>
              <a:t>Skillの</a:t>
            </a:r>
            <a:r>
              <a:rPr lang="en-US" sz="1700" b="1" dirty="0">
                <a:solidFill>
                  <a:srgbClr val="FFFFFF"/>
                </a:solidFill>
              </a:rPr>
              <a:t>名前と「いつ使うか」だけ</a:t>
            </a:r>
            <a:r>
              <a:rPr lang="en-US" sz="1700" dirty="0">
                <a:solidFill>
                  <a:srgbClr val="FFFFFF"/>
                </a:solidFill>
              </a:rPr>
              <a:t>を覚えている</a:t>
            </a:r>
            <a:endParaRPr lang="en-US" sz="1700" dirty="0"/>
          </a:p>
        </p:txBody>
      </p:sp>
      <p:sp>
        <p:nvSpPr>
          <p:cNvPr id="13" name="Shape 10"/>
          <p:cNvSpPr/>
          <p:nvPr/>
        </p:nvSpPr>
        <p:spPr>
          <a:xfrm>
            <a:off x="1005840" y="5079492"/>
            <a:ext cx="320040" cy="265176"/>
          </a:xfrm>
          <a:prstGeom prst="downArrow">
            <a:avLst/>
          </a:prstGeom>
          <a:solidFill>
            <a:srgbClr val="E36414"/>
          </a:solidFill>
          <a:ln w="12700">
            <a:solidFill>
              <a:srgbClr val="E36414"/>
            </a:solidFill>
            <a:prstDash val="solid"/>
          </a:ln>
        </p:spPr>
      </p:sp>
      <p:sp>
        <p:nvSpPr>
          <p:cNvPr id="14" name="Shape 11"/>
          <p:cNvSpPr/>
          <p:nvPr/>
        </p:nvSpPr>
        <p:spPr>
          <a:xfrm>
            <a:off x="1005840" y="5372100"/>
            <a:ext cx="10637215" cy="708660"/>
          </a:xfrm>
          <a:prstGeom prst="roundRect">
            <a:avLst>
              <a:gd name="adj" fmla="val 12903"/>
            </a:avLst>
          </a:prstGeom>
          <a:solidFill>
            <a:srgbClr val="E6F0F2"/>
          </a:solidFill>
          <a:ln w="12700">
            <a:solidFill>
              <a:srgbClr val="0F4C5C"/>
            </a:solidFill>
            <a:prstDash val="solid"/>
          </a:ln>
        </p:spPr>
      </p:sp>
      <p:sp>
        <p:nvSpPr>
          <p:cNvPr id="15" name="Text 12"/>
          <p:cNvSpPr txBox="1"/>
          <p:nvPr/>
        </p:nvSpPr>
        <p:spPr>
          <a:xfrm>
            <a:off x="1234440" y="5372100"/>
            <a:ext cx="2926080" cy="708660"/>
          </a:xfrm>
          <a:prstGeom prst="rect">
            <a:avLst/>
          </a:prstGeom>
          <a:noFill/>
          <a:ln/>
        </p:spPr>
        <p:txBody>
          <a:bodyPr wrap="square" lIns="0" tIns="0" rIns="0" bIns="0" rtlCol="0" anchor="ctr"/>
          <a:lstStyle/>
          <a:p>
            <a:pPr indent="0" marL="0">
              <a:buNone/>
            </a:pPr>
            <a:r>
              <a:rPr lang="en-US" sz="2000" b="1" dirty="0">
                <a:solidFill>
                  <a:srgbClr val="0F4C5C"/>
                </a:solidFill>
              </a:rPr>
              <a:t>合う依頼が来たら</a:t>
            </a:r>
            <a:endParaRPr lang="en-US" sz="2000" dirty="0"/>
          </a:p>
        </p:txBody>
      </p:sp>
      <p:sp>
        <p:nvSpPr>
          <p:cNvPr id="16" name="Text 13"/>
          <p:cNvSpPr txBox="1"/>
          <p:nvPr/>
        </p:nvSpPr>
        <p:spPr>
          <a:xfrm>
            <a:off x="4206240" y="5372100"/>
            <a:ext cx="7208215" cy="708660"/>
          </a:xfrm>
          <a:prstGeom prst="rect">
            <a:avLst/>
          </a:prstGeom>
          <a:noFill/>
          <a:ln/>
        </p:spPr>
        <p:txBody>
          <a:bodyPr wrap="square" lIns="0" tIns="0" rIns="0" bIns="0" rtlCol="0" anchor="ctr"/>
          <a:lstStyle/>
          <a:p>
            <a:pPr indent="0" marL="0">
              <a:buNone/>
            </a:pPr>
            <a:r>
              <a:rPr lang="en-US" sz="1700" dirty="0">
                <a:solidFill>
                  <a:srgbClr val="1F2933"/>
                </a:solidFill>
              </a:rPr>
              <a:t>そのSkillの中身を読んで、手順どおりに作業する</a:t>
            </a:r>
            <a:endParaRPr lang="en-US"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Skillにしやすい業務の例</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926080"/>
                <a:gridCol w="8165592"/>
              </a:tblGrid>
              <a:tr h="457200">
                <a:tc>
                  <a:txBody>
                    <a:bodyPr/>
                    <a:lstStyle/>
                    <a:p>
                      <a:pPr indent="0" marL="0">
                        <a:buNone/>
                      </a:pPr>
                      <a:r>
                        <a:rPr lang="en-US" sz="1800" b="1" dirty="0">
                          <a:solidFill>
                            <a:srgbClr val="0F4C5C"/>
                          </a:solidFill>
                        </a:rPr>
                        <a:t>業務</a:t>
                      </a:r>
                      <a:endParaRPr lang="en-US" sz="18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800" b="1" dirty="0">
                          <a:solidFill>
                            <a:srgbClr val="0F4C5C"/>
                          </a:solidFill>
                        </a:rPr>
                        <a:t>Skillにしておくこと</a:t>
                      </a:r>
                      <a:endParaRPr lang="en-US" sz="18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r>
              <a:tr h="457200">
                <a:tc>
                  <a:txBody>
                    <a:bodyPr/>
                    <a:lstStyle/>
                    <a:p>
                      <a:pPr indent="0" marL="0">
                        <a:buNone/>
                      </a:pPr>
                      <a:r>
                        <a:rPr lang="en-US" sz="1800" dirty="0">
                          <a:solidFill>
                            <a:srgbClr val="1F2933"/>
                          </a:solidFill>
                        </a:rPr>
                        <a:t>議事録の作成</a:t>
                      </a:r>
                      <a:endParaRPr lang="en-US" sz="18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rPr>
                        <a:t>決まった見出し、宿題（担当・期限）の書き方、確認の手順</a:t>
                      </a:r>
                      <a:endParaRPr lang="en-US" sz="18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F2933"/>
                          </a:solidFill>
                        </a:rPr>
                        <a:t>報告書のチェック</a:t>
                      </a:r>
                      <a:endParaRPr lang="en-US" sz="18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800" dirty="0">
                          <a:solidFill>
                            <a:srgbClr val="1F2933"/>
                          </a:solidFill>
                        </a:rPr>
                        <a:t>確認項目の一覧、よくあるミス、指摘の書き方</a:t>
                      </a:r>
                      <a:endParaRPr lang="en-US" sz="18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r h="457200">
                <a:tc>
                  <a:txBody>
                    <a:bodyPr/>
                    <a:lstStyle/>
                    <a:p>
                      <a:pPr indent="0" marL="0">
                        <a:buNone/>
                      </a:pPr>
                      <a:r>
                        <a:rPr lang="en-US" sz="1800" dirty="0">
                          <a:solidFill>
                            <a:srgbClr val="1F2933"/>
                          </a:solidFill>
                        </a:rPr>
                        <a:t>定型メール</a:t>
                      </a:r>
                      <a:endParaRPr lang="en-US" sz="18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rPr>
                        <a:t>社内の言い回し、署名、宛先ごとの敬語の使い分け</a:t>
                      </a:r>
                      <a:endParaRPr lang="en-US" sz="18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F2933"/>
                          </a:solidFill>
                        </a:rPr>
                        <a:t>資料作成</a:t>
                      </a:r>
                      <a:endParaRPr lang="en-US" sz="18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800" dirty="0">
                          <a:solidFill>
                            <a:srgbClr val="1F2933"/>
                          </a:solidFill>
                        </a:rPr>
                        <a:t>会社のフォント・色・ロゴの使い方</a:t>
                      </a:r>
                      <a:endParaRPr lang="en-US" sz="18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r h="457200">
                <a:tc>
                  <a:txBody>
                    <a:bodyPr/>
                    <a:lstStyle/>
                    <a:p>
                      <a:pPr indent="0" marL="0">
                        <a:buNone/>
                      </a:pPr>
                      <a:r>
                        <a:rPr lang="en-US" sz="1800" dirty="0">
                          <a:solidFill>
                            <a:srgbClr val="1F2933"/>
                          </a:solidFill>
                        </a:rPr>
                        <a:t>データ集計</a:t>
                      </a:r>
                      <a:endParaRPr lang="en-US" sz="18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rPr>
                        <a:t>列の意味、除外すべきデータ、計算方法</a:t>
                      </a:r>
                      <a:endParaRPr lang="en-US" sz="18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bl>
          </a:graphicData>
        </a:graphic>
      </p:graphicFrame>
      <p:sp>
        <p:nvSpPr>
          <p:cNvPr id="5" name="Shape 1"/>
          <p:cNvSpPr/>
          <p:nvPr/>
        </p:nvSpPr>
        <p:spPr>
          <a:xfrm>
            <a:off x="548640" y="5440680"/>
            <a:ext cx="11094415" cy="640080"/>
          </a:xfrm>
          <a:prstGeom prst="roundRect">
            <a:avLst>
              <a:gd name="adj" fmla="val 14286"/>
            </a:avLst>
          </a:prstGeom>
          <a:solidFill>
            <a:srgbClr val="FFF1E7"/>
          </a:solidFill>
          <a:ln w="12700">
            <a:solidFill>
              <a:srgbClr val="E36414"/>
            </a:solidFill>
            <a:prstDash val="solid"/>
          </a:ln>
        </p:spPr>
      </p:sp>
      <p:sp>
        <p:nvSpPr>
          <p:cNvPr id="6" name="Text 2"/>
          <p:cNvSpPr txBox="1"/>
          <p:nvPr/>
        </p:nvSpPr>
        <p:spPr>
          <a:xfrm>
            <a:off x="777240" y="5440680"/>
            <a:ext cx="10637215" cy="640080"/>
          </a:xfrm>
          <a:prstGeom prst="rect">
            <a:avLst/>
          </a:prstGeom>
          <a:noFill/>
          <a:ln/>
        </p:spPr>
        <p:txBody>
          <a:bodyPr wrap="square" lIns="0" tIns="0" rIns="0" bIns="0" rtlCol="0" anchor="ctr"/>
          <a:lstStyle/>
          <a:p>
            <a:pPr indent="0" marL="0">
              <a:buNone/>
            </a:pPr>
            <a:r>
              <a:rPr lang="en-US" sz="1800" dirty="0">
                <a:solidFill>
                  <a:srgbClr val="1F2933"/>
                </a:solidFill>
              </a:rPr>
              <a:t>目安: </a:t>
            </a:r>
            <a:r>
              <a:rPr lang="en-US" sz="1800" b="1" dirty="0">
                <a:solidFill>
                  <a:srgbClr val="E36414"/>
                </a:solidFill>
              </a:rPr>
              <a:t>同じ説明をAIに3回以上したことがある業務</a:t>
            </a:r>
            <a:r>
              <a:rPr lang="en-US" sz="1800" dirty="0">
                <a:solidFill>
                  <a:srgbClr val="1F2933"/>
                </a:solidFill>
              </a:rPr>
              <a:t>から始める</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主要なAIツールが同じ形式に対応</a:t>
            </a:r>
            <a:endParaRPr lang="en-US" sz="3000" dirty="0"/>
          </a:p>
        </p:txBody>
      </p:sp>
      <p:sp>
        <p:nvSpPr>
          <p:cNvPr id="4" name="card-1"/>
          <p:cNvSpPr/>
          <p:nvPr/>
        </p:nvSpPr>
        <p:spPr>
          <a:xfrm>
            <a:off x="548640" y="1325880"/>
            <a:ext cx="1999427" cy="2377440"/>
          </a:xfrm>
          <a:prstGeom prst="roundRect">
            <a:avLst>
              <a:gd name="adj" fmla="val 5488"/>
            </a:avLst>
          </a:prstGeom>
          <a:solidFill>
            <a:srgbClr val="E6F0F2"/>
          </a:solidFill>
          <a:ln w="12700">
            <a:solidFill>
              <a:srgbClr val="E6F0F2"/>
            </a:solidFill>
            <a:prstDash val="solid"/>
          </a:ln>
        </p:spPr>
      </p:sp>
      <p:sp>
        <p:nvSpPr>
          <p:cNvPr id="5" name="Text 2"/>
          <p:cNvSpPr txBox="1"/>
          <p:nvPr/>
        </p:nvSpPr>
        <p:spPr>
          <a:xfrm>
            <a:off x="777240" y="1508760"/>
            <a:ext cx="1542227" cy="457200"/>
          </a:xfrm>
          <a:prstGeom prst="rect">
            <a:avLst/>
          </a:prstGeom>
          <a:noFill/>
          <a:ln/>
        </p:spPr>
        <p:txBody>
          <a:bodyPr wrap="square" lIns="0" tIns="0" rIns="0" bIns="0" rtlCol="0" anchor="ctr"/>
          <a:lstStyle/>
          <a:p>
            <a:pPr indent="0" marL="0">
              <a:buNone/>
            </a:pPr>
            <a:r>
              <a:rPr lang="en-US" sz="1800" b="1" dirty="0">
                <a:solidFill>
                  <a:srgbClr val="0F4C5C"/>
                </a:solidFill>
              </a:rPr>
              <a:t>Claude.ai</a:t>
            </a:r>
            <a:endParaRPr lang="en-US" sz="1800" dirty="0"/>
          </a:p>
        </p:txBody>
      </p:sp>
      <p:sp>
        <p:nvSpPr>
          <p:cNvPr id="6" name="Text 3"/>
          <p:cNvSpPr txBox="1"/>
          <p:nvPr/>
        </p:nvSpPr>
        <p:spPr>
          <a:xfrm>
            <a:off x="777240" y="2103120"/>
            <a:ext cx="1542227" cy="1463040"/>
          </a:xfrm>
          <a:prstGeom prst="rect">
            <a:avLst/>
          </a:prstGeom>
          <a:noFill/>
          <a:ln/>
        </p:spPr>
        <p:txBody>
          <a:bodyPr wrap="square" lIns="0" tIns="0" rIns="0" bIns="0" rtlCol="0" anchor="t"/>
          <a:lstStyle/>
          <a:p>
            <a:pPr indent="0" marL="0">
              <a:spcAft>
                <a:spcPts val="600"/>
              </a:spcAft>
              <a:buNone/>
            </a:pPr>
            <a:r>
              <a:rPr lang="en-US" sz="1700" dirty="0">
                <a:solidFill>
                  <a:srgbClr val="1F2933"/>
                </a:solidFill>
              </a:rPr>
              <a:t>画面からアップロード</a:t>
            </a:r>
            <a:endParaRPr lang="en-US" sz="1700" dirty="0"/>
          </a:p>
        </p:txBody>
      </p:sp>
      <p:sp>
        <p:nvSpPr>
          <p:cNvPr id="7" name="card-2"/>
          <p:cNvSpPr/>
          <p:nvPr/>
        </p:nvSpPr>
        <p:spPr>
          <a:xfrm>
            <a:off x="2822387" y="1325880"/>
            <a:ext cx="1999427" cy="2377440"/>
          </a:xfrm>
          <a:prstGeom prst="roundRect">
            <a:avLst>
              <a:gd name="adj" fmla="val 5488"/>
            </a:avLst>
          </a:prstGeom>
          <a:solidFill>
            <a:srgbClr val="E6F0F2"/>
          </a:solidFill>
          <a:ln w="12700">
            <a:solidFill>
              <a:srgbClr val="E6F0F2"/>
            </a:solidFill>
            <a:prstDash val="solid"/>
          </a:ln>
        </p:spPr>
      </p:sp>
      <p:sp>
        <p:nvSpPr>
          <p:cNvPr id="8" name="Text 5"/>
          <p:cNvSpPr txBox="1"/>
          <p:nvPr/>
        </p:nvSpPr>
        <p:spPr>
          <a:xfrm>
            <a:off x="3050987" y="1508760"/>
            <a:ext cx="1542227" cy="457200"/>
          </a:xfrm>
          <a:prstGeom prst="rect">
            <a:avLst/>
          </a:prstGeom>
          <a:noFill/>
          <a:ln/>
        </p:spPr>
        <p:txBody>
          <a:bodyPr wrap="square" lIns="0" tIns="0" rIns="0" bIns="0" rtlCol="0" anchor="ctr"/>
          <a:lstStyle/>
          <a:p>
            <a:pPr indent="0" marL="0">
              <a:buNone/>
            </a:pPr>
            <a:r>
              <a:rPr lang="en-US" sz="1800" b="1" dirty="0">
                <a:solidFill>
                  <a:srgbClr val="0F4C5C"/>
                </a:solidFill>
              </a:rPr>
              <a:t>ChatGPT</a:t>
            </a:r>
            <a:endParaRPr lang="en-US" sz="1800" dirty="0"/>
          </a:p>
        </p:txBody>
      </p:sp>
      <p:sp>
        <p:nvSpPr>
          <p:cNvPr id="9" name="Text 6"/>
          <p:cNvSpPr txBox="1"/>
          <p:nvPr/>
        </p:nvSpPr>
        <p:spPr>
          <a:xfrm>
            <a:off x="3050987" y="2103120"/>
            <a:ext cx="1542227" cy="1463040"/>
          </a:xfrm>
          <a:prstGeom prst="rect">
            <a:avLst/>
          </a:prstGeom>
          <a:noFill/>
          <a:ln/>
        </p:spPr>
        <p:txBody>
          <a:bodyPr wrap="square" lIns="0" tIns="0" rIns="0" bIns="0" rtlCol="0" anchor="t"/>
          <a:lstStyle/>
          <a:p>
            <a:pPr indent="0" marL="0">
              <a:spcAft>
                <a:spcPts val="600"/>
              </a:spcAft>
              <a:buNone/>
            </a:pPr>
            <a:r>
              <a:rPr lang="en-US" sz="1700" dirty="0">
                <a:solidFill>
                  <a:srgbClr val="1F2933"/>
                </a:solidFill>
              </a:rPr>
              <a:t>画面から作成（対象プランは</a:t>
            </a:r>
            <a:r>
              <a:rPr lang="en-US" sz="1700" b="1" dirty="0">
                <a:solidFill>
                  <a:srgbClr val="0F4C5C"/>
                </a:solidFill>
              </a:rPr>
              <a:t>要確認</a:t>
            </a:r>
            <a:r>
              <a:rPr lang="en-US" sz="1700" dirty="0">
                <a:solidFill>
                  <a:srgbClr val="1F2933"/>
                </a:solidFill>
              </a:rPr>
              <a:t>）</a:t>
            </a:r>
            <a:endParaRPr lang="en-US" sz="1700" dirty="0"/>
          </a:p>
        </p:txBody>
      </p:sp>
      <p:sp>
        <p:nvSpPr>
          <p:cNvPr id="10" name="card-3"/>
          <p:cNvSpPr/>
          <p:nvPr/>
        </p:nvSpPr>
        <p:spPr>
          <a:xfrm>
            <a:off x="5096134" y="1325880"/>
            <a:ext cx="1999427" cy="2377440"/>
          </a:xfrm>
          <a:prstGeom prst="roundRect">
            <a:avLst>
              <a:gd name="adj" fmla="val 5488"/>
            </a:avLst>
          </a:prstGeom>
          <a:solidFill>
            <a:srgbClr val="E6F0F2"/>
          </a:solidFill>
          <a:ln w="12700">
            <a:solidFill>
              <a:srgbClr val="E6F0F2"/>
            </a:solidFill>
            <a:prstDash val="solid"/>
          </a:ln>
        </p:spPr>
      </p:sp>
      <p:sp>
        <p:nvSpPr>
          <p:cNvPr id="11" name="Text 8"/>
          <p:cNvSpPr txBox="1"/>
          <p:nvPr/>
        </p:nvSpPr>
        <p:spPr>
          <a:xfrm>
            <a:off x="5324734" y="1508760"/>
            <a:ext cx="1542227" cy="457200"/>
          </a:xfrm>
          <a:prstGeom prst="rect">
            <a:avLst/>
          </a:prstGeom>
          <a:noFill/>
          <a:ln/>
        </p:spPr>
        <p:txBody>
          <a:bodyPr wrap="square" lIns="0" tIns="0" rIns="0" bIns="0" rtlCol="0" anchor="ctr"/>
          <a:lstStyle/>
          <a:p>
            <a:pPr indent="0" marL="0">
              <a:buNone/>
            </a:pPr>
            <a:r>
              <a:rPr lang="en-US" sz="1800" b="1" dirty="0">
                <a:solidFill>
                  <a:srgbClr val="0F4C5C"/>
                </a:solidFill>
              </a:rPr>
              <a:t>Claude Code</a:t>
            </a:r>
            <a:endParaRPr lang="en-US" sz="1800" dirty="0"/>
          </a:p>
        </p:txBody>
      </p:sp>
      <p:sp>
        <p:nvSpPr>
          <p:cNvPr id="12" name="Text 9"/>
          <p:cNvSpPr txBox="1"/>
          <p:nvPr/>
        </p:nvSpPr>
        <p:spPr>
          <a:xfrm>
            <a:off x="5324734" y="2103120"/>
            <a:ext cx="1542227" cy="1463040"/>
          </a:xfrm>
          <a:prstGeom prst="rect">
            <a:avLst/>
          </a:prstGeom>
          <a:noFill/>
          <a:ln/>
        </p:spPr>
        <p:txBody>
          <a:bodyPr wrap="square" lIns="0" tIns="0" rIns="0" bIns="0" rtlCol="0" anchor="t"/>
          <a:lstStyle/>
          <a:p>
            <a:pPr indent="0" marL="0">
              <a:spcAft>
                <a:spcPts val="600"/>
              </a:spcAft>
              <a:buNone/>
            </a:pPr>
            <a:r>
              <a:rPr lang="en-US" sz="1700" dirty="0">
                <a:solidFill>
                  <a:srgbClr val="1F2933"/>
                </a:solidFill>
              </a:rPr>
              <a:t>フォルダに置く</a:t>
            </a:r>
            <a:endParaRPr lang="en-US" sz="1700" dirty="0"/>
          </a:p>
        </p:txBody>
      </p:sp>
      <p:sp>
        <p:nvSpPr>
          <p:cNvPr id="13" name="card-4"/>
          <p:cNvSpPr/>
          <p:nvPr/>
        </p:nvSpPr>
        <p:spPr>
          <a:xfrm>
            <a:off x="7369881" y="1325880"/>
            <a:ext cx="1999427" cy="2377440"/>
          </a:xfrm>
          <a:prstGeom prst="roundRect">
            <a:avLst>
              <a:gd name="adj" fmla="val 5488"/>
            </a:avLst>
          </a:prstGeom>
          <a:solidFill>
            <a:srgbClr val="E6F0F2"/>
          </a:solidFill>
          <a:ln w="12700">
            <a:solidFill>
              <a:srgbClr val="E6F0F2"/>
            </a:solidFill>
            <a:prstDash val="solid"/>
          </a:ln>
        </p:spPr>
      </p:sp>
      <p:sp>
        <p:nvSpPr>
          <p:cNvPr id="14" name="Text 11"/>
          <p:cNvSpPr txBox="1"/>
          <p:nvPr/>
        </p:nvSpPr>
        <p:spPr>
          <a:xfrm>
            <a:off x="7598481" y="1508760"/>
            <a:ext cx="1542227" cy="457200"/>
          </a:xfrm>
          <a:prstGeom prst="rect">
            <a:avLst/>
          </a:prstGeom>
          <a:noFill/>
          <a:ln/>
        </p:spPr>
        <p:txBody>
          <a:bodyPr wrap="square" lIns="0" tIns="0" rIns="0" bIns="0" rtlCol="0" anchor="ctr"/>
          <a:lstStyle/>
          <a:p>
            <a:pPr indent="0" marL="0">
              <a:buNone/>
            </a:pPr>
            <a:r>
              <a:rPr lang="en-US" sz="1800" b="1" dirty="0">
                <a:solidFill>
                  <a:srgbClr val="0F4C5C"/>
                </a:solidFill>
              </a:rPr>
              <a:t>OpenAI Codex</a:t>
            </a:r>
            <a:endParaRPr lang="en-US" sz="1800" dirty="0"/>
          </a:p>
        </p:txBody>
      </p:sp>
      <p:sp>
        <p:nvSpPr>
          <p:cNvPr id="15" name="Text 12"/>
          <p:cNvSpPr txBox="1"/>
          <p:nvPr/>
        </p:nvSpPr>
        <p:spPr>
          <a:xfrm>
            <a:off x="7598481" y="2103120"/>
            <a:ext cx="1542227" cy="1463040"/>
          </a:xfrm>
          <a:prstGeom prst="rect">
            <a:avLst/>
          </a:prstGeom>
          <a:noFill/>
          <a:ln/>
        </p:spPr>
        <p:txBody>
          <a:bodyPr wrap="square" lIns="0" tIns="0" rIns="0" bIns="0" rtlCol="0" anchor="t"/>
          <a:lstStyle/>
          <a:p>
            <a:pPr indent="0" marL="0">
              <a:spcAft>
                <a:spcPts val="600"/>
              </a:spcAft>
              <a:buNone/>
            </a:pPr>
            <a:r>
              <a:rPr lang="en-US" sz="1700" dirty="0">
                <a:solidFill>
                  <a:srgbClr val="1F2933"/>
                </a:solidFill>
              </a:rPr>
              <a:t>フォルダに置く</a:t>
            </a:r>
            <a:endParaRPr lang="en-US" sz="1700" dirty="0"/>
          </a:p>
        </p:txBody>
      </p:sp>
      <p:sp>
        <p:nvSpPr>
          <p:cNvPr id="16" name="card-5"/>
          <p:cNvSpPr/>
          <p:nvPr/>
        </p:nvSpPr>
        <p:spPr>
          <a:xfrm>
            <a:off x="9643628" y="1325880"/>
            <a:ext cx="1999427" cy="2377440"/>
          </a:xfrm>
          <a:prstGeom prst="roundRect">
            <a:avLst>
              <a:gd name="adj" fmla="val 5488"/>
            </a:avLst>
          </a:prstGeom>
          <a:solidFill>
            <a:srgbClr val="E6F0F2"/>
          </a:solidFill>
          <a:ln w="12700">
            <a:solidFill>
              <a:srgbClr val="E6F0F2"/>
            </a:solidFill>
            <a:prstDash val="solid"/>
          </a:ln>
        </p:spPr>
      </p:sp>
      <p:sp>
        <p:nvSpPr>
          <p:cNvPr id="17" name="Text 14"/>
          <p:cNvSpPr txBox="1"/>
          <p:nvPr/>
        </p:nvSpPr>
        <p:spPr>
          <a:xfrm>
            <a:off x="9872228" y="1508760"/>
            <a:ext cx="1542227" cy="457200"/>
          </a:xfrm>
          <a:prstGeom prst="rect">
            <a:avLst/>
          </a:prstGeom>
          <a:noFill/>
          <a:ln/>
        </p:spPr>
        <p:txBody>
          <a:bodyPr wrap="square" lIns="0" tIns="0" rIns="0" bIns="0" rtlCol="0" anchor="ctr"/>
          <a:lstStyle/>
          <a:p>
            <a:pPr indent="0" marL="0">
              <a:buNone/>
            </a:pPr>
            <a:r>
              <a:rPr lang="en-US" sz="1800" b="1" dirty="0">
                <a:solidFill>
                  <a:srgbClr val="0F4C5C"/>
                </a:solidFill>
              </a:rPr>
              <a:t>GitHub Copilot</a:t>
            </a:r>
            <a:endParaRPr lang="en-US" sz="1800" dirty="0"/>
          </a:p>
        </p:txBody>
      </p:sp>
      <p:sp>
        <p:nvSpPr>
          <p:cNvPr id="18" name="Text 15"/>
          <p:cNvSpPr txBox="1"/>
          <p:nvPr/>
        </p:nvSpPr>
        <p:spPr>
          <a:xfrm>
            <a:off x="9872228" y="2103120"/>
            <a:ext cx="1542227" cy="1463040"/>
          </a:xfrm>
          <a:prstGeom prst="rect">
            <a:avLst/>
          </a:prstGeom>
          <a:noFill/>
          <a:ln/>
        </p:spPr>
        <p:txBody>
          <a:bodyPr wrap="square" lIns="0" tIns="0" rIns="0" bIns="0" rtlCol="0" anchor="t"/>
          <a:lstStyle/>
          <a:p>
            <a:pPr indent="0" marL="0">
              <a:spcAft>
                <a:spcPts val="600"/>
              </a:spcAft>
              <a:buNone/>
            </a:pPr>
            <a:r>
              <a:rPr lang="en-US" sz="1700" dirty="0">
                <a:solidFill>
                  <a:srgbClr val="1F2933"/>
                </a:solidFill>
              </a:rPr>
              <a:t>フォルダに置く</a:t>
            </a:r>
            <a:endParaRPr lang="en-US" sz="1700" dirty="0"/>
          </a:p>
        </p:txBody>
      </p:sp>
      <p:sp>
        <p:nvSpPr>
          <p:cNvPr id="19" name="Shape 16"/>
          <p:cNvSpPr/>
          <p:nvPr/>
        </p:nvSpPr>
        <p:spPr>
          <a:xfrm>
            <a:off x="548640" y="4206240"/>
            <a:ext cx="11094415" cy="640080"/>
          </a:xfrm>
          <a:prstGeom prst="roundRect">
            <a:avLst>
              <a:gd name="adj" fmla="val 14286"/>
            </a:avLst>
          </a:prstGeom>
          <a:solidFill>
            <a:srgbClr val="FFF1E7"/>
          </a:solidFill>
          <a:ln w="12700">
            <a:solidFill>
              <a:srgbClr val="E36414"/>
            </a:solidFill>
            <a:prstDash val="solid"/>
          </a:ln>
        </p:spPr>
      </p:sp>
      <p:sp>
        <p:nvSpPr>
          <p:cNvPr id="20" name="Text 17"/>
          <p:cNvSpPr txBox="1"/>
          <p:nvPr/>
        </p:nvSpPr>
        <p:spPr>
          <a:xfrm>
            <a:off x="777240" y="4206240"/>
            <a:ext cx="10637215" cy="640080"/>
          </a:xfrm>
          <a:prstGeom prst="rect">
            <a:avLst/>
          </a:prstGeom>
          <a:noFill/>
          <a:ln/>
        </p:spPr>
        <p:txBody>
          <a:bodyPr wrap="square" lIns="0" tIns="0" rIns="0" bIns="0" rtlCol="0" anchor="ctr"/>
          <a:lstStyle/>
          <a:p>
            <a:pPr indent="0" marL="0">
              <a:buNone/>
            </a:pPr>
            <a:r>
              <a:rPr lang="en-US" sz="1800" dirty="0">
                <a:solidFill>
                  <a:srgbClr val="1F2933"/>
                </a:solidFill>
              </a:rPr>
              <a:t>共通形式「</a:t>
            </a:r>
            <a:r>
              <a:rPr lang="en-US" sz="1800" b="1" dirty="0">
                <a:solidFill>
                  <a:srgbClr val="E36414"/>
                </a:solidFill>
              </a:rPr>
              <a:t>Agent Skills</a:t>
            </a:r>
            <a:r>
              <a:rPr lang="en-US" sz="1800" dirty="0">
                <a:solidFill>
                  <a:srgbClr val="1F2933"/>
                </a:solidFill>
              </a:rPr>
              <a:t>」: 一度作れば別のツールでも使える ＝ </a:t>
            </a:r>
            <a:r>
              <a:rPr lang="en-US" sz="1800" b="1" dirty="0">
                <a:solidFill>
                  <a:srgbClr val="E36414"/>
                </a:solidFill>
              </a:rPr>
              <a:t>特定ツールに縛られにくい</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進め方: 小さく試してから広げる</a:t>
            </a:r>
            <a:endParaRPr lang="en-US" sz="3000" dirty="0"/>
          </a:p>
        </p:txBody>
      </p:sp>
      <p:sp>
        <p:nvSpPr>
          <p:cNvPr id="4" name="step-1"/>
          <p:cNvSpPr/>
          <p:nvPr/>
        </p:nvSpPr>
        <p:spPr>
          <a:xfrm>
            <a:off x="548640" y="1325880"/>
            <a:ext cx="2464994" cy="3840480"/>
          </a:xfrm>
          <a:prstGeom prst="roundRect">
            <a:avLst>
              <a:gd name="adj" fmla="val 4451"/>
            </a:avLst>
          </a:prstGeom>
          <a:solidFill>
            <a:srgbClr val="E6F0F2"/>
          </a:solidFill>
          <a:ln w="12700">
            <a:solidFill>
              <a:srgbClr val="E6F0F2"/>
            </a:solidFill>
            <a:prstDash val="solid"/>
          </a:ln>
        </p:spPr>
      </p:sp>
      <p:sp>
        <p:nvSpPr>
          <p:cNvPr id="5" name="Shape 2"/>
          <p:cNvSpPr/>
          <p:nvPr/>
        </p:nvSpPr>
        <p:spPr>
          <a:xfrm>
            <a:off x="731520" y="1508760"/>
            <a:ext cx="457200" cy="457200"/>
          </a:xfrm>
          <a:prstGeom prst="ellipse">
            <a:avLst/>
          </a:prstGeom>
          <a:solidFill>
            <a:srgbClr val="0F4C5C"/>
          </a:solidFill>
          <a:ln w="12700">
            <a:solidFill>
              <a:srgbClr val="0F4C5C"/>
            </a:solidFill>
            <a:prstDash val="solid"/>
          </a:ln>
        </p:spPr>
      </p:sp>
      <p:sp>
        <p:nvSpPr>
          <p:cNvPr id="6" name="Text 3"/>
          <p:cNvSpPr txBox="1"/>
          <p:nvPr/>
        </p:nvSpPr>
        <p:spPr>
          <a:xfrm>
            <a:off x="731520"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 4"/>
          <p:cNvSpPr txBox="1"/>
          <p:nvPr/>
        </p:nvSpPr>
        <p:spPr>
          <a:xfrm>
            <a:off x="731520" y="2103120"/>
            <a:ext cx="2099234" cy="685800"/>
          </a:xfrm>
          <a:prstGeom prst="rect">
            <a:avLst/>
          </a:prstGeom>
          <a:noFill/>
          <a:ln/>
        </p:spPr>
        <p:txBody>
          <a:bodyPr wrap="square" lIns="0" tIns="0" rIns="0" bIns="0" rtlCol="0" anchor="t"/>
          <a:lstStyle/>
          <a:p>
            <a:pPr indent="0" marL="0">
              <a:buNone/>
            </a:pPr>
            <a:r>
              <a:rPr lang="en-US" sz="1800" b="1" dirty="0">
                <a:solidFill>
                  <a:srgbClr val="0F4C5C"/>
                </a:solidFill>
              </a:rPr>
              <a:t>対象業務を選ぶ</a:t>
            </a:r>
            <a:endParaRPr lang="en-US" sz="1800" dirty="0"/>
          </a:p>
        </p:txBody>
      </p:sp>
      <p:sp>
        <p:nvSpPr>
          <p:cNvPr id="8" name="Text 5"/>
          <p:cNvSpPr txBox="1"/>
          <p:nvPr/>
        </p:nvSpPr>
        <p:spPr>
          <a:xfrm>
            <a:off x="731520" y="2834640"/>
            <a:ext cx="2099234" cy="2194560"/>
          </a:xfrm>
          <a:prstGeom prst="rect">
            <a:avLst/>
          </a:prstGeom>
          <a:noFill/>
          <a:ln/>
        </p:spPr>
        <p:txBody>
          <a:bodyPr wrap="square" lIns="0" tIns="0" rIns="0" bIns="0" rtlCol="0" anchor="t"/>
          <a:lstStyle/>
          <a:p>
            <a:pPr indent="0" marL="0">
              <a:buNone/>
            </a:pPr>
            <a:r>
              <a:rPr lang="en-US" sz="1800" dirty="0">
                <a:solidFill>
                  <a:srgbClr val="1F2933"/>
                </a:solidFill>
              </a:rPr>
              <a:t>繰り返しが多い業務を2〜3件</a:t>
            </a:r>
            <a:endParaRPr lang="en-US" sz="1800" dirty="0"/>
          </a:p>
        </p:txBody>
      </p:sp>
      <p:sp>
        <p:nvSpPr>
          <p:cNvPr id="9" name="Shape 6"/>
          <p:cNvSpPr/>
          <p:nvPr/>
        </p:nvSpPr>
        <p:spPr>
          <a:xfrm>
            <a:off x="3077642" y="3099816"/>
            <a:ext cx="283464" cy="292608"/>
          </a:xfrm>
          <a:prstGeom prst="rightArrow">
            <a:avLst/>
          </a:prstGeom>
          <a:solidFill>
            <a:srgbClr val="E36414"/>
          </a:solidFill>
          <a:ln w="12700">
            <a:solidFill>
              <a:srgbClr val="E36414"/>
            </a:solidFill>
            <a:prstDash val="solid"/>
          </a:ln>
        </p:spPr>
      </p:sp>
      <p:sp>
        <p:nvSpPr>
          <p:cNvPr id="10" name="step-2"/>
          <p:cNvSpPr/>
          <p:nvPr/>
        </p:nvSpPr>
        <p:spPr>
          <a:xfrm>
            <a:off x="3425114" y="1325880"/>
            <a:ext cx="2464994" cy="3840480"/>
          </a:xfrm>
          <a:prstGeom prst="roundRect">
            <a:avLst>
              <a:gd name="adj" fmla="val 4451"/>
            </a:avLst>
          </a:prstGeom>
          <a:solidFill>
            <a:srgbClr val="E6F0F2"/>
          </a:solidFill>
          <a:ln w="12700">
            <a:solidFill>
              <a:srgbClr val="E6F0F2"/>
            </a:solidFill>
            <a:prstDash val="solid"/>
          </a:ln>
        </p:spPr>
      </p:sp>
      <p:sp>
        <p:nvSpPr>
          <p:cNvPr id="11" name="Shape 8"/>
          <p:cNvSpPr/>
          <p:nvPr/>
        </p:nvSpPr>
        <p:spPr>
          <a:xfrm>
            <a:off x="3607994" y="1508760"/>
            <a:ext cx="457200" cy="457200"/>
          </a:xfrm>
          <a:prstGeom prst="ellipse">
            <a:avLst/>
          </a:prstGeom>
          <a:solidFill>
            <a:srgbClr val="0F4C5C"/>
          </a:solidFill>
          <a:ln w="12700">
            <a:solidFill>
              <a:srgbClr val="0F4C5C"/>
            </a:solidFill>
            <a:prstDash val="solid"/>
          </a:ln>
        </p:spPr>
      </p:sp>
      <p:sp>
        <p:nvSpPr>
          <p:cNvPr id="12" name="Text 9"/>
          <p:cNvSpPr txBox="1"/>
          <p:nvPr/>
        </p:nvSpPr>
        <p:spPr>
          <a:xfrm>
            <a:off x="3607994"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3" name="Text 10"/>
          <p:cNvSpPr txBox="1"/>
          <p:nvPr/>
        </p:nvSpPr>
        <p:spPr>
          <a:xfrm>
            <a:off x="3607994" y="2103120"/>
            <a:ext cx="2099234" cy="685800"/>
          </a:xfrm>
          <a:prstGeom prst="rect">
            <a:avLst/>
          </a:prstGeom>
          <a:noFill/>
          <a:ln/>
        </p:spPr>
        <p:txBody>
          <a:bodyPr wrap="square" lIns="0" tIns="0" rIns="0" bIns="0" rtlCol="0" anchor="t"/>
          <a:lstStyle/>
          <a:p>
            <a:pPr indent="0" marL="0">
              <a:buNone/>
            </a:pPr>
            <a:r>
              <a:rPr lang="en-US" sz="1800" b="1" dirty="0">
                <a:solidFill>
                  <a:srgbClr val="0F4C5C"/>
                </a:solidFill>
              </a:rPr>
              <a:t>Skillを試作</a:t>
            </a:r>
            <a:endParaRPr lang="en-US" sz="1800" dirty="0"/>
          </a:p>
        </p:txBody>
      </p:sp>
      <p:sp>
        <p:nvSpPr>
          <p:cNvPr id="14" name="Text 11"/>
          <p:cNvSpPr txBox="1"/>
          <p:nvPr/>
        </p:nvSpPr>
        <p:spPr>
          <a:xfrm>
            <a:off x="3607994" y="2834640"/>
            <a:ext cx="2099234" cy="2194560"/>
          </a:xfrm>
          <a:prstGeom prst="rect">
            <a:avLst/>
          </a:prstGeom>
          <a:noFill/>
          <a:ln/>
        </p:spPr>
        <p:txBody>
          <a:bodyPr wrap="square" lIns="0" tIns="0" rIns="0" bIns="0" rtlCol="0" anchor="t"/>
          <a:lstStyle/>
          <a:p>
            <a:pPr indent="0" marL="0">
              <a:buNone/>
            </a:pPr>
            <a:r>
              <a:rPr lang="en-US" sz="1800" dirty="0">
                <a:solidFill>
                  <a:srgbClr val="1F2933"/>
                </a:solidFill>
              </a:rPr>
              <a:t>AIに手伝わせて作る（skill-creator）</a:t>
            </a:r>
            <a:endParaRPr lang="en-US" sz="1800" dirty="0"/>
          </a:p>
        </p:txBody>
      </p:sp>
      <p:sp>
        <p:nvSpPr>
          <p:cNvPr id="15" name="Shape 12"/>
          <p:cNvSpPr/>
          <p:nvPr/>
        </p:nvSpPr>
        <p:spPr>
          <a:xfrm>
            <a:off x="5954116" y="3099816"/>
            <a:ext cx="283464" cy="292608"/>
          </a:xfrm>
          <a:prstGeom prst="rightArrow">
            <a:avLst/>
          </a:prstGeom>
          <a:solidFill>
            <a:srgbClr val="E36414"/>
          </a:solidFill>
          <a:ln w="12700">
            <a:solidFill>
              <a:srgbClr val="E36414"/>
            </a:solidFill>
            <a:prstDash val="solid"/>
          </a:ln>
        </p:spPr>
      </p:sp>
      <p:sp>
        <p:nvSpPr>
          <p:cNvPr id="16" name="step-3"/>
          <p:cNvSpPr/>
          <p:nvPr/>
        </p:nvSpPr>
        <p:spPr>
          <a:xfrm>
            <a:off x="6301588" y="1325880"/>
            <a:ext cx="2464994" cy="3840480"/>
          </a:xfrm>
          <a:prstGeom prst="roundRect">
            <a:avLst>
              <a:gd name="adj" fmla="val 4451"/>
            </a:avLst>
          </a:prstGeom>
          <a:solidFill>
            <a:srgbClr val="FFF1E7"/>
          </a:solidFill>
          <a:ln w="12700">
            <a:solidFill>
              <a:srgbClr val="E36414"/>
            </a:solidFill>
            <a:prstDash val="solid"/>
          </a:ln>
        </p:spPr>
      </p:sp>
      <p:sp>
        <p:nvSpPr>
          <p:cNvPr id="17" name="Shape 14"/>
          <p:cNvSpPr/>
          <p:nvPr/>
        </p:nvSpPr>
        <p:spPr>
          <a:xfrm>
            <a:off x="6484468" y="1508760"/>
            <a:ext cx="457200" cy="457200"/>
          </a:xfrm>
          <a:prstGeom prst="ellipse">
            <a:avLst/>
          </a:prstGeom>
          <a:solidFill>
            <a:srgbClr val="0F4C5C"/>
          </a:solidFill>
          <a:ln w="12700">
            <a:solidFill>
              <a:srgbClr val="0F4C5C"/>
            </a:solidFill>
            <a:prstDash val="solid"/>
          </a:ln>
        </p:spPr>
      </p:sp>
      <p:sp>
        <p:nvSpPr>
          <p:cNvPr id="18" name="Text 15"/>
          <p:cNvSpPr txBox="1"/>
          <p:nvPr/>
        </p:nvSpPr>
        <p:spPr>
          <a:xfrm>
            <a:off x="6484468"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9" name="Text 16"/>
          <p:cNvSpPr txBox="1"/>
          <p:nvPr/>
        </p:nvSpPr>
        <p:spPr>
          <a:xfrm>
            <a:off x="6484468" y="2103120"/>
            <a:ext cx="2099234" cy="685800"/>
          </a:xfrm>
          <a:prstGeom prst="rect">
            <a:avLst/>
          </a:prstGeom>
          <a:noFill/>
          <a:ln/>
        </p:spPr>
        <p:txBody>
          <a:bodyPr wrap="square" lIns="0" tIns="0" rIns="0" bIns="0" rtlCol="0" anchor="t"/>
          <a:lstStyle/>
          <a:p>
            <a:pPr indent="0" marL="0">
              <a:buNone/>
            </a:pPr>
            <a:r>
              <a:rPr lang="en-US" sz="1800" b="1" dirty="0">
                <a:solidFill>
                  <a:srgbClr val="0F4C5C"/>
                </a:solidFill>
              </a:rPr>
              <a:t>試行して測る</a:t>
            </a:r>
            <a:endParaRPr lang="en-US" sz="1800" dirty="0"/>
          </a:p>
        </p:txBody>
      </p:sp>
      <p:sp>
        <p:nvSpPr>
          <p:cNvPr id="20" name="Text 17"/>
          <p:cNvSpPr txBox="1"/>
          <p:nvPr/>
        </p:nvSpPr>
        <p:spPr>
          <a:xfrm>
            <a:off x="6484468" y="2834640"/>
            <a:ext cx="2099234" cy="2194560"/>
          </a:xfrm>
          <a:prstGeom prst="rect">
            <a:avLst/>
          </a:prstGeom>
          <a:noFill/>
          <a:ln/>
        </p:spPr>
        <p:txBody>
          <a:bodyPr wrap="square" lIns="0" tIns="0" rIns="0" bIns="0" rtlCol="0" anchor="t"/>
          <a:lstStyle/>
          <a:p>
            <a:pPr indent="0" marL="0">
              <a:buNone/>
            </a:pPr>
            <a:r>
              <a:rPr lang="en-US" sz="1800" dirty="0">
                <a:solidFill>
                  <a:srgbClr val="1F2933"/>
                </a:solidFill>
              </a:rPr>
              <a:t>Skillあり／なしで同じ業務を比べる</a:t>
            </a:r>
            <a:endParaRPr lang="en-US" sz="1800" dirty="0"/>
          </a:p>
        </p:txBody>
      </p:sp>
      <p:sp>
        <p:nvSpPr>
          <p:cNvPr id="21" name="Shape 18"/>
          <p:cNvSpPr/>
          <p:nvPr/>
        </p:nvSpPr>
        <p:spPr>
          <a:xfrm>
            <a:off x="8830589" y="3099816"/>
            <a:ext cx="283464" cy="292608"/>
          </a:xfrm>
          <a:prstGeom prst="rightArrow">
            <a:avLst/>
          </a:prstGeom>
          <a:solidFill>
            <a:srgbClr val="E36414"/>
          </a:solidFill>
          <a:ln w="12700">
            <a:solidFill>
              <a:srgbClr val="E36414"/>
            </a:solidFill>
            <a:prstDash val="solid"/>
          </a:ln>
        </p:spPr>
      </p:sp>
      <p:sp>
        <p:nvSpPr>
          <p:cNvPr id="22" name="step-4"/>
          <p:cNvSpPr/>
          <p:nvPr/>
        </p:nvSpPr>
        <p:spPr>
          <a:xfrm>
            <a:off x="9178061" y="1325880"/>
            <a:ext cx="2464994" cy="3840480"/>
          </a:xfrm>
          <a:prstGeom prst="roundRect">
            <a:avLst>
              <a:gd name="adj" fmla="val 4451"/>
            </a:avLst>
          </a:prstGeom>
          <a:solidFill>
            <a:srgbClr val="E6F0F2"/>
          </a:solidFill>
          <a:ln w="12700">
            <a:solidFill>
              <a:srgbClr val="E6F0F2"/>
            </a:solidFill>
            <a:prstDash val="solid"/>
          </a:ln>
        </p:spPr>
      </p:sp>
      <p:sp>
        <p:nvSpPr>
          <p:cNvPr id="23" name="Shape 20"/>
          <p:cNvSpPr/>
          <p:nvPr/>
        </p:nvSpPr>
        <p:spPr>
          <a:xfrm>
            <a:off x="9360941" y="1508760"/>
            <a:ext cx="457200" cy="457200"/>
          </a:xfrm>
          <a:prstGeom prst="ellipse">
            <a:avLst/>
          </a:prstGeom>
          <a:solidFill>
            <a:srgbClr val="0F4C5C"/>
          </a:solidFill>
          <a:ln w="12700">
            <a:solidFill>
              <a:srgbClr val="0F4C5C"/>
            </a:solidFill>
            <a:prstDash val="solid"/>
          </a:ln>
        </p:spPr>
      </p:sp>
      <p:sp>
        <p:nvSpPr>
          <p:cNvPr id="24" name="Text 21"/>
          <p:cNvSpPr txBox="1"/>
          <p:nvPr/>
        </p:nvSpPr>
        <p:spPr>
          <a:xfrm>
            <a:off x="9360941" y="1508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5" name="Text 22"/>
          <p:cNvSpPr txBox="1"/>
          <p:nvPr/>
        </p:nvSpPr>
        <p:spPr>
          <a:xfrm>
            <a:off x="9360941" y="2103120"/>
            <a:ext cx="2099234" cy="685800"/>
          </a:xfrm>
          <a:prstGeom prst="rect">
            <a:avLst/>
          </a:prstGeom>
          <a:noFill/>
          <a:ln/>
        </p:spPr>
        <p:txBody>
          <a:bodyPr wrap="square" lIns="0" tIns="0" rIns="0" bIns="0" rtlCol="0" anchor="t"/>
          <a:lstStyle/>
          <a:p>
            <a:pPr indent="0" marL="0">
              <a:buNone/>
            </a:pPr>
            <a:r>
              <a:rPr lang="en-US" sz="1800" b="1" dirty="0">
                <a:solidFill>
                  <a:srgbClr val="0F4C5C"/>
                </a:solidFill>
              </a:rPr>
              <a:t>展開を判断</a:t>
            </a:r>
            <a:endParaRPr lang="en-US" sz="1800" dirty="0"/>
          </a:p>
        </p:txBody>
      </p:sp>
      <p:sp>
        <p:nvSpPr>
          <p:cNvPr id="26" name="Text 23"/>
          <p:cNvSpPr txBox="1"/>
          <p:nvPr/>
        </p:nvSpPr>
        <p:spPr>
          <a:xfrm>
            <a:off x="9360941" y="2834640"/>
            <a:ext cx="2099234" cy="2194560"/>
          </a:xfrm>
          <a:prstGeom prst="rect">
            <a:avLst/>
          </a:prstGeom>
          <a:noFill/>
          <a:ln/>
        </p:spPr>
        <p:txBody>
          <a:bodyPr wrap="square" lIns="0" tIns="0" rIns="0" bIns="0" rtlCol="0" anchor="t"/>
          <a:lstStyle/>
          <a:p>
            <a:pPr indent="0" marL="0">
              <a:buNone/>
            </a:pPr>
            <a:r>
              <a:rPr lang="en-US" sz="1800" dirty="0">
                <a:solidFill>
                  <a:srgbClr val="1F2933"/>
                </a:solidFill>
              </a:rPr>
              <a:t>結果を見て、共有ルールを決めて広げる</a:t>
            </a:r>
            <a:endParaRPr lang="en-US" sz="1800" dirty="0"/>
          </a:p>
        </p:txBody>
      </p:sp>
      <p:sp>
        <p:nvSpPr>
          <p:cNvPr id="27" name="Shape 24"/>
          <p:cNvSpPr/>
          <p:nvPr/>
        </p:nvSpPr>
        <p:spPr>
          <a:xfrm>
            <a:off x="548640" y="5440680"/>
            <a:ext cx="11094415" cy="640080"/>
          </a:xfrm>
          <a:prstGeom prst="roundRect">
            <a:avLst>
              <a:gd name="adj" fmla="val 14286"/>
            </a:avLst>
          </a:prstGeom>
          <a:solidFill>
            <a:srgbClr val="FFF1E7"/>
          </a:solidFill>
          <a:ln w="12700">
            <a:solidFill>
              <a:srgbClr val="E36414"/>
            </a:solidFill>
            <a:prstDash val="solid"/>
          </a:ln>
        </p:spPr>
      </p:sp>
      <p:sp>
        <p:nvSpPr>
          <p:cNvPr id="28" name="Text 25"/>
          <p:cNvSpPr txBox="1"/>
          <p:nvPr/>
        </p:nvSpPr>
        <p:spPr>
          <a:xfrm>
            <a:off x="777240" y="5440680"/>
            <a:ext cx="10637215" cy="640080"/>
          </a:xfrm>
          <a:prstGeom prst="rect">
            <a:avLst/>
          </a:prstGeom>
          <a:noFill/>
          <a:ln/>
        </p:spPr>
        <p:txBody>
          <a:bodyPr wrap="square" lIns="0" tIns="0" rIns="0" bIns="0" rtlCol="0" anchor="ctr"/>
          <a:lstStyle/>
          <a:p>
            <a:pPr indent="0" marL="0">
              <a:buNone/>
            </a:pPr>
            <a:r>
              <a:rPr lang="en-US" sz="1800" dirty="0">
                <a:solidFill>
                  <a:srgbClr val="1F2933"/>
                </a:solidFill>
              </a:rPr>
              <a:t>期間と体制は、対象業務が決まってから設定する</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試行で測る項目（案）</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3291840"/>
                <a:gridCol w="7799832"/>
              </a:tblGrid>
              <a:tr h="457200">
                <a:tc>
                  <a:txBody>
                    <a:bodyPr/>
                    <a:lstStyle/>
                    <a:p>
                      <a:pPr indent="0" marL="0">
                        <a:buNone/>
                      </a:pPr>
                      <a:r>
                        <a:rPr lang="en-US" sz="1800" b="1" dirty="0">
                          <a:solidFill>
                            <a:srgbClr val="0F4C5C"/>
                          </a:solidFill>
                        </a:rPr>
                        <a:t>項目</a:t>
                      </a:r>
                      <a:endParaRPr lang="en-US" sz="18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800" b="1" dirty="0">
                          <a:solidFill>
                            <a:srgbClr val="0F4C5C"/>
                          </a:solidFill>
                        </a:rPr>
                        <a:t>測り方（案）</a:t>
                      </a:r>
                      <a:endParaRPr lang="en-US" sz="18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r>
              <a:tr h="457200">
                <a:tc>
                  <a:txBody>
                    <a:bodyPr/>
                    <a:lstStyle/>
                    <a:p>
                      <a:pPr indent="0" marL="0">
                        <a:buNone/>
                      </a:pPr>
                      <a:r>
                        <a:rPr lang="en-US" sz="1800" dirty="0">
                          <a:solidFill>
                            <a:srgbClr val="1F2933"/>
                          </a:solidFill>
                        </a:rPr>
                        <a:t>依頼にかかる手間</a:t>
                      </a:r>
                      <a:endParaRPr lang="en-US" sz="18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rPr>
                        <a:t>AIへの指示を書く時間、やり取りの回数</a:t>
                      </a:r>
                      <a:endParaRPr lang="en-US" sz="18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F2933"/>
                          </a:solidFill>
                        </a:rPr>
                        <a:t>手戻り</a:t>
                      </a:r>
                      <a:endParaRPr lang="en-US" sz="18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800" dirty="0">
                          <a:solidFill>
                            <a:srgbClr val="1F2933"/>
                          </a:solidFill>
                        </a:rPr>
                        <a:t>AIの出力を人が直した回数・箇所</a:t>
                      </a:r>
                      <a:endParaRPr lang="en-US" sz="18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r h="457200">
                <a:tc>
                  <a:txBody>
                    <a:bodyPr/>
                    <a:lstStyle/>
                    <a:p>
                      <a:pPr indent="0" marL="0">
                        <a:buNone/>
                      </a:pPr>
                      <a:r>
                        <a:rPr lang="en-US" sz="1800" dirty="0">
                          <a:solidFill>
                            <a:srgbClr val="1F2933"/>
                          </a:solidFill>
                        </a:rPr>
                        <a:t>品質のそろい方</a:t>
                      </a:r>
                      <a:endParaRPr lang="en-US" sz="18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rPr>
                        <a:t>書式不備・記載漏れの件数</a:t>
                      </a:r>
                      <a:endParaRPr lang="en-US" sz="18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F2933"/>
                          </a:solidFill>
                        </a:rPr>
                        <a:t>使い勝手</a:t>
                      </a:r>
                      <a:endParaRPr lang="en-US" sz="18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800" dirty="0">
                          <a:solidFill>
                            <a:srgbClr val="1F2933"/>
                          </a:solidFill>
                        </a:rPr>
                        <a:t>利用者アンケート（使われたか、使いやすいか）</a:t>
                      </a:r>
                      <a:endParaRPr lang="en-US" sz="18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bl>
          </a:graphicData>
        </a:graphic>
      </p:graphicFrame>
      <p:sp>
        <p:nvSpPr>
          <p:cNvPr id="5" name="Shape 1"/>
          <p:cNvSpPr/>
          <p:nvPr/>
        </p:nvSpPr>
        <p:spPr>
          <a:xfrm>
            <a:off x="548640" y="5440680"/>
            <a:ext cx="11094415" cy="640080"/>
          </a:xfrm>
          <a:prstGeom prst="roundRect">
            <a:avLst>
              <a:gd name="adj" fmla="val 14286"/>
            </a:avLst>
          </a:prstGeom>
          <a:solidFill>
            <a:srgbClr val="FFF1E7"/>
          </a:solidFill>
          <a:ln w="12700">
            <a:solidFill>
              <a:srgbClr val="E36414"/>
            </a:solidFill>
            <a:prstDash val="solid"/>
          </a:ln>
        </p:spPr>
      </p:sp>
      <p:sp>
        <p:nvSpPr>
          <p:cNvPr id="6" name="Text 2"/>
          <p:cNvSpPr txBox="1"/>
          <p:nvPr/>
        </p:nvSpPr>
        <p:spPr>
          <a:xfrm>
            <a:off x="777240" y="5440680"/>
            <a:ext cx="10637215" cy="640080"/>
          </a:xfrm>
          <a:prstGeom prst="rect">
            <a:avLst/>
          </a:prstGeom>
          <a:noFill/>
          <a:ln/>
        </p:spPr>
        <p:txBody>
          <a:bodyPr wrap="square" lIns="0" tIns="0" rIns="0" bIns="0" rtlCol="0" anchor="ctr"/>
          <a:lstStyle/>
          <a:p>
            <a:pPr indent="0" marL="0">
              <a:buNone/>
            </a:pPr>
            <a:r>
              <a:rPr lang="en-US" sz="1800" dirty="0">
                <a:solidFill>
                  <a:srgbClr val="1F2933"/>
                </a:solidFill>
              </a:rPr>
              <a:t>効果の数値は</a:t>
            </a:r>
            <a:r>
              <a:rPr lang="en-US" sz="1800" b="1" dirty="0">
                <a:solidFill>
                  <a:srgbClr val="E36414"/>
                </a:solidFill>
              </a:rPr>
              <a:t>まだない</a:t>
            </a:r>
            <a:r>
              <a:rPr lang="en-US" sz="1800" dirty="0">
                <a:solidFill>
                  <a:srgbClr val="1F2933"/>
                </a:solidFill>
              </a:rPr>
              <a:t>。試行の結果で展開を判断する</a:t>
            </a:r>
            <a:endParaRPr 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000" b="1" dirty="0">
                <a:solidFill>
                  <a:srgbClr val="0F4C5C"/>
                </a:solidFill>
              </a:rPr>
              <a:t>リスクと対策</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3291840"/>
                <a:gridCol w="7799832"/>
              </a:tblGrid>
              <a:tr h="457200">
                <a:tc>
                  <a:txBody>
                    <a:bodyPr/>
                    <a:lstStyle/>
                    <a:p>
                      <a:pPr indent="0" marL="0">
                        <a:buNone/>
                      </a:pPr>
                      <a:r>
                        <a:rPr lang="en-US" sz="1600" b="1" dirty="0">
                          <a:solidFill>
                            <a:srgbClr val="0F4C5C"/>
                          </a:solidFill>
                        </a:rPr>
                        <a:t>リスク</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c>
                  <a:txBody>
                    <a:bodyPr/>
                    <a:lstStyle/>
                    <a:p>
                      <a:pPr indent="0" marL="0">
                        <a:buNone/>
                      </a:pPr>
                      <a:r>
                        <a:rPr lang="en-US" sz="1600" b="1" dirty="0">
                          <a:solidFill>
                            <a:srgbClr val="0F4C5C"/>
                          </a:solidFill>
                        </a:rPr>
                        <a:t>対策</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E6F0F2"/>
                    </a:solidFill>
                  </a:tcPr>
                </a:tc>
              </a:tr>
              <a:tr h="457200">
                <a:tc>
                  <a:txBody>
                    <a:bodyPr/>
                    <a:lstStyle/>
                    <a:p>
                      <a:pPr indent="0" marL="0">
                        <a:buNone/>
                      </a:pPr>
                      <a:r>
                        <a:rPr lang="en-US" sz="1600" dirty="0">
                          <a:solidFill>
                            <a:srgbClr val="1F2933"/>
                          </a:solidFill>
                        </a:rPr>
                        <a:t>社外秘の情報が漏れる</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rPr>
                        <a:t>Skillにパスワード・APIキー・社外秘を書かない。共有範囲を確認。利用ツールを社内で確認</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600" dirty="0">
                          <a:solidFill>
                            <a:srgbClr val="1F2933"/>
                          </a:solidFill>
                        </a:rPr>
                        <a:t>他人が作ったSkillが危険</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600" dirty="0">
                          <a:solidFill>
                            <a:srgbClr val="1F2933"/>
                          </a:solidFill>
                        </a:rPr>
                        <a:t>中身（指示とスクリプト）を確認してから使う。出所が信頼できるものだけ</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r h="457200">
                <a:tc>
                  <a:txBody>
                    <a:bodyPr/>
                    <a:lstStyle/>
                    <a:p>
                      <a:pPr indent="0" marL="0">
                        <a:buNone/>
                      </a:pPr>
                      <a:r>
                        <a:rPr lang="en-US" sz="1600" dirty="0">
                          <a:solidFill>
                            <a:srgbClr val="1F2933"/>
                          </a:solidFill>
                        </a:rPr>
                        <a:t>ツールの仕様が変わる</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rPr>
                        <a:t>共通形式で書き、ツール独自の設定は最小限に。定期的に公式情報を確認</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FFFFF"/>
                    </a:solidFill>
                  </a:tcPr>
                </a:tc>
              </a:tr>
              <a:tr h="457200">
                <a:tc>
                  <a:txBody>
                    <a:bodyPr/>
                    <a:lstStyle/>
                    <a:p>
                      <a:pPr indent="0" marL="0">
                        <a:buNone/>
                      </a:pPr>
                      <a:r>
                        <a:rPr lang="en-US" sz="1600" dirty="0">
                          <a:solidFill>
                            <a:srgbClr val="1F2933"/>
                          </a:solidFill>
                        </a:rPr>
                        <a:t>使われない・誤って使われる</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c>
                  <a:txBody>
                    <a:bodyPr/>
                    <a:lstStyle/>
                    <a:p>
                      <a:pPr indent="0" marL="0">
                        <a:buNone/>
                      </a:pPr>
                      <a:r>
                        <a:rPr lang="en-US" sz="1600" dirty="0">
                          <a:solidFill>
                            <a:srgbClr val="1F2933"/>
                          </a:solidFill>
                        </a:rPr>
                        <a:t>試行で「使われるべき依頼／使われるべきでない依頼」を確かめて直す</a:t>
                      </a:r>
                      <a:endParaRPr lang="en-US" sz="1600" dirty="0"/>
                    </a:p>
                  </a:txBody>
                  <a:tcPr marL="76200" marR="76200" marT="50800" marB="50800" anchor="ctr">
                    <a:lnL w="9525" cap="flat" cmpd="sng" algn="ctr">
                      <a:solidFill>
                        <a:srgbClr val="B8C7CC"/>
                      </a:solidFill>
                      <a:prstDash val="solid"/>
                      <a:round/>
                      <a:headEnd type="none" w="med" len="med"/>
                      <a:tailEnd type="none" w="med" len="med"/>
                    </a:lnL>
                    <a:lnR w="9525" cap="flat" cmpd="sng" algn="ctr">
                      <a:solidFill>
                        <a:srgbClr val="B8C7CC"/>
                      </a:solidFill>
                      <a:prstDash val="solid"/>
                      <a:round/>
                      <a:headEnd type="none" w="med" len="med"/>
                      <a:tailEnd type="none" w="med" len="med"/>
                    </a:lnR>
                    <a:lnT w="9525" cap="flat" cmpd="sng" algn="ctr">
                      <a:solidFill>
                        <a:srgbClr val="B8C7CC"/>
                      </a:solidFill>
                      <a:prstDash val="solid"/>
                      <a:round/>
                      <a:headEnd type="none" w="med" len="med"/>
                      <a:tailEnd type="none" w="med" len="med"/>
                    </a:lnT>
                    <a:lnB w="9525" cap="flat" cmpd="sng" algn="ctr">
                      <a:solidFill>
                        <a:srgbClr val="B8C7CC"/>
                      </a:solidFill>
                      <a:prstDash val="solid"/>
                      <a:round/>
                      <a:headEnd type="none" w="med" len="med"/>
                      <a:tailEnd type="none" w="med" len="med"/>
                    </a:lnB>
                    <a:solidFill>
                      <a:srgbClr val="F8FAFB"/>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11094415" cy="1097280"/>
          </a:xfrm>
          <a:prstGeom prst="rect">
            <a:avLst/>
          </a:prstGeom>
          <a:noFill/>
          <a:ln/>
        </p:spPr>
        <p:txBody>
          <a:bodyPr wrap="square" lIns="0" tIns="0" rIns="0" bIns="0" rtlCol="0" anchor="b"/>
          <a:lstStyle/>
          <a:p>
            <a:pPr algn="l" indent="0" marL="0">
              <a:buNone/>
            </a:pPr>
            <a:r>
              <a:rPr lang="en-US" sz="4000" b="1" dirty="0">
                <a:solidFill>
                  <a:srgbClr val="FFFFFF"/>
                </a:solidFill>
              </a:rPr>
              <a:t>お願いしたいこと</a:t>
            </a:r>
            <a:endParaRPr lang="en-US" sz="4000" dirty="0"/>
          </a:p>
        </p:txBody>
      </p:sp>
      <p:sp>
        <p:nvSpPr>
          <p:cNvPr id="3" name="Text 0"/>
          <p:cNvSpPr/>
          <p:nvPr>
            <p:ph idx="101" type="body" hasCustomPrompt="1"/>
          </p:nvPr>
        </p:nvSpPr>
        <p:spPr>
          <a:xfrm>
            <a:off x="548640" y="2834640"/>
            <a:ext cx="11094415" cy="3108960"/>
          </a:xfrm>
          <a:prstGeom prst="rect">
            <a:avLst/>
          </a:prstGeom>
          <a:noFill/>
          <a:ln/>
        </p:spPr>
        <p:txBody>
          <a:bodyPr wrap="square" lIns="0" tIns="0" rIns="0" bIns="0" rtlCol="0" anchor="t"/>
          <a:lstStyle/>
          <a:p>
            <a:pPr algn="l" indent="0" marL="0">
              <a:spcAft>
                <a:spcPts val="800"/>
              </a:spcAft>
              <a:buNone/>
            </a:pPr>
            <a:r>
              <a:rPr lang="en-US" sz="2200" dirty="0">
                <a:solidFill>
                  <a:srgbClr val="D7E6EA"/>
                </a:solidFill>
              </a:rPr>
              <a:t>1. 試行対象の業務を2〜3件選ぶ</a:t>
            </a:r>
            <a:endParaRPr lang="en-US" sz="2200" dirty="0"/>
          </a:p>
          <a:p>
            <a:pPr algn="l" indent="0" marL="0">
              <a:spcAft>
                <a:spcPts val="800"/>
              </a:spcAft>
              <a:buNone/>
            </a:pPr>
            <a:r>
              <a:rPr lang="en-US" sz="2200" dirty="0">
                <a:solidFill>
                  <a:srgbClr val="D7E6EA"/>
                </a:solidFill>
              </a:rPr>
              <a:t>2. 利用するAIツールと情報の扱いを社内で確認する</a:t>
            </a:r>
            <a:endParaRPr lang="en-US" sz="2200" dirty="0"/>
          </a:p>
          <a:p>
            <a:pPr algn="l" indent="0" marL="0">
              <a:spcAft>
                <a:spcPts val="800"/>
              </a:spcAft>
              <a:buNone/>
            </a:pPr>
            <a:r>
              <a:rPr lang="en-US" sz="2200" dirty="0">
                <a:solidFill>
                  <a:srgbClr val="D7E6EA"/>
                </a:solidFill>
              </a:rPr>
              <a:t>3. 試行の実施を承認いただく</a:t>
            </a:r>
            <a:endParaRPr lang="en-US" sz="2200" dirty="0"/>
          </a:p>
          <a:p>
            <a:pPr algn="l" indent="0" marL="0">
              <a:buNone/>
            </a:pPr>
            <a:r>
              <a:rPr lang="en-US" sz="2200" dirty="0">
                <a:solidFill>
                  <a:srgbClr val="D7E6EA"/>
                </a:solidFill>
              </a:rPr>
              <a:t>参考資料: Skill作成ガイド（Word版）・詳細版デッキ</a:t>
            </a:r>
            <a:endParaRPr lang="en-US"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7E6EA"/>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Skill導入の提案</dc:title>
  <dc:subject>PptxGenJS Presentation</dc:subject>
  <dc:creator>Claude Code</dc:creator>
  <cp:lastModifiedBy>Claude Code</cp:lastModifiedBy>
  <cp:revision>1</cp:revision>
  <dcterms:created xsi:type="dcterms:W3CDTF">2026-10-18T04:53:43Z</dcterms:created>
  <dcterms:modified xsi:type="dcterms:W3CDTF">2026-10-18T04:53:43Z</dcterms:modified>
</cp:coreProperties>
</file>