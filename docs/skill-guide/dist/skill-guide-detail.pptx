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9bda9230-1658-db16-c564-a260483075c0}">
          <p14:sldIdLst>
            <p14:sldId id="257"/>
            <p14:sldId id="258"/>
          </p14:sldIdLst>
        </p14:section>
        <p14:section name="Default-1" id="{fe48c649-4935-fba5-78b3-1280f4cacfb4}">
          <p14:sldIdLst>
            <p14:sldId id="256"/>
          </p14:sldIdLst>
        </p14:section>
        <p14:section name="第1部 入門編" id="{84e3e838-7ded-a988-edbd-c2b97f308eff}">
          <p14:sldIdLst>
            <p14:sldId id="259"/>
            <p14:sldId id="260"/>
            <p14:sldId id="261"/>
            <p14:sldId id="262"/>
            <p14:sldId id="263"/>
            <p14:sldId id="264"/>
            <p14:sldId id="265"/>
            <p14:sldId id="266"/>
            <p14:sldId id="267"/>
            <p14:sldId id="268"/>
            <p14:sldId id="269"/>
            <p14:sldId id="270"/>
            <p14:sldId id="271"/>
            <p14:sldId id="272"/>
          </p14:sldIdLst>
        </p14:section>
        <p14:section name="第2部 実践編" id="{3a80ad54-dec0-45d5-240e-5c77970dcd14}">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第3部 応用編" id="{986e92f5-17e9-4b74-e7c2-574a7f97f85e}">
          <p14:sldIdLst>
            <p14:sldId id="291"/>
            <p14:sldId id="292"/>
            <p14:sldId id="293"/>
            <p14:sldId id="294"/>
            <p14:sldId id="295"/>
            <p14:sldId id="296"/>
            <p14:sldId id="297"/>
          </p14:sldIdLst>
        </p14:section>
        <p14:section name="付録" id="{da70523a-e8ce-deae-1984-098c8f39e2c8}">
          <p14:sldIdLst>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このデッキは Skill の作り方を、はじめての人から複数ツールで使い回したい人までを対象に説明します。内容はリポジトリの docs/skill-guide.md（正本）に基づきます。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入門編はコードもターミナルも使いません。実践編・応用編は自分で SKILL.md を書きたい人向けです。各社の画面や対象プランは頻繁に変わるため、確認日時点の情報であることを最初に伝えてください。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全体は3部構成です。時間が限られるときは第1部だけでも完結します。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ChatGPTで質問して答えをもらう使い方がチャット。道具（ファイル操作、Web検索、プログラム実行など）を使い、目的を達成するまで自分で手順を進めるAIがエージェントです。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5つともエージェントとして働けます。前半2つは画面操作中心、後半3つは開発作業向けのツールです。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AIは賢いが、あなたの職場のやり方は知りません。新人に業務マニュアルを渡すように、AIにはSkillを渡します。一度作れば、AIは頼まれた時点で自分からマニュアルを開きます。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「同じ説明をAIに3回以上したことがある作業」はSkillにする価値があります。これは本ガイドの目安で、公式の基準ではありません。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AIは普段、各Skillの名前と「いつ使うか」の説明だけを覚えています。本棚の背表紙だけを眺めておき、必要な本だけを取り出して読むイメージです。2026年10月時点で5環境とも Agent Skills という共通形式に対応しています。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Skillの正体は SKILL.md というテキストファイル1つです（フォルダごと扱います）。.md はMarkdownという、記号で見出しや箇条書きを表すシンプルな書き方です。メモ帳でも書けます。上の --- で囲まれた部分をフロントマター（表紙情報）と呼び、YAMLという「項目名: 値」の形で書きます。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 description だけを見て、今の頼みごとにこのSkillを使うべきかを判断します。本文は使うと決めた後に初めて読まれます。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ちばん簡単なのはAIに頼んで作ってもらう方法です。ChatGPTにはSkill作りを手伝うskill-creatorが最初から用意されています。Claude.aiでも例のSkill（skill-creatorを含む）をオンにして使えます。Anthropicの公式ガイドによれば、特別な準備をしなくても「Skillを作って」と頼むだけでClaudeは正しい形式のSkillを作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準備: 設定 &gt; 機能 で「コード実行とファイル作成」をオン。Team/Enterpriseは管理者がSkillを有効にしている必要があります。保存は「Save skill」ボタン（組織の設定によっては表示されない）。ボタンがない場合はダウンロードして方法Cの手順でアップロードします。試すときは必ず新しいチャットで。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公式ヘルプでは Business / Enterprise / Healthcare / Edu の対象ユーザーが利用でき、ワークスペースの設定にも左右されます。Plus / Pro は情報が分かれているため要確認。Skills画面は「Plugins」内のSkillsタブにあるという情報がありますが、画面構成も要確認です。アップロードしたSkillは安全性チェックを経て利用可能になります。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メモ帳で書けます。保存時はファイルの種類を「すべてのファイル」にしないと SKILL.md.txt になります。文字コードはUTF-8。ZIPはフォルダ自体を右クリックして作ります（Windows 11は「ZIPファイルに圧縮する」）。フォルダの中身を選んで圧縮すると正しく読み込めません。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それでも使われないときは「議事録Skillを使って」と名前を出して頼むと確実です。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使い分けはシンプル。ほぼ毎回必要な短いことはカスタム指示や指示ファイル、特定の作業のときだけ必要な詳しい手順はSkill。GitHub Copilotの公式ドキュメントも同じ使い分けを勧めています。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各社のSkillはオープンな仕様 Agent Skills（agentskills.io）に基づきます。必須なのは SKILL.md だけ。ファイル名は大文字の SKILL.md（Copilotの公式ドキュメントは「SKILL.mdという名前でなければならない」と明記）。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必須は name と description の2つ。compatibility はほとんどのSkillで不要。allowed-tools は実験的で、対応は製品により異なります。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Claude.aiの description 上限は、公式ヘルプが200文字、仕様とAPIは1,024文字と資料で異なります。どこでも通用させるため、本ガイドは200文字以内を推奨します。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トークンはAIが文章を数える単位。AIが一度に扱える情報量には上限があるため、普段は最小限だけ読み、必要に応じて詳細を読む仕組みです。だから description の出来が使われるかどうかを決め、SKILL.md は500行以内に収めて詳細は別ファイルに分けます。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いきなり書き始めず5点を先に決めます。テスト用の頼み方は最低3つ（Anthropic公式ガイドも少なくとも3つの評価シナリオを推奨）。使われるべきでない紛らわしい頼み方も用意すると誤発動を防げます。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1つのSkillには1つの仕事を担当させます。大きなSkillを1つ作るより、小さなSkillを複数作るほうがうまく組み合わさります（Anthropic公式ヘルプも推奨）。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一人称（私は〜）は避けます。英語の公式ガイドは三人称で書くよう求めています。日本語なら「〜する。〜のときに使う。」と書けば自然にそうなります。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AIはSkillを使わずに済ませようとする傾向があるため、少し積極的に書くと使われやすくなります（Anthropic提供のskill-creatorの解説より）。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の形式に決まりはありません。左の構成が書きやすく伝わりやすい形です。「必ず〜」と強く書くより理由を書くほうが、想定外の場面でもAIが正しく判断できます。MUSTや「絶対に」を多用したくなったら理由の説明が足りないサイ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付属ファイルは SKILL.md から直接リンクします。資料から別の資料へ何段階もたどらせると、AIが途中までしか読まないことがあります。パスは / で区切り、ファイル名は中身がわかる名前に。100行を超える資料には目次を付けます。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は自分のホームフォルダ（Windowsなら通常 C:\Users\ユーザー名）。リポジトリは変更履歴ごと管理する保管場所（主にGit/GitHub）です。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Claude.aiで有効にしたSkillは、Claude for Excel/PowerPoint/Word/Outlookのアドインや、同じアカウントでログインしたClaude Codeでも使えます。ChatGPTのアップロード可能なファイル形式の詳細は要確認。ワークスペース管理者はアップロードを無効にできます。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同名のSkillは 組織 &gt; 個人 &gt; プロジェクト の順で優先。既存の skills フォルダ内の変更は再起動なしで反映。新しく skills フォルダを作った場合は /reload-skills。独自項目は他の環境では使えないか、エラーになる場合があります。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置き場所は公式ページの検索結果とCodexのソースコード変更履歴から確認（公式ページ本体は直接閲覧できていません）。同名のSkillは統合されず両方が選択肢に出ます。agents/openai.yaml はCodexの画面側が読む設定で、他の環境は無視します。反映されない場合は再起動。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対応: Copilot cloud agent、code review、CLI、GitHub Copilotアプリ、VS Code と JetBrains のエージェントモード。gh skill は GitHub CLI 2.90.0 以降でパブリックプレビュー。GitHubは、Skillは検証されておらず悪意のある指示やスクリプトを含む可能性があるため、インストール前に必ず gh skill preview で中身を確認するよう警告しています。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紛らわしい依頼は無関係なものではなく、キーワードは似ているが目的が違うものを選びます。AIが簡単にこなせる短い依頼では description が合っていても使われないことがあるため、中身のある依頼で試します。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の前のテスト例だけに合わせた細かい修正を重ねず、なぜそうなったかを考えて一般的な形で直します。作る係（1つの会話）と試す係（新しい会話）を分けると、つまずきを見つけやすくなります。使うモデルごとに試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特に注意: Claude Code独自の項目をClaude.aiにアップロードするとエラーになります。Codexの表示設定は別ファイル（agents/openai.yaml）なので他環境は無視します。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の「―」は確認した公式資料に記載がないことを示します。シンボリックリンクはWindowsでは作成に権限が必要な場合があり、ツールごとの扱いも異なるため、確実なのはコピー。正本だけを編集し、更新のたびに同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スクリプトは中身を読まずに実行できるため、AIの作業メモを消費せず結果だけが返ります。Claude.aiとClaude CodeはPyPIやnpmからパッケージを取得できますが、Claude APIでは実行中に追加インストールできません。allowed-tools で shell や bash を事前許可すると確認なしでコマンドが実行されるため、GitHubは作成元を完全に信頼できる場合を除き事前許可しないよう警告しています。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は「AIへの指示」と「実行されるプログラム」の組み合わせ。悪意のあるSkillは隠れた指示でAIに意図しない動作をさせたり（プロンプトインジェクション）、スクリプトでファイルを外部送信・削除したりできます。ChatGPTはアップロードを検査し、Claude.aiのTeam/Enterpriseは組織のセキュリティスキャンや公開前レビューを設定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全項目はWord版・Markdown版の第14章を参照。Windowsで作ったSkillのパスに \ を使っていると他の環境で動きません。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共有前に4つの観点で確認します。全項目はWord版の第15章を参照してください。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5つの環境すべてで使えるよう、フロントマターは name と description だけにしています。動作確認は 2026-10-17、Claude Code 2.1.302 で実施。Claude.ai / ChatGPT / Codex / Copilot での動作は未確認です。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全用語はWord版の付録Aを参照。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確認日はすべて2026-10-17。OpenAIとGitHubの公式サイトはこの作成環境から直接閲覧できず、GitHubの原稿・OpenAIのGitHub資料・検索結果で確認しました。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最初の一歩は小さく。うまくいったら第2部・第3部で他の環境への展開や安全面を確認してください。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3474720"/>
            <a:ext cx="11094415" cy="1645920"/>
          </a:xfrm>
          <a:prstGeom prst="rect">
            <a:avLst/>
          </a:prstGeom>
          <a:noFill/>
          <a:ln/>
        </p:spPr>
        <p:txBody>
          <a:bodyPr wrap="square" rtlCol="0"/>
          <a:lstStyle>
            <a:lvl1pPr algn="l" indent="0" marL="0">
              <a:buNone/>
              <a:defRPr lang="en-US" sz="2000" dirty="0">
                <a:solidFill>
                  <a:srgbClr val="D7E6EA"/>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4415" cy="109728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834640"/>
            <a:ext cx="11094415" cy="3108960"/>
          </a:xfrm>
          <a:prstGeom prst="rect">
            <a:avLst/>
          </a:prstGeom>
          <a:noFill/>
          <a:ln/>
        </p:spPr>
        <p:txBody>
          <a:bodyPr wrap="square" rtlCol="0"/>
          <a:lstStyle>
            <a:lvl1pPr algn="l" indent="0" marL="0">
              <a:buNone/>
              <a:defRPr lang="en-US" sz="2200" dirty="0">
                <a:solidFill>
                  <a:srgbClr val="D7E6EA"/>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000" b="1" dirty="0">
                <a:solidFill>
                  <a:srgbClr val="0F4C5C"/>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F6B76"/>
                </a:solidFill>
              </a:rPr>
              <a:t>Skill作成ガイド</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lIns="0" tIns="0" rIns="0" bIns="0" rtlCol="0" anchor="b"/>
          <a:lstStyle/>
          <a:p>
            <a:pPr algn="l" indent="0" marL="0">
              <a:buNone/>
            </a:pPr>
            <a:r>
              <a:rPr lang="en-US" sz="4400" b="1" dirty="0">
                <a:solidFill>
                  <a:srgbClr val="FFFFFF"/>
                </a:solidFill>
              </a:rPr>
              <a:t>Skill作成ガイド</a:t>
            </a:r>
            <a:endParaRPr lang="en-US" sz="4400" dirty="0"/>
          </a:p>
        </p:txBody>
      </p:sp>
      <p:sp>
        <p:nvSpPr>
          <p:cNvPr id="3" name="Text 0"/>
          <p:cNvSpPr/>
          <p:nvPr>
            <p:ph idx="101" type="body" hasCustomPrompt="1"/>
          </p:nvPr>
        </p:nvSpPr>
        <p:spPr>
          <a:xfrm>
            <a:off x="548640" y="3474720"/>
            <a:ext cx="11094415" cy="1645920"/>
          </a:xfrm>
          <a:prstGeom prst="rect">
            <a:avLst/>
          </a:prstGeom>
          <a:noFill/>
          <a:ln/>
        </p:spPr>
        <p:txBody>
          <a:bodyPr wrap="square" lIns="0" tIns="0" rIns="0" bIns="0" rtlCol="0" anchor="t"/>
          <a:lstStyle/>
          <a:p>
            <a:pPr algn="l" indent="0" marL="0">
              <a:buNone/>
            </a:pPr>
            <a:r>
              <a:rPr lang="en-US" sz="2000" dirty="0">
                <a:solidFill>
                  <a:srgbClr val="D7E6EA"/>
                </a:solidFill>
              </a:rPr>
              <a:t>AIに「仕事の手順書」を渡す方法</a:t>
            </a:r>
            <a:endParaRPr lang="en-US" sz="2000" dirty="0"/>
          </a:p>
          <a:p>
            <a:pPr algn="l" indent="0" marL="0">
              <a:buNone/>
            </a:pPr>
            <a:r>
              <a:rPr lang="en-US" sz="2000" dirty="0">
                <a:solidFill>
                  <a:srgbClr val="D7E6EA"/>
                </a:solidFill>
              </a:rPr>
              <a:t>対象: Claude.ai / ChatGPT / Claude Code / OpenAI Codex / GitHub Copilot</a:t>
            </a:r>
            <a:endParaRPr lang="en-US" sz="2000" dirty="0"/>
          </a:p>
          <a:p>
            <a:pPr algn="l" indent="0" marL="0">
              <a:buNone/>
            </a:pPr>
            <a:r>
              <a:rPr lang="en-US" sz="2000" dirty="0">
                <a:solidFill>
                  <a:srgbClr val="D7E6EA"/>
                </a:solidFill>
              </a:rPr>
              <a:t>情報の確認日: 2026-10-17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このデッキの読み方</a:t>
            </a:r>
            <a:endParaRPr lang="en-US" sz="3000" dirty="0"/>
          </a:p>
        </p:txBody>
      </p:sp>
      <p:sp>
        <p:nvSpPr>
          <p:cNvPr id="4" name="card-1"/>
          <p:cNvSpPr/>
          <p:nvPr/>
        </p:nvSpPr>
        <p:spPr>
          <a:xfrm>
            <a:off x="548640" y="1325880"/>
            <a:ext cx="3515258" cy="3566160"/>
          </a:xfrm>
          <a:prstGeom prst="roundRect">
            <a:avLst>
              <a:gd name="adj" fmla="val 312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E36414"/>
          </a:solidFill>
          <a:ln w="12700">
            <a:solidFill>
              <a:srgbClr val="E36414"/>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325880"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入門編だけでOK</a:t>
            </a:r>
            <a:endParaRPr lang="en-US" sz="2000" dirty="0"/>
          </a:p>
        </p:txBody>
      </p:sp>
      <p:sp>
        <p:nvSpPr>
          <p:cNvPr id="8" name="Text 5"/>
          <p:cNvSpPr txBox="1"/>
          <p:nvPr/>
        </p:nvSpPr>
        <p:spPr>
          <a:xfrm>
            <a:off x="777240" y="2103120"/>
            <a:ext cx="3058058" cy="26517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ChatGPTは使ったが、エージェントやSkillは知らない人向け</a:t>
            </a:r>
            <a:endParaRPr lang="en-US" sz="1600" dirty="0"/>
          </a:p>
          <a:p>
            <a:pPr marL="203200" indent="-203200">
              <a:spcAft>
                <a:spcPts val="600"/>
              </a:spcAft>
              <a:buSzPct val="100000"/>
              <a:buChar char="●"/>
            </a:pPr>
            <a:r>
              <a:rPr lang="en-US" sz="1600" dirty="0">
                <a:solidFill>
                  <a:srgbClr val="1F2933"/>
                </a:solidFill>
              </a:rPr>
              <a:t>コード・ターミナル不要</a:t>
            </a:r>
            <a:endParaRPr lang="en-US" sz="1600" dirty="0"/>
          </a:p>
          <a:p>
            <a:pPr marL="203200" indent="-203200">
              <a:spcAft>
                <a:spcPts val="600"/>
              </a:spcAft>
              <a:buSzPct val="100000"/>
              <a:buChar char="●"/>
            </a:pPr>
            <a:r>
              <a:rPr lang="en-US" sz="1600" dirty="0">
                <a:solidFill>
                  <a:srgbClr val="1F2933"/>
                </a:solidFill>
              </a:rPr>
              <a:t>最初のSkillを30分で作る</a:t>
            </a:r>
            <a:endParaRPr lang="en-US" sz="1600" dirty="0"/>
          </a:p>
        </p:txBody>
      </p:sp>
      <p:sp>
        <p:nvSpPr>
          <p:cNvPr id="9" name="card-2"/>
          <p:cNvSpPr/>
          <p:nvPr/>
        </p:nvSpPr>
        <p:spPr>
          <a:xfrm>
            <a:off x="4338218" y="1325880"/>
            <a:ext cx="3515258" cy="3566160"/>
          </a:xfrm>
          <a:prstGeom prst="roundRect">
            <a:avLst>
              <a:gd name="adj" fmla="val 3121"/>
            </a:avLst>
          </a:prstGeom>
          <a:solidFill>
            <a:srgbClr val="E6F0F2"/>
          </a:solidFill>
          <a:ln w="12700">
            <a:solidFill>
              <a:srgbClr val="E6F0F2"/>
            </a:solidFill>
            <a:prstDash val="solid"/>
          </a:ln>
        </p:spPr>
      </p:sp>
      <p:sp>
        <p:nvSpPr>
          <p:cNvPr id="10" name="Shape 7"/>
          <p:cNvSpPr/>
          <p:nvPr/>
        </p:nvSpPr>
        <p:spPr>
          <a:xfrm>
            <a:off x="4521098" y="1508760"/>
            <a:ext cx="457200" cy="457200"/>
          </a:xfrm>
          <a:prstGeom prst="ellipse">
            <a:avLst/>
          </a:prstGeom>
          <a:solidFill>
            <a:srgbClr val="E36414"/>
          </a:solidFill>
          <a:ln w="12700">
            <a:solidFill>
              <a:srgbClr val="E36414"/>
            </a:solidFill>
            <a:prstDash val="solid"/>
          </a:ln>
        </p:spPr>
      </p:sp>
      <p:sp>
        <p:nvSpPr>
          <p:cNvPr id="11" name="Text 8"/>
          <p:cNvSpPr txBox="1"/>
          <p:nvPr/>
        </p:nvSpPr>
        <p:spPr>
          <a:xfrm>
            <a:off x="452109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5115458"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実践編・応用編</a:t>
            </a:r>
            <a:endParaRPr lang="en-US" sz="2000" dirty="0"/>
          </a:p>
        </p:txBody>
      </p:sp>
      <p:sp>
        <p:nvSpPr>
          <p:cNvPr id="13" name="Text 10"/>
          <p:cNvSpPr txBox="1"/>
          <p:nvPr/>
        </p:nvSpPr>
        <p:spPr>
          <a:xfrm>
            <a:off x="4566818" y="2103120"/>
            <a:ext cx="3058058" cy="26517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自分でSKILL.mdを書きたい人</a:t>
            </a:r>
            <a:endParaRPr lang="en-US" sz="1600" dirty="0"/>
          </a:p>
          <a:p>
            <a:pPr marL="203200" indent="-203200">
              <a:spcAft>
                <a:spcPts val="600"/>
              </a:spcAft>
              <a:buSzPct val="100000"/>
              <a:buChar char="●"/>
            </a:pPr>
            <a:r>
              <a:rPr lang="en-US" sz="1600" dirty="0">
                <a:solidFill>
                  <a:srgbClr val="1F2933"/>
                </a:solidFill>
              </a:rPr>
              <a:t>複数のAIツールで使い回したい人</a:t>
            </a:r>
            <a:endParaRPr lang="en-US" sz="1600" dirty="0"/>
          </a:p>
          <a:p>
            <a:pPr marL="203200" indent="-203200">
              <a:spcAft>
                <a:spcPts val="600"/>
              </a:spcAft>
              <a:buSzPct val="100000"/>
              <a:buChar char="●"/>
            </a:pPr>
            <a:r>
              <a:rPr lang="en-US" sz="1600" dirty="0">
                <a:solidFill>
                  <a:srgbClr val="1F2933"/>
                </a:solidFill>
              </a:rPr>
              <a:t>テスト・安全・運用まで</a:t>
            </a:r>
            <a:endParaRPr lang="en-US" sz="1600" dirty="0"/>
          </a:p>
        </p:txBody>
      </p:sp>
      <p:sp>
        <p:nvSpPr>
          <p:cNvPr id="14" name="card-3"/>
          <p:cNvSpPr/>
          <p:nvPr/>
        </p:nvSpPr>
        <p:spPr>
          <a:xfrm>
            <a:off x="8127797" y="1325880"/>
            <a:ext cx="3515258" cy="3566160"/>
          </a:xfrm>
          <a:prstGeom prst="roundRect">
            <a:avLst>
              <a:gd name="adj" fmla="val 3121"/>
            </a:avLst>
          </a:prstGeom>
          <a:solidFill>
            <a:srgbClr val="FFF1E7"/>
          </a:solidFill>
          <a:ln w="12700">
            <a:solidFill>
              <a:srgbClr val="E36414"/>
            </a:solidFill>
            <a:prstDash val="solid"/>
          </a:ln>
        </p:spPr>
      </p:sp>
      <p:sp>
        <p:nvSpPr>
          <p:cNvPr id="15" name="Shape 12"/>
          <p:cNvSpPr/>
          <p:nvPr/>
        </p:nvSpPr>
        <p:spPr>
          <a:xfrm>
            <a:off x="8310677" y="1508760"/>
            <a:ext cx="457200" cy="457200"/>
          </a:xfrm>
          <a:prstGeom prst="ellipse">
            <a:avLst/>
          </a:prstGeom>
          <a:solidFill>
            <a:srgbClr val="E36414"/>
          </a:solidFill>
          <a:ln w="12700">
            <a:solidFill>
              <a:srgbClr val="E36414"/>
            </a:solidFill>
            <a:prstDash val="solid"/>
          </a:ln>
        </p:spPr>
      </p:sp>
      <p:sp>
        <p:nvSpPr>
          <p:cNvPr id="16" name="Text 13"/>
          <p:cNvSpPr txBox="1"/>
          <p:nvPr/>
        </p:nvSpPr>
        <p:spPr>
          <a:xfrm>
            <a:off x="8310677"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7" name="Text 14"/>
          <p:cNvSpPr txBox="1"/>
          <p:nvPr/>
        </p:nvSpPr>
        <p:spPr>
          <a:xfrm>
            <a:off x="8905037"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情報の鮮度に注意</a:t>
            </a:r>
            <a:endParaRPr lang="en-US" sz="2000" dirty="0"/>
          </a:p>
        </p:txBody>
      </p:sp>
      <p:sp>
        <p:nvSpPr>
          <p:cNvPr id="18" name="Text 15"/>
          <p:cNvSpPr txBox="1"/>
          <p:nvPr/>
        </p:nvSpPr>
        <p:spPr>
          <a:xfrm>
            <a:off x="8356397" y="2103120"/>
            <a:ext cx="3058058" cy="26517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メニュー名や対象プランは頻繁に変わる</a:t>
            </a:r>
            <a:endParaRPr lang="en-US" sz="1600" dirty="0"/>
          </a:p>
          <a:p>
            <a:pPr marL="203200" indent="-203200">
              <a:spcAft>
                <a:spcPts val="600"/>
              </a:spcAft>
              <a:buSzPct val="100000"/>
              <a:buChar char="●"/>
            </a:pPr>
            <a:r>
              <a:rPr lang="en-US" sz="1600" dirty="0">
                <a:solidFill>
                  <a:srgbClr val="1F2933"/>
                </a:solidFill>
              </a:rPr>
              <a:t>内容は2026-10-17時点</a:t>
            </a:r>
            <a:endParaRPr lang="en-US" sz="1600" dirty="0"/>
          </a:p>
          <a:p>
            <a:pPr marL="203200" indent="-203200">
              <a:spcAft>
                <a:spcPts val="600"/>
              </a:spcAft>
              <a:buSzPct val="100000"/>
              <a:buChar char="●"/>
            </a:pPr>
            <a:r>
              <a:rPr lang="en-US" sz="1600" dirty="0">
                <a:solidFill>
                  <a:srgbClr val="1F2933"/>
                </a:solidFill>
              </a:rPr>
              <a:t>公式資料で確認できなかった点は「</a:t>
            </a:r>
            <a:r>
              <a:rPr lang="en-US" sz="1600" b="1" dirty="0">
                <a:solidFill>
                  <a:srgbClr val="0F4C5C"/>
                </a:solidFill>
              </a:rPr>
              <a:t>要確認</a:t>
            </a:r>
            <a:r>
              <a:rPr lang="en-US" sz="1600" dirty="0">
                <a:solidFill>
                  <a:srgbClr val="1F2933"/>
                </a:solidFill>
              </a:rPr>
              <a:t>」と表示</a:t>
            </a:r>
            <a:endParaRPr lang="en-US" sz="1600" dirty="0"/>
          </a:p>
        </p:txBody>
      </p:sp>
      <p:sp>
        <p:nvSpPr>
          <p:cNvPr id="19" name="Shape 16"/>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20" name="Text 17"/>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正本はリポジトリの </a:t>
            </a:r>
            <a:r>
              <a:rPr lang="en-US" sz="1800" b="1" dirty="0">
                <a:solidFill>
                  <a:srgbClr val="E36414"/>
                </a:solidFill>
              </a:rPr>
              <a:t>docs/skill-guide.md</a:t>
            </a:r>
            <a:r>
              <a:rPr lang="en-US" sz="1800" dirty="0">
                <a:solidFill>
                  <a:srgbClr val="1F2933"/>
                </a:solidFill>
              </a:rPr>
              <a:t>。このデッキとWord版はそこから作っています</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目次</a:t>
            </a:r>
            <a:endParaRPr lang="en-US" sz="3000" dirty="0"/>
          </a:p>
        </p:txBody>
      </p:sp>
      <p:sp>
        <p:nvSpPr>
          <p:cNvPr id="4" name="card-1"/>
          <p:cNvSpPr/>
          <p:nvPr/>
        </p:nvSpPr>
        <p:spPr>
          <a:xfrm>
            <a:off x="548640" y="1325880"/>
            <a:ext cx="2567864" cy="4892040"/>
          </a:xfrm>
          <a:prstGeom prst="roundRect">
            <a:avLst>
              <a:gd name="adj" fmla="val 4273"/>
            </a:avLst>
          </a:prstGeom>
          <a:solidFill>
            <a:srgbClr val="E6F0F2"/>
          </a:solidFill>
          <a:ln w="12700">
            <a:solidFill>
              <a:srgbClr val="E6F0F2"/>
            </a:solidFill>
            <a:prstDash val="solid"/>
          </a:ln>
        </p:spPr>
      </p:sp>
      <p:sp>
        <p:nvSpPr>
          <p:cNvPr id="5" name="Text 2"/>
          <p:cNvSpPr txBox="1"/>
          <p:nvPr/>
        </p:nvSpPr>
        <p:spPr>
          <a:xfrm>
            <a:off x="777240"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第1部 入門編</a:t>
            </a:r>
            <a:endParaRPr lang="en-US" sz="2000" dirty="0"/>
          </a:p>
        </p:txBody>
      </p:sp>
      <p:sp>
        <p:nvSpPr>
          <p:cNvPr id="6" name="Text 3"/>
          <p:cNvSpPr txBox="1"/>
          <p:nvPr/>
        </p:nvSpPr>
        <p:spPr>
          <a:xfrm>
            <a:off x="777240"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1. チャットとエージェントの違い</a:t>
            </a:r>
            <a:endParaRPr lang="en-US" sz="1600" dirty="0"/>
          </a:p>
          <a:p>
            <a:pPr marL="203200" indent="-203200">
              <a:spcAft>
                <a:spcPts val="600"/>
              </a:spcAft>
              <a:buSzPct val="100000"/>
              <a:buChar char="●"/>
            </a:pPr>
            <a:r>
              <a:rPr lang="en-US" sz="1600" dirty="0">
                <a:solidFill>
                  <a:srgbClr val="1F2933"/>
                </a:solidFill>
              </a:rPr>
              <a:t>2. Skillとは</a:t>
            </a:r>
            <a:endParaRPr lang="en-US" sz="1600" dirty="0"/>
          </a:p>
          <a:p>
            <a:pPr marL="203200" indent="-203200">
              <a:spcAft>
                <a:spcPts val="600"/>
              </a:spcAft>
              <a:buSzPct val="100000"/>
              <a:buChar char="●"/>
            </a:pPr>
            <a:r>
              <a:rPr lang="en-US" sz="1600" dirty="0">
                <a:solidFill>
                  <a:srgbClr val="1F2933"/>
                </a:solidFill>
              </a:rPr>
              <a:t>3. Skillの中身</a:t>
            </a:r>
            <a:endParaRPr lang="en-US" sz="1600" dirty="0"/>
          </a:p>
          <a:p>
            <a:pPr marL="203200" indent="-203200">
              <a:spcAft>
                <a:spcPts val="600"/>
              </a:spcAft>
              <a:buSzPct val="100000"/>
              <a:buChar char="●"/>
            </a:pPr>
            <a:r>
              <a:rPr lang="en-US" sz="1600" dirty="0">
                <a:solidFill>
                  <a:srgbClr val="1F2933"/>
                </a:solidFill>
              </a:rPr>
              <a:t>4. はじめてのSkillを作る</a:t>
            </a:r>
            <a:endParaRPr lang="en-US" sz="1600" dirty="0"/>
          </a:p>
          <a:p>
            <a:pPr marL="203200" indent="-203200">
              <a:spcAft>
                <a:spcPts val="600"/>
              </a:spcAft>
              <a:buSzPct val="100000"/>
              <a:buChar char="●"/>
            </a:pPr>
            <a:r>
              <a:rPr lang="en-US" sz="1600" dirty="0">
                <a:solidFill>
                  <a:srgbClr val="1F2933"/>
                </a:solidFill>
              </a:rPr>
              <a:t>5. 似た機能との違い</a:t>
            </a:r>
            <a:endParaRPr lang="en-US" sz="1600" dirty="0"/>
          </a:p>
        </p:txBody>
      </p:sp>
      <p:sp>
        <p:nvSpPr>
          <p:cNvPr id="7" name="card-2"/>
          <p:cNvSpPr/>
          <p:nvPr/>
        </p:nvSpPr>
        <p:spPr>
          <a:xfrm>
            <a:off x="3390824" y="1325880"/>
            <a:ext cx="2567864" cy="4892040"/>
          </a:xfrm>
          <a:prstGeom prst="roundRect">
            <a:avLst>
              <a:gd name="adj" fmla="val 4273"/>
            </a:avLst>
          </a:prstGeom>
          <a:solidFill>
            <a:srgbClr val="E6F0F2"/>
          </a:solidFill>
          <a:ln w="12700">
            <a:solidFill>
              <a:srgbClr val="E6F0F2"/>
            </a:solidFill>
            <a:prstDash val="solid"/>
          </a:ln>
        </p:spPr>
      </p:sp>
      <p:sp>
        <p:nvSpPr>
          <p:cNvPr id="8" name="Text 5"/>
          <p:cNvSpPr txBox="1"/>
          <p:nvPr/>
        </p:nvSpPr>
        <p:spPr>
          <a:xfrm>
            <a:off x="3619424"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第2部 実践編</a:t>
            </a:r>
            <a:endParaRPr lang="en-US" sz="2000" dirty="0"/>
          </a:p>
        </p:txBody>
      </p:sp>
      <p:sp>
        <p:nvSpPr>
          <p:cNvPr id="9" name="Text 6"/>
          <p:cNvSpPr txBox="1"/>
          <p:nvPr/>
        </p:nvSpPr>
        <p:spPr>
          <a:xfrm>
            <a:off x="3619424"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6. 共通ルール（Agent Skills標準）</a:t>
            </a:r>
            <a:endParaRPr lang="en-US" sz="1600" dirty="0"/>
          </a:p>
          <a:p>
            <a:pPr marL="203200" indent="-203200">
              <a:spcAft>
                <a:spcPts val="600"/>
              </a:spcAft>
              <a:buSzPct val="100000"/>
              <a:buChar char="●"/>
            </a:pPr>
            <a:r>
              <a:rPr lang="en-US" sz="1600" dirty="0">
                <a:solidFill>
                  <a:srgbClr val="1F2933"/>
                </a:solidFill>
              </a:rPr>
              <a:t>7. 良いSkillの設計手順</a:t>
            </a:r>
            <a:endParaRPr lang="en-US" sz="1600" dirty="0"/>
          </a:p>
          <a:p>
            <a:pPr marL="203200" indent="-203200">
              <a:spcAft>
                <a:spcPts val="600"/>
              </a:spcAft>
              <a:buSzPct val="100000"/>
              <a:buChar char="●"/>
            </a:pPr>
            <a:r>
              <a:rPr lang="en-US" sz="1600" dirty="0">
                <a:solidFill>
                  <a:srgbClr val="1F2933"/>
                </a:solidFill>
              </a:rPr>
              <a:t>8. SKILL.mdの書き方</a:t>
            </a:r>
            <a:endParaRPr lang="en-US" sz="1600" dirty="0"/>
          </a:p>
          <a:p>
            <a:pPr marL="203200" indent="-203200">
              <a:spcAft>
                <a:spcPts val="600"/>
              </a:spcAft>
              <a:buSzPct val="100000"/>
              <a:buChar char="●"/>
            </a:pPr>
            <a:r>
              <a:rPr lang="en-US" sz="1600" dirty="0">
                <a:solidFill>
                  <a:srgbClr val="1F2933"/>
                </a:solidFill>
              </a:rPr>
              <a:t>9. 環境別の登録方法</a:t>
            </a:r>
            <a:endParaRPr lang="en-US" sz="1600" dirty="0"/>
          </a:p>
          <a:p>
            <a:pPr marL="203200" indent="-203200">
              <a:spcAft>
                <a:spcPts val="600"/>
              </a:spcAft>
              <a:buSzPct val="100000"/>
              <a:buChar char="●"/>
            </a:pPr>
            <a:r>
              <a:rPr lang="en-US" sz="1600" dirty="0">
                <a:solidFill>
                  <a:srgbClr val="1F2933"/>
                </a:solidFill>
              </a:rPr>
              <a:t>10. テストと改善</a:t>
            </a:r>
            <a:endParaRPr lang="en-US" sz="1600" dirty="0"/>
          </a:p>
        </p:txBody>
      </p:sp>
      <p:sp>
        <p:nvSpPr>
          <p:cNvPr id="10" name="card-3"/>
          <p:cNvSpPr/>
          <p:nvPr/>
        </p:nvSpPr>
        <p:spPr>
          <a:xfrm>
            <a:off x="6233008" y="1325880"/>
            <a:ext cx="2567864" cy="4892040"/>
          </a:xfrm>
          <a:prstGeom prst="roundRect">
            <a:avLst>
              <a:gd name="adj" fmla="val 4273"/>
            </a:avLst>
          </a:prstGeom>
          <a:solidFill>
            <a:srgbClr val="E6F0F2"/>
          </a:solidFill>
          <a:ln w="12700">
            <a:solidFill>
              <a:srgbClr val="E6F0F2"/>
            </a:solidFill>
            <a:prstDash val="solid"/>
          </a:ln>
        </p:spPr>
      </p:sp>
      <p:sp>
        <p:nvSpPr>
          <p:cNvPr id="11" name="Text 8"/>
          <p:cNvSpPr txBox="1"/>
          <p:nvPr/>
        </p:nvSpPr>
        <p:spPr>
          <a:xfrm>
            <a:off x="6461608"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第3部 応用編</a:t>
            </a:r>
            <a:endParaRPr lang="en-US" sz="2000" dirty="0"/>
          </a:p>
        </p:txBody>
      </p:sp>
      <p:sp>
        <p:nvSpPr>
          <p:cNvPr id="12" name="Text 9"/>
          <p:cNvSpPr txBox="1"/>
          <p:nvPr/>
        </p:nvSpPr>
        <p:spPr>
          <a:xfrm>
            <a:off x="6461608"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11. 複数環境で使い回す</a:t>
            </a:r>
            <a:endParaRPr lang="en-US" sz="1600" dirty="0"/>
          </a:p>
          <a:p>
            <a:pPr marL="203200" indent="-203200">
              <a:spcAft>
                <a:spcPts val="600"/>
              </a:spcAft>
              <a:buSzPct val="100000"/>
              <a:buChar char="●"/>
            </a:pPr>
            <a:r>
              <a:rPr lang="en-US" sz="1600" dirty="0">
                <a:solidFill>
                  <a:srgbClr val="1F2933"/>
                </a:solidFill>
              </a:rPr>
              <a:t>12. スクリプト付きSkill</a:t>
            </a:r>
            <a:endParaRPr lang="en-US" sz="1600" dirty="0"/>
          </a:p>
          <a:p>
            <a:pPr marL="203200" indent="-203200">
              <a:spcAft>
                <a:spcPts val="600"/>
              </a:spcAft>
              <a:buSzPct val="100000"/>
              <a:buChar char="●"/>
            </a:pPr>
            <a:r>
              <a:rPr lang="en-US" sz="1600" dirty="0">
                <a:solidFill>
                  <a:srgbClr val="1F2933"/>
                </a:solidFill>
              </a:rPr>
              <a:t>13. 安全に使うために</a:t>
            </a:r>
            <a:endParaRPr lang="en-US" sz="1600" dirty="0"/>
          </a:p>
          <a:p>
            <a:pPr marL="203200" indent="-203200">
              <a:spcAft>
                <a:spcPts val="600"/>
              </a:spcAft>
              <a:buSzPct val="100000"/>
              <a:buChar char="●"/>
            </a:pPr>
            <a:r>
              <a:rPr lang="en-US" sz="1600" dirty="0">
                <a:solidFill>
                  <a:srgbClr val="1F2933"/>
                </a:solidFill>
              </a:rPr>
              <a:t>14. よくある失敗と対処</a:t>
            </a:r>
            <a:endParaRPr lang="en-US" sz="1600" dirty="0"/>
          </a:p>
          <a:p>
            <a:pPr marL="203200" indent="-203200">
              <a:spcAft>
                <a:spcPts val="600"/>
              </a:spcAft>
              <a:buSzPct val="100000"/>
              <a:buChar char="●"/>
            </a:pPr>
            <a:r>
              <a:rPr lang="en-US" sz="1600" dirty="0">
                <a:solidFill>
                  <a:srgbClr val="1F2933"/>
                </a:solidFill>
              </a:rPr>
              <a:t>15. 作成チェックリスト</a:t>
            </a:r>
            <a:endParaRPr lang="en-US" sz="1600" dirty="0"/>
          </a:p>
        </p:txBody>
      </p:sp>
      <p:sp>
        <p:nvSpPr>
          <p:cNvPr id="13" name="card-4"/>
          <p:cNvSpPr/>
          <p:nvPr/>
        </p:nvSpPr>
        <p:spPr>
          <a:xfrm>
            <a:off x="9075191" y="1325880"/>
            <a:ext cx="2567864" cy="4892040"/>
          </a:xfrm>
          <a:prstGeom prst="roundRect">
            <a:avLst>
              <a:gd name="adj" fmla="val 4273"/>
            </a:avLst>
          </a:prstGeom>
          <a:solidFill>
            <a:srgbClr val="E6F0F2"/>
          </a:solidFill>
          <a:ln w="12700">
            <a:solidFill>
              <a:srgbClr val="E6F0F2"/>
            </a:solidFill>
            <a:prstDash val="solid"/>
          </a:ln>
        </p:spPr>
      </p:sp>
      <p:sp>
        <p:nvSpPr>
          <p:cNvPr id="14" name="Text 11"/>
          <p:cNvSpPr txBox="1"/>
          <p:nvPr/>
        </p:nvSpPr>
        <p:spPr>
          <a:xfrm>
            <a:off x="9303791"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付録</a:t>
            </a:r>
            <a:endParaRPr lang="en-US" sz="2000" dirty="0"/>
          </a:p>
        </p:txBody>
      </p:sp>
      <p:sp>
        <p:nvSpPr>
          <p:cNvPr id="15" name="Text 12"/>
          <p:cNvSpPr txBox="1"/>
          <p:nvPr/>
        </p:nvSpPr>
        <p:spPr>
          <a:xfrm>
            <a:off x="9303791"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作例（議事録Skill）</a:t>
            </a:r>
            <a:endParaRPr lang="en-US" sz="1600" dirty="0"/>
          </a:p>
          <a:p>
            <a:pPr marL="203200" indent="-203200">
              <a:spcAft>
                <a:spcPts val="600"/>
              </a:spcAft>
              <a:buSzPct val="100000"/>
              <a:buChar char="●"/>
            </a:pPr>
            <a:r>
              <a:rPr lang="en-US" sz="1600" dirty="0">
                <a:solidFill>
                  <a:srgbClr val="1F2933"/>
                </a:solidFill>
              </a:rPr>
              <a:t>用語集</a:t>
            </a:r>
            <a:endParaRPr lang="en-US" sz="1600" dirty="0"/>
          </a:p>
          <a:p>
            <a:pPr marL="203200" indent="-203200">
              <a:spcAft>
                <a:spcPts val="600"/>
              </a:spcAft>
              <a:buSzPct val="100000"/>
              <a:buChar char="●"/>
            </a:pPr>
            <a:r>
              <a:rPr lang="en-US" sz="1600" dirty="0">
                <a:solidFill>
                  <a:srgbClr val="1F2933"/>
                </a:solidFill>
              </a:rPr>
              <a:t>出典と要確認事項</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4415" cy="1097280"/>
          </a:xfrm>
          <a:prstGeom prst="rect">
            <a:avLst/>
          </a:prstGeom>
          <a:noFill/>
          <a:ln/>
        </p:spPr>
        <p:txBody>
          <a:bodyPr wrap="square" lIns="0" tIns="0" rIns="0" bIns="0" rtlCol="0" anchor="b"/>
          <a:lstStyle/>
          <a:p>
            <a:pPr algn="l" indent="0" marL="0">
              <a:buNone/>
            </a:pPr>
            <a:r>
              <a:rPr lang="en-US" sz="4000" b="1" dirty="0">
                <a:solidFill>
                  <a:srgbClr val="FFFFFF"/>
                </a:solidFill>
              </a:rPr>
              <a:t>第1部 入門編</a:t>
            </a:r>
            <a:endParaRPr lang="en-US" sz="4000" dirty="0"/>
          </a:p>
        </p:txBody>
      </p:sp>
      <p:sp>
        <p:nvSpPr>
          <p:cNvPr id="3" name="Text 0"/>
          <p:cNvSpPr/>
          <p:nvPr>
            <p:ph idx="101" type="body" hasCustomPrompt="1"/>
          </p:nvPr>
        </p:nvSpPr>
        <p:spPr>
          <a:xfrm>
            <a:off x="548640" y="2834640"/>
            <a:ext cx="11094415" cy="3108960"/>
          </a:xfrm>
          <a:prstGeom prst="rect">
            <a:avLst/>
          </a:prstGeom>
          <a:noFill/>
          <a:ln/>
        </p:spPr>
        <p:txBody>
          <a:bodyPr wrap="square" lIns="0" tIns="0" rIns="0" bIns="0" rtlCol="0" anchor="t"/>
          <a:lstStyle/>
          <a:p>
            <a:pPr algn="l" indent="0" marL="0">
              <a:spcAft>
                <a:spcPts val="600"/>
              </a:spcAft>
              <a:buNone/>
            </a:pPr>
            <a:r>
              <a:rPr lang="en-US" sz="2200" dirty="0">
                <a:solidFill>
                  <a:srgbClr val="D7E6EA"/>
                </a:solidFill>
              </a:rPr>
              <a:t>コード・ターミナル不要</a:t>
            </a:r>
            <a:endParaRPr lang="en-US" sz="2200" dirty="0"/>
          </a:p>
          <a:p>
            <a:pPr algn="l" indent="0" marL="0">
              <a:spcAft>
                <a:spcPts val="600"/>
              </a:spcAft>
              <a:buNone/>
            </a:pPr>
            <a:r>
              <a:rPr lang="en-US" sz="2200" dirty="0">
                <a:solidFill>
                  <a:srgbClr val="D7E6EA"/>
                </a:solidFill>
              </a:rPr>
              <a:t>1. チャットとエージェントの違い</a:t>
            </a:r>
            <a:endParaRPr lang="en-US" sz="2200" dirty="0"/>
          </a:p>
          <a:p>
            <a:pPr algn="l" indent="0" marL="0">
              <a:spcAft>
                <a:spcPts val="600"/>
              </a:spcAft>
              <a:buNone/>
            </a:pPr>
            <a:r>
              <a:rPr lang="en-US" sz="2200" dirty="0">
                <a:solidFill>
                  <a:srgbClr val="D7E6EA"/>
                </a:solidFill>
              </a:rPr>
              <a:t>2. Skillとは</a:t>
            </a:r>
            <a:endParaRPr lang="en-US" sz="2200" dirty="0"/>
          </a:p>
          <a:p>
            <a:pPr algn="l" indent="0" marL="0">
              <a:spcAft>
                <a:spcPts val="600"/>
              </a:spcAft>
              <a:buNone/>
            </a:pPr>
            <a:r>
              <a:rPr lang="en-US" sz="2200" dirty="0">
                <a:solidFill>
                  <a:srgbClr val="D7E6EA"/>
                </a:solidFill>
              </a:rPr>
              <a:t>3. Skillの中身をのぞいてみる</a:t>
            </a:r>
            <a:endParaRPr lang="en-US" sz="2200" dirty="0"/>
          </a:p>
          <a:p>
            <a:pPr algn="l" indent="0" marL="0">
              <a:spcAft>
                <a:spcPts val="600"/>
              </a:spcAft>
              <a:buNone/>
            </a:pPr>
            <a:r>
              <a:rPr lang="en-US" sz="2200" dirty="0">
                <a:solidFill>
                  <a:srgbClr val="D7E6EA"/>
                </a:solidFill>
              </a:rPr>
              <a:t>4. はじめてのSkillを作る</a:t>
            </a:r>
            <a:endParaRPr lang="en-US" sz="2200" dirty="0"/>
          </a:p>
          <a:p>
            <a:pPr algn="l" indent="0" marL="0">
              <a:spcAft>
                <a:spcPts val="600"/>
              </a:spcAft>
              <a:buNone/>
            </a:pPr>
            <a:r>
              <a:rPr lang="en-US" sz="2200" dirty="0">
                <a:solidFill>
                  <a:srgbClr val="D7E6EA"/>
                </a:solidFill>
              </a:rPr>
              <a:t>5. カスタム指示・プロジェクト・GPTsとの違い</a:t>
            </a:r>
            <a:endParaRPr lang="en-US"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1. 「チャット」と「エージェント」の違い</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94560"/>
                <a:gridCol w="4434840"/>
                <a:gridCol w="4462272"/>
              </a:tblGrid>
              <a:tr h="457200">
                <a:tc>
                  <a:txBody>
                    <a:bodyPr/>
                    <a:lstStyle/>
                    <a:p>
                      <a:pPr indent="0" marL="0">
                        <a:buNone/>
                      </a:pP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600" b="1" dirty="0">
                          <a:solidFill>
                            <a:srgbClr val="0F4C5C"/>
                          </a:solidFill>
                        </a:rPr>
                        <a:t>チャット</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600" b="1" dirty="0">
                          <a:solidFill>
                            <a:srgbClr val="0F4C5C"/>
                          </a:solidFill>
                        </a:rPr>
                        <a:t>エージェント</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600" dirty="0">
                          <a:solidFill>
                            <a:srgbClr val="1F2933"/>
                          </a:solidFill>
                        </a:rPr>
                        <a:t>AIがすること</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質問に文章で答える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b="1" dirty="0">
                          <a:solidFill>
                            <a:srgbClr val="1F2933"/>
                          </a:solidFill>
                        </a:rPr>
                        <a:t>道具を使って作業を進め、成果物を作る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F2933"/>
                          </a:solidFill>
                        </a:rPr>
                        <a:t>人がすること</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答えを読んで、自分で作業する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目的を伝え、結果を確認する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600" dirty="0">
                          <a:solidFill>
                            <a:srgbClr val="1F2933"/>
                          </a:solidFill>
                        </a:rPr>
                        <a:t>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「議事録の書き方を教えて」</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「このメモから議事録ファイルを作って」</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20624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420624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エージェント ＝ 道具（ファイル操作・Web検索・プログラム実行）を使い、</a:t>
            </a:r>
            <a:r>
              <a:rPr lang="en-US" sz="1800" b="1" dirty="0">
                <a:solidFill>
                  <a:srgbClr val="E36414"/>
                </a:solidFill>
              </a:rPr>
              <a:t>目的を達成するまで自分で手順を進めるAI</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このガイドで扱う5つの環境</a:t>
            </a:r>
            <a:endParaRPr lang="en-US" sz="3000" dirty="0"/>
          </a:p>
        </p:txBody>
      </p:sp>
      <p:sp>
        <p:nvSpPr>
          <p:cNvPr id="4" name="card-1"/>
          <p:cNvSpPr/>
          <p:nvPr/>
        </p:nvSpPr>
        <p:spPr>
          <a:xfrm>
            <a:off x="548640" y="1325880"/>
            <a:ext cx="1999427" cy="2377440"/>
          </a:xfrm>
          <a:prstGeom prst="roundRect">
            <a:avLst>
              <a:gd name="adj" fmla="val 5488"/>
            </a:avLst>
          </a:prstGeom>
          <a:solidFill>
            <a:srgbClr val="E6F0F2"/>
          </a:solidFill>
          <a:ln w="12700">
            <a:solidFill>
              <a:srgbClr val="E6F0F2"/>
            </a:solidFill>
            <a:prstDash val="solid"/>
          </a:ln>
        </p:spPr>
      </p:sp>
      <p:sp>
        <p:nvSpPr>
          <p:cNvPr id="5" name="Text 2"/>
          <p:cNvSpPr txBox="1"/>
          <p:nvPr/>
        </p:nvSpPr>
        <p:spPr>
          <a:xfrm>
            <a:off x="777240" y="1508760"/>
            <a:ext cx="1542227" cy="457200"/>
          </a:xfrm>
          <a:prstGeom prst="rect">
            <a:avLst/>
          </a:prstGeom>
          <a:noFill/>
          <a:ln/>
        </p:spPr>
        <p:txBody>
          <a:bodyPr wrap="square" lIns="0" tIns="0" rIns="0" bIns="0" rtlCol="0" anchor="ctr"/>
          <a:lstStyle/>
          <a:p>
            <a:pPr indent="0" marL="0">
              <a:buNone/>
            </a:pPr>
            <a:r>
              <a:rPr lang="en-US" sz="1700" b="1" dirty="0">
                <a:solidFill>
                  <a:srgbClr val="0F4C5C"/>
                </a:solidFill>
              </a:rPr>
              <a:t>Claude.ai</a:t>
            </a:r>
            <a:endParaRPr lang="en-US" sz="1700" dirty="0"/>
          </a:p>
        </p:txBody>
      </p:sp>
      <p:sp>
        <p:nvSpPr>
          <p:cNvPr id="6" name="Text 3"/>
          <p:cNvSpPr txBox="1"/>
          <p:nvPr/>
        </p:nvSpPr>
        <p:spPr>
          <a:xfrm>
            <a:off x="777240" y="2103120"/>
            <a:ext cx="1542227" cy="146304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Anthropic社のAI「Claude」をブラウザやアプリで使うサービス</a:t>
            </a:r>
            <a:endParaRPr lang="en-US" sz="1600" dirty="0"/>
          </a:p>
        </p:txBody>
      </p:sp>
      <p:sp>
        <p:nvSpPr>
          <p:cNvPr id="7" name="card-2"/>
          <p:cNvSpPr/>
          <p:nvPr/>
        </p:nvSpPr>
        <p:spPr>
          <a:xfrm>
            <a:off x="2822387" y="1325880"/>
            <a:ext cx="1999427" cy="2377440"/>
          </a:xfrm>
          <a:prstGeom prst="roundRect">
            <a:avLst>
              <a:gd name="adj" fmla="val 5488"/>
            </a:avLst>
          </a:prstGeom>
          <a:solidFill>
            <a:srgbClr val="E6F0F2"/>
          </a:solidFill>
          <a:ln w="12700">
            <a:solidFill>
              <a:srgbClr val="E6F0F2"/>
            </a:solidFill>
            <a:prstDash val="solid"/>
          </a:ln>
        </p:spPr>
      </p:sp>
      <p:sp>
        <p:nvSpPr>
          <p:cNvPr id="8" name="Text 5"/>
          <p:cNvSpPr txBox="1"/>
          <p:nvPr/>
        </p:nvSpPr>
        <p:spPr>
          <a:xfrm>
            <a:off x="3050987" y="1508760"/>
            <a:ext cx="1542227" cy="457200"/>
          </a:xfrm>
          <a:prstGeom prst="rect">
            <a:avLst/>
          </a:prstGeom>
          <a:noFill/>
          <a:ln/>
        </p:spPr>
        <p:txBody>
          <a:bodyPr wrap="square" lIns="0" tIns="0" rIns="0" bIns="0" rtlCol="0" anchor="ctr"/>
          <a:lstStyle/>
          <a:p>
            <a:pPr indent="0" marL="0">
              <a:buNone/>
            </a:pPr>
            <a:r>
              <a:rPr lang="en-US" sz="1700" b="1" dirty="0">
                <a:solidFill>
                  <a:srgbClr val="0F4C5C"/>
                </a:solidFill>
              </a:rPr>
              <a:t>ChatGPT</a:t>
            </a:r>
            <a:endParaRPr lang="en-US" sz="1700" dirty="0"/>
          </a:p>
        </p:txBody>
      </p:sp>
      <p:sp>
        <p:nvSpPr>
          <p:cNvPr id="9" name="Text 6"/>
          <p:cNvSpPr txBox="1"/>
          <p:nvPr/>
        </p:nvSpPr>
        <p:spPr>
          <a:xfrm>
            <a:off x="3050987" y="2103120"/>
            <a:ext cx="1542227" cy="146304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OpenAI社のAIサービス</a:t>
            </a:r>
            <a:endParaRPr lang="en-US" sz="1600" dirty="0"/>
          </a:p>
        </p:txBody>
      </p:sp>
      <p:sp>
        <p:nvSpPr>
          <p:cNvPr id="10" name="card-3"/>
          <p:cNvSpPr/>
          <p:nvPr/>
        </p:nvSpPr>
        <p:spPr>
          <a:xfrm>
            <a:off x="5096134" y="1325880"/>
            <a:ext cx="1999427" cy="2377440"/>
          </a:xfrm>
          <a:prstGeom prst="roundRect">
            <a:avLst>
              <a:gd name="adj" fmla="val 5488"/>
            </a:avLst>
          </a:prstGeom>
          <a:solidFill>
            <a:srgbClr val="E6F0F2"/>
          </a:solidFill>
          <a:ln w="12700">
            <a:solidFill>
              <a:srgbClr val="E6F0F2"/>
            </a:solidFill>
            <a:prstDash val="solid"/>
          </a:ln>
        </p:spPr>
      </p:sp>
      <p:sp>
        <p:nvSpPr>
          <p:cNvPr id="11" name="Text 8"/>
          <p:cNvSpPr txBox="1"/>
          <p:nvPr/>
        </p:nvSpPr>
        <p:spPr>
          <a:xfrm>
            <a:off x="5324734" y="1508760"/>
            <a:ext cx="1542227" cy="457200"/>
          </a:xfrm>
          <a:prstGeom prst="rect">
            <a:avLst/>
          </a:prstGeom>
          <a:noFill/>
          <a:ln/>
        </p:spPr>
        <p:txBody>
          <a:bodyPr wrap="square" lIns="0" tIns="0" rIns="0" bIns="0" rtlCol="0" anchor="ctr"/>
          <a:lstStyle/>
          <a:p>
            <a:pPr indent="0" marL="0">
              <a:buNone/>
            </a:pPr>
            <a:r>
              <a:rPr lang="en-US" sz="1700" b="1" dirty="0">
                <a:solidFill>
                  <a:srgbClr val="0F4C5C"/>
                </a:solidFill>
              </a:rPr>
              <a:t>Claude Code</a:t>
            </a:r>
            <a:endParaRPr lang="en-US" sz="1700" dirty="0"/>
          </a:p>
        </p:txBody>
      </p:sp>
      <p:sp>
        <p:nvSpPr>
          <p:cNvPr id="12" name="Text 9"/>
          <p:cNvSpPr txBox="1"/>
          <p:nvPr/>
        </p:nvSpPr>
        <p:spPr>
          <a:xfrm>
            <a:off x="5324734" y="2103120"/>
            <a:ext cx="1542227" cy="146304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Claudeをパソコン上で開発作業に使うためのツール</a:t>
            </a:r>
            <a:endParaRPr lang="en-US" sz="1600" dirty="0"/>
          </a:p>
        </p:txBody>
      </p:sp>
      <p:sp>
        <p:nvSpPr>
          <p:cNvPr id="13" name="card-4"/>
          <p:cNvSpPr/>
          <p:nvPr/>
        </p:nvSpPr>
        <p:spPr>
          <a:xfrm>
            <a:off x="7369881" y="1325880"/>
            <a:ext cx="1999427" cy="2377440"/>
          </a:xfrm>
          <a:prstGeom prst="roundRect">
            <a:avLst>
              <a:gd name="adj" fmla="val 5488"/>
            </a:avLst>
          </a:prstGeom>
          <a:solidFill>
            <a:srgbClr val="E6F0F2"/>
          </a:solidFill>
          <a:ln w="12700">
            <a:solidFill>
              <a:srgbClr val="E6F0F2"/>
            </a:solidFill>
            <a:prstDash val="solid"/>
          </a:ln>
        </p:spPr>
      </p:sp>
      <p:sp>
        <p:nvSpPr>
          <p:cNvPr id="14" name="Text 11"/>
          <p:cNvSpPr txBox="1"/>
          <p:nvPr/>
        </p:nvSpPr>
        <p:spPr>
          <a:xfrm>
            <a:off x="7598481" y="1508760"/>
            <a:ext cx="1542227" cy="457200"/>
          </a:xfrm>
          <a:prstGeom prst="rect">
            <a:avLst/>
          </a:prstGeom>
          <a:noFill/>
          <a:ln/>
        </p:spPr>
        <p:txBody>
          <a:bodyPr wrap="square" lIns="0" tIns="0" rIns="0" bIns="0" rtlCol="0" anchor="ctr"/>
          <a:lstStyle/>
          <a:p>
            <a:pPr indent="0" marL="0">
              <a:buNone/>
            </a:pPr>
            <a:r>
              <a:rPr lang="en-US" sz="1700" b="1" dirty="0">
                <a:solidFill>
                  <a:srgbClr val="0F4C5C"/>
                </a:solidFill>
              </a:rPr>
              <a:t>OpenAI Codex</a:t>
            </a:r>
            <a:endParaRPr lang="en-US" sz="1700" dirty="0"/>
          </a:p>
        </p:txBody>
      </p:sp>
      <p:sp>
        <p:nvSpPr>
          <p:cNvPr id="15" name="Text 12"/>
          <p:cNvSpPr txBox="1"/>
          <p:nvPr/>
        </p:nvSpPr>
        <p:spPr>
          <a:xfrm>
            <a:off x="7598481" y="2103120"/>
            <a:ext cx="1542227" cy="146304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OpenAI社の開発作業向けエージェント</a:t>
            </a:r>
            <a:endParaRPr lang="en-US" sz="1600" dirty="0"/>
          </a:p>
        </p:txBody>
      </p:sp>
      <p:sp>
        <p:nvSpPr>
          <p:cNvPr id="16" name="card-5"/>
          <p:cNvSpPr/>
          <p:nvPr/>
        </p:nvSpPr>
        <p:spPr>
          <a:xfrm>
            <a:off x="9643628" y="1325880"/>
            <a:ext cx="1999427" cy="2377440"/>
          </a:xfrm>
          <a:prstGeom prst="roundRect">
            <a:avLst>
              <a:gd name="adj" fmla="val 5488"/>
            </a:avLst>
          </a:prstGeom>
          <a:solidFill>
            <a:srgbClr val="E6F0F2"/>
          </a:solidFill>
          <a:ln w="12700">
            <a:solidFill>
              <a:srgbClr val="E6F0F2"/>
            </a:solidFill>
            <a:prstDash val="solid"/>
          </a:ln>
        </p:spPr>
      </p:sp>
      <p:sp>
        <p:nvSpPr>
          <p:cNvPr id="17" name="Text 14"/>
          <p:cNvSpPr txBox="1"/>
          <p:nvPr/>
        </p:nvSpPr>
        <p:spPr>
          <a:xfrm>
            <a:off x="9872228" y="1508760"/>
            <a:ext cx="1542227" cy="457200"/>
          </a:xfrm>
          <a:prstGeom prst="rect">
            <a:avLst/>
          </a:prstGeom>
          <a:noFill/>
          <a:ln/>
        </p:spPr>
        <p:txBody>
          <a:bodyPr wrap="square" lIns="0" tIns="0" rIns="0" bIns="0" rtlCol="0" anchor="ctr"/>
          <a:lstStyle/>
          <a:p>
            <a:pPr indent="0" marL="0">
              <a:buNone/>
            </a:pPr>
            <a:r>
              <a:rPr lang="en-US" sz="1700" b="1" dirty="0">
                <a:solidFill>
                  <a:srgbClr val="0F4C5C"/>
                </a:solidFill>
              </a:rPr>
              <a:t>GitHub Copilot</a:t>
            </a:r>
            <a:endParaRPr lang="en-US" sz="1700" dirty="0"/>
          </a:p>
        </p:txBody>
      </p:sp>
      <p:sp>
        <p:nvSpPr>
          <p:cNvPr id="18" name="Text 15"/>
          <p:cNvSpPr txBox="1"/>
          <p:nvPr/>
        </p:nvSpPr>
        <p:spPr>
          <a:xfrm>
            <a:off x="9872228" y="2103120"/>
            <a:ext cx="1542227" cy="146304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GitHub社（Microsoft傘下）の開発支援AI</a:t>
            </a:r>
            <a:endParaRPr lang="en-US" sz="1600" dirty="0"/>
          </a:p>
        </p:txBody>
      </p:sp>
      <p:sp>
        <p:nvSpPr>
          <p:cNvPr id="19" name="Text 16"/>
          <p:cNvSpPr txBox="1"/>
          <p:nvPr/>
        </p:nvSpPr>
        <p:spPr>
          <a:xfrm>
            <a:off x="548640" y="3931920"/>
            <a:ext cx="4480560" cy="365760"/>
          </a:xfrm>
          <a:prstGeom prst="rect">
            <a:avLst/>
          </a:prstGeom>
          <a:noFill/>
          <a:ln/>
        </p:spPr>
        <p:txBody>
          <a:bodyPr wrap="square" lIns="0" tIns="0" rIns="0" bIns="0" rtlCol="0" anchor="t"/>
          <a:lstStyle/>
          <a:p>
            <a:pPr indent="0" marL="0">
              <a:buNone/>
            </a:pPr>
            <a:r>
              <a:rPr lang="en-US" sz="1800" b="1" dirty="0">
                <a:solidFill>
                  <a:srgbClr val="0F4C5C"/>
                </a:solidFill>
              </a:rPr>
              <a:t>画面で使う</a:t>
            </a:r>
            <a:endParaRPr lang="en-US" sz="1800" dirty="0"/>
          </a:p>
        </p:txBody>
      </p:sp>
      <p:sp>
        <p:nvSpPr>
          <p:cNvPr id="20" name="Text 17"/>
          <p:cNvSpPr txBox="1"/>
          <p:nvPr/>
        </p:nvSpPr>
        <p:spPr>
          <a:xfrm>
            <a:off x="5166360" y="3931920"/>
            <a:ext cx="6400800" cy="365760"/>
          </a:xfrm>
          <a:prstGeom prst="rect">
            <a:avLst/>
          </a:prstGeom>
          <a:noFill/>
          <a:ln/>
        </p:spPr>
        <p:txBody>
          <a:bodyPr wrap="square" lIns="0" tIns="0" rIns="0" bIns="0" rtlCol="0" anchor="t"/>
          <a:lstStyle/>
          <a:p>
            <a:pPr indent="0" marL="0">
              <a:buNone/>
            </a:pPr>
            <a:r>
              <a:rPr lang="en-US" sz="1800" b="1" dirty="0">
                <a:solidFill>
                  <a:srgbClr val="0F4C5C"/>
                </a:solidFill>
              </a:rPr>
              <a:t>開発ツールとして使う</a:t>
            </a:r>
            <a:endParaRPr lang="en-US" sz="1800" dirty="0"/>
          </a:p>
        </p:txBody>
      </p:sp>
      <p:sp>
        <p:nvSpPr>
          <p:cNvPr id="21" name="Text 18"/>
          <p:cNvSpPr txBox="1"/>
          <p:nvPr/>
        </p:nvSpPr>
        <p:spPr>
          <a:xfrm>
            <a:off x="548640" y="4343400"/>
            <a:ext cx="4480560" cy="914400"/>
          </a:xfrm>
          <a:prstGeom prst="rect">
            <a:avLst/>
          </a:prstGeom>
          <a:noFill/>
          <a:ln/>
        </p:spPr>
        <p:txBody>
          <a:bodyPr wrap="square" lIns="0" tIns="0" rIns="0" bIns="0" rtlCol="0" anchor="t"/>
          <a:lstStyle/>
          <a:p>
            <a:pPr marL="254000" indent="-254000">
              <a:spcAft>
                <a:spcPts val="1000"/>
              </a:spcAft>
              <a:buSzPct val="100000"/>
              <a:buChar char="●"/>
            </a:pPr>
            <a:r>
              <a:rPr lang="en-US" sz="1800" dirty="0">
                <a:solidFill>
                  <a:srgbClr val="1F2933"/>
                </a:solidFill>
              </a:rPr>
              <a:t>メニューからSkillを登録・アップロード</a:t>
            </a:r>
            <a:endParaRPr lang="en-US" sz="1800" dirty="0"/>
          </a:p>
        </p:txBody>
      </p:sp>
      <p:sp>
        <p:nvSpPr>
          <p:cNvPr id="22" name="Text 19"/>
          <p:cNvSpPr txBox="1"/>
          <p:nvPr/>
        </p:nvSpPr>
        <p:spPr>
          <a:xfrm>
            <a:off x="5166360" y="4343400"/>
            <a:ext cx="6400800" cy="914400"/>
          </a:xfrm>
          <a:prstGeom prst="rect">
            <a:avLst/>
          </a:prstGeom>
          <a:noFill/>
          <a:ln/>
        </p:spPr>
        <p:txBody>
          <a:bodyPr wrap="square" lIns="0" tIns="0" rIns="0" bIns="0" rtlCol="0" anchor="t"/>
          <a:lstStyle/>
          <a:p>
            <a:pPr marL="254000" indent="-254000">
              <a:spcAft>
                <a:spcPts val="1000"/>
              </a:spcAft>
              <a:buSzPct val="100000"/>
              <a:buChar char="●"/>
            </a:pPr>
            <a:r>
              <a:rPr lang="en-US" sz="1800" dirty="0">
                <a:solidFill>
                  <a:srgbClr val="1F2933"/>
                </a:solidFill>
              </a:rPr>
              <a:t>決まったフォルダにSkillを置く</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2. Skillは「AIに渡す業務マニュアル」</a:t>
            </a:r>
            <a:endParaRPr lang="en-US" sz="3000" dirty="0"/>
          </a:p>
        </p:txBody>
      </p:sp>
      <p:sp>
        <p:nvSpPr>
          <p:cNvPr id="4" name="card-1"/>
          <p:cNvSpPr/>
          <p:nvPr/>
        </p:nvSpPr>
        <p:spPr>
          <a:xfrm>
            <a:off x="548640" y="1325880"/>
            <a:ext cx="5410048" cy="3886200"/>
          </a:xfrm>
          <a:prstGeom prst="roundRect">
            <a:avLst>
              <a:gd name="adj" fmla="val 2824"/>
            </a:avLst>
          </a:prstGeom>
          <a:solidFill>
            <a:srgbClr val="E6F0F2"/>
          </a:solidFill>
          <a:ln w="12700">
            <a:solidFill>
              <a:srgbClr val="E6F0F2"/>
            </a:solidFill>
            <a:prstDash val="solid"/>
          </a:ln>
        </p:spPr>
      </p:sp>
      <p:sp>
        <p:nvSpPr>
          <p:cNvPr id="5" name="Text 2"/>
          <p:cNvSpPr txBox="1"/>
          <p:nvPr/>
        </p:nvSpPr>
        <p:spPr>
          <a:xfrm>
            <a:off x="777240"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Skillがないとき</a:t>
            </a:r>
            <a:endParaRPr lang="en-US" sz="2000" dirty="0"/>
          </a:p>
        </p:txBody>
      </p:sp>
      <p:sp>
        <p:nvSpPr>
          <p:cNvPr id="6" name="Text 3"/>
          <p:cNvSpPr txBox="1"/>
          <p:nvPr/>
        </p:nvSpPr>
        <p:spPr>
          <a:xfrm>
            <a:off x="777240" y="2103120"/>
            <a:ext cx="495284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頼むたびに毎回説明する</a:t>
            </a:r>
            <a:endParaRPr lang="en-US" sz="1600" dirty="0"/>
          </a:p>
          <a:p>
            <a:pPr marL="203200" indent="-203200">
              <a:spcAft>
                <a:spcPts val="600"/>
              </a:spcAft>
              <a:buSzPct val="100000"/>
              <a:buChar char="●"/>
            </a:pPr>
            <a:r>
              <a:rPr lang="en-US" sz="1600" dirty="0">
                <a:solidFill>
                  <a:srgbClr val="1F2933"/>
                </a:solidFill>
              </a:rPr>
              <a:t>「決定事項と宿題を分けて。宿題には担当と期限を必ず。書式はいつもの形で……」</a:t>
            </a:r>
            <a:endParaRPr lang="en-US" sz="1600" dirty="0"/>
          </a:p>
          <a:p>
            <a:pPr marL="203200" indent="-203200">
              <a:spcAft>
                <a:spcPts val="600"/>
              </a:spcAft>
              <a:buSzPct val="100000"/>
              <a:buChar char="●"/>
            </a:pPr>
            <a:r>
              <a:rPr lang="en-US" sz="1600" dirty="0">
                <a:solidFill>
                  <a:srgbClr val="1F2933"/>
                </a:solidFill>
              </a:rPr>
              <a:t>説明が漏れると出来がばらつく</a:t>
            </a:r>
            <a:endParaRPr lang="en-US" sz="1600" dirty="0"/>
          </a:p>
        </p:txBody>
      </p:sp>
      <p:sp>
        <p:nvSpPr>
          <p:cNvPr id="7" name="card-2"/>
          <p:cNvSpPr/>
          <p:nvPr/>
        </p:nvSpPr>
        <p:spPr>
          <a:xfrm>
            <a:off x="6233008" y="1325880"/>
            <a:ext cx="5410048" cy="3886200"/>
          </a:xfrm>
          <a:prstGeom prst="roundRect">
            <a:avLst>
              <a:gd name="adj" fmla="val 2824"/>
            </a:avLst>
          </a:prstGeom>
          <a:solidFill>
            <a:srgbClr val="FFF1E7"/>
          </a:solidFill>
          <a:ln w="12700">
            <a:solidFill>
              <a:srgbClr val="E36414"/>
            </a:solidFill>
            <a:prstDash val="solid"/>
          </a:ln>
        </p:spPr>
      </p:sp>
      <p:sp>
        <p:nvSpPr>
          <p:cNvPr id="8" name="Text 5"/>
          <p:cNvSpPr txBox="1"/>
          <p:nvPr/>
        </p:nvSpPr>
        <p:spPr>
          <a:xfrm>
            <a:off x="6461608"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Skillがあるとき</a:t>
            </a:r>
            <a:endParaRPr lang="en-US" sz="2000" dirty="0"/>
          </a:p>
        </p:txBody>
      </p:sp>
      <p:sp>
        <p:nvSpPr>
          <p:cNvPr id="9" name="Text 6"/>
          <p:cNvSpPr txBox="1"/>
          <p:nvPr/>
        </p:nvSpPr>
        <p:spPr>
          <a:xfrm>
            <a:off x="6461608" y="2103120"/>
            <a:ext cx="495284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「議事録にして」と言うだけ</a:t>
            </a:r>
            <a:endParaRPr lang="en-US" sz="1600" dirty="0"/>
          </a:p>
          <a:p>
            <a:pPr marL="203200" indent="-203200">
              <a:spcAft>
                <a:spcPts val="600"/>
              </a:spcAft>
              <a:buSzPct val="100000"/>
              <a:buChar char="●"/>
            </a:pPr>
            <a:r>
              <a:rPr lang="en-US" sz="1600" dirty="0">
                <a:solidFill>
                  <a:srgbClr val="1F2933"/>
                </a:solidFill>
              </a:rPr>
              <a:t>AIが自分からマニュアル（Skill）を開く</a:t>
            </a:r>
            <a:endParaRPr lang="en-US" sz="1600" dirty="0"/>
          </a:p>
          <a:p>
            <a:pPr marL="203200" indent="-203200">
              <a:spcAft>
                <a:spcPts val="600"/>
              </a:spcAft>
              <a:buSzPct val="100000"/>
              <a:buChar char="●"/>
            </a:pPr>
            <a:r>
              <a:rPr lang="en-US" sz="1600" dirty="0">
                <a:solidFill>
                  <a:srgbClr val="1F2933"/>
                </a:solidFill>
              </a:rPr>
              <a:t>いつも同じ手順・同じ書式で仕上がる</a:t>
            </a:r>
            <a:endParaRPr lang="en-US" sz="1600" dirty="0"/>
          </a:p>
        </p:txBody>
      </p:sp>
      <p:sp>
        <p:nvSpPr>
          <p:cNvPr id="10" name="Shape 7"/>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11" name="Text 8"/>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新人に業務マニュアルを渡すように、</a:t>
            </a:r>
            <a:r>
              <a:rPr lang="en-US" sz="1800" b="1" dirty="0">
                <a:solidFill>
                  <a:srgbClr val="E36414"/>
                </a:solidFill>
              </a:rPr>
              <a:t>AIにはSkillを渡す</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Skillが役立つ場面</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8165592"/>
              </a:tblGrid>
              <a:tr h="457200">
                <a:tc>
                  <a:txBody>
                    <a:bodyPr/>
                    <a:lstStyle/>
                    <a:p>
                      <a:pPr indent="0" marL="0">
                        <a:buNone/>
                      </a:pPr>
                      <a:r>
                        <a:rPr lang="en-US" sz="1600" b="1" dirty="0">
                          <a:solidFill>
                            <a:srgbClr val="0F4C5C"/>
                          </a:solidFill>
                        </a:rPr>
                        <a:t>場面</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600" b="1" dirty="0">
                          <a:solidFill>
                            <a:srgbClr val="0F4C5C"/>
                          </a:solidFill>
                        </a:rPr>
                        <a:t>Skillにしておくこと</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600" dirty="0">
                          <a:solidFill>
                            <a:srgbClr val="1F2933"/>
                          </a:solidFill>
                        </a:rPr>
                        <a:t>議事録の作成</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決まった見出し、宿題の書き方、確認の手順</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F2933"/>
                          </a:solidFill>
                        </a:rPr>
                        <a:t>定型メール</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社内の言い回し、署名、宛先ごとの敬語の使い分け</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600" dirty="0">
                          <a:solidFill>
                            <a:srgbClr val="1F2933"/>
                          </a:solidFill>
                        </a:rPr>
                        <a:t>報告書のチェック</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確認項目の一覧、よくあるミス、指摘の書き方</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F2933"/>
                          </a:solidFill>
                        </a:rPr>
                        <a:t>資料作成</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会社のフォント・色・ロゴの使い方</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600" dirty="0">
                          <a:solidFill>
                            <a:srgbClr val="1F2933"/>
                          </a:solidFill>
                        </a:rPr>
                        <a:t>データ集計</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列の意味、除外すべきデータ、計算方法</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目安: </a:t>
            </a:r>
            <a:r>
              <a:rPr lang="en-US" sz="1800" b="1" dirty="0">
                <a:solidFill>
                  <a:srgbClr val="E36414"/>
                </a:solidFill>
              </a:rPr>
              <a:t>同じ説明をAIに3回以上したことがある作業</a:t>
            </a:r>
            <a:r>
              <a:rPr lang="en-US" sz="1800" dirty="0">
                <a:solidFill>
                  <a:srgbClr val="1F2933"/>
                </a:solidFill>
              </a:rPr>
              <a:t>はSkillにする価値がある（本ガイドの推奨）</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必要なときだけ読まれる・どのAIでも同じ形式</a:t>
            </a:r>
            <a:endParaRPr lang="en-US" sz="3000" dirty="0"/>
          </a:p>
        </p:txBody>
      </p:sp>
      <p:sp>
        <p:nvSpPr>
          <p:cNvPr id="4" name="card-1"/>
          <p:cNvSpPr/>
          <p:nvPr/>
        </p:nvSpPr>
        <p:spPr>
          <a:xfrm>
            <a:off x="548640" y="1325880"/>
            <a:ext cx="5410048" cy="4892040"/>
          </a:xfrm>
          <a:prstGeom prst="roundRect">
            <a:avLst>
              <a:gd name="adj" fmla="val 2243"/>
            </a:avLst>
          </a:prstGeom>
          <a:solidFill>
            <a:srgbClr val="E6F0F2"/>
          </a:solidFill>
          <a:ln w="12700">
            <a:solidFill>
              <a:srgbClr val="E6F0F2"/>
            </a:solidFill>
            <a:prstDash val="solid"/>
          </a:ln>
        </p:spPr>
      </p:sp>
      <p:sp>
        <p:nvSpPr>
          <p:cNvPr id="5" name="Text 2"/>
          <p:cNvSpPr txBox="1"/>
          <p:nvPr/>
        </p:nvSpPr>
        <p:spPr>
          <a:xfrm>
            <a:off x="777240"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本棚の背表紙だけ見ておく</a:t>
            </a:r>
            <a:endParaRPr lang="en-US" sz="2000" dirty="0"/>
          </a:p>
        </p:txBody>
      </p:sp>
      <p:sp>
        <p:nvSpPr>
          <p:cNvPr id="6" name="Text 3"/>
          <p:cNvSpPr txBox="1"/>
          <p:nvPr/>
        </p:nvSpPr>
        <p:spPr>
          <a:xfrm>
            <a:off x="777240" y="2103120"/>
            <a:ext cx="4952848"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AIが普段覚えているのは各Skillの</a:t>
            </a:r>
            <a:r>
              <a:rPr lang="en-US" sz="1600" b="1" dirty="0">
                <a:solidFill>
                  <a:srgbClr val="0F4C5C"/>
                </a:solidFill>
              </a:rPr>
              <a:t>名前</a:t>
            </a:r>
            <a:r>
              <a:rPr lang="en-US" sz="1600" dirty="0">
                <a:solidFill>
                  <a:srgbClr val="1F2933"/>
                </a:solidFill>
              </a:rPr>
              <a:t>と</a:t>
            </a:r>
            <a:r>
              <a:rPr lang="en-US" sz="1600" b="1" dirty="0">
                <a:solidFill>
                  <a:srgbClr val="0F4C5C"/>
                </a:solidFill>
              </a:rPr>
              <a:t>いつ使うか</a:t>
            </a:r>
            <a:r>
              <a:rPr lang="en-US" sz="1600" dirty="0">
                <a:solidFill>
                  <a:srgbClr val="1F2933"/>
                </a:solidFill>
              </a:rPr>
              <a:t>だけ</a:t>
            </a:r>
            <a:endParaRPr lang="en-US" sz="1600" dirty="0"/>
          </a:p>
          <a:p>
            <a:pPr marL="203200" indent="-203200">
              <a:spcAft>
                <a:spcPts val="600"/>
              </a:spcAft>
              <a:buSzPct val="100000"/>
              <a:buChar char="●"/>
            </a:pPr>
            <a:r>
              <a:rPr lang="en-US" sz="1600" dirty="0">
                <a:solidFill>
                  <a:srgbClr val="1F2933"/>
                </a:solidFill>
              </a:rPr>
              <a:t>頼みごとに合うSkillがあったときだけ中身を読む</a:t>
            </a:r>
            <a:endParaRPr lang="en-US" sz="1600" dirty="0"/>
          </a:p>
          <a:p>
            <a:pPr marL="203200" indent="-203200">
              <a:spcAft>
                <a:spcPts val="600"/>
              </a:spcAft>
              <a:buSzPct val="100000"/>
              <a:buChar char="●"/>
            </a:pPr>
            <a:r>
              <a:rPr lang="en-US" sz="1600" dirty="0">
                <a:solidFill>
                  <a:srgbClr val="1F2933"/>
                </a:solidFill>
              </a:rPr>
              <a:t>たくさん登録しても重くなりにくい</a:t>
            </a:r>
            <a:endParaRPr lang="en-US" sz="1600" dirty="0"/>
          </a:p>
        </p:txBody>
      </p:sp>
      <p:sp>
        <p:nvSpPr>
          <p:cNvPr id="7" name="card-2"/>
          <p:cNvSpPr/>
          <p:nvPr/>
        </p:nvSpPr>
        <p:spPr>
          <a:xfrm>
            <a:off x="6233008" y="1325880"/>
            <a:ext cx="5410048" cy="4892040"/>
          </a:xfrm>
          <a:prstGeom prst="roundRect">
            <a:avLst>
              <a:gd name="adj" fmla="val 2243"/>
            </a:avLst>
          </a:prstGeom>
          <a:solidFill>
            <a:srgbClr val="E6F0F2"/>
          </a:solidFill>
          <a:ln w="12700">
            <a:solidFill>
              <a:srgbClr val="E6F0F2"/>
            </a:solidFill>
            <a:prstDash val="solid"/>
          </a:ln>
        </p:spPr>
      </p:sp>
      <p:sp>
        <p:nvSpPr>
          <p:cNvPr id="8" name="Text 5"/>
          <p:cNvSpPr txBox="1"/>
          <p:nvPr/>
        </p:nvSpPr>
        <p:spPr>
          <a:xfrm>
            <a:off x="6461608"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どのAIでも同じ形式</a:t>
            </a:r>
            <a:endParaRPr lang="en-US" sz="2000" dirty="0"/>
          </a:p>
        </p:txBody>
      </p:sp>
      <p:sp>
        <p:nvSpPr>
          <p:cNvPr id="9" name="Text 6"/>
          <p:cNvSpPr txBox="1"/>
          <p:nvPr/>
        </p:nvSpPr>
        <p:spPr>
          <a:xfrm>
            <a:off x="6461608" y="2103120"/>
            <a:ext cx="4952848"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5つの環境はいずれも共通形式「</a:t>
            </a:r>
            <a:r>
              <a:rPr lang="en-US" sz="1600" b="1" dirty="0">
                <a:solidFill>
                  <a:srgbClr val="0F4C5C"/>
                </a:solidFill>
              </a:rPr>
              <a:t>Agent Skills</a:t>
            </a:r>
            <a:r>
              <a:rPr lang="en-US" sz="1600" dirty="0">
                <a:solidFill>
                  <a:srgbClr val="1F2933"/>
                </a:solidFill>
              </a:rPr>
              <a:t>」に対応</a:t>
            </a:r>
            <a:endParaRPr lang="en-US" sz="1600" dirty="0"/>
          </a:p>
          <a:p>
            <a:pPr marL="203200" indent="-203200">
              <a:spcAft>
                <a:spcPts val="600"/>
              </a:spcAft>
              <a:buSzPct val="100000"/>
              <a:buChar char="●"/>
            </a:pPr>
            <a:r>
              <a:rPr lang="en-US" sz="1600" dirty="0">
                <a:solidFill>
                  <a:srgbClr val="1F2933"/>
                </a:solidFill>
              </a:rPr>
              <a:t>一度作ったSkillは少しの手直しで別のAIでも使える</a:t>
            </a:r>
            <a:endParaRPr lang="en-US" sz="1600" dirty="0"/>
          </a:p>
          <a:p>
            <a:pPr marL="203200" indent="-203200">
              <a:spcAft>
                <a:spcPts val="600"/>
              </a:spcAft>
              <a:buSzPct val="100000"/>
              <a:buChar char="●"/>
            </a:pPr>
            <a:r>
              <a:rPr lang="en-US" sz="1600" dirty="0">
                <a:solidFill>
                  <a:srgbClr val="1F2933"/>
                </a:solidFill>
              </a:rPr>
              <a:t>詳しくは第11章</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3. Skillの中身は SKILL.md 1枚</a:t>
            </a:r>
            <a:endParaRPr lang="en-US" sz="3000" dirty="0"/>
          </a:p>
        </p:txBody>
      </p:sp>
      <p:sp>
        <p:nvSpPr>
          <p:cNvPr id="4" name="Shape 1"/>
          <p:cNvSpPr/>
          <p:nvPr/>
        </p:nvSpPr>
        <p:spPr>
          <a:xfrm>
            <a:off x="548640" y="1325880"/>
            <a:ext cx="6035040" cy="4892040"/>
          </a:xfrm>
          <a:prstGeom prst="roundRect">
            <a:avLst>
              <a:gd name="adj" fmla="val 1495"/>
            </a:avLst>
          </a:prstGeom>
          <a:solidFill>
            <a:srgbClr val="F3F5F6"/>
          </a:solidFill>
          <a:ln w="9525">
            <a:solidFill>
              <a:srgbClr val="B8C7CC"/>
            </a:solidFill>
            <a:prstDash val="solid"/>
          </a:ln>
        </p:spPr>
      </p:sp>
      <p:sp>
        <p:nvSpPr>
          <p:cNvPr id="5" name="Text 2"/>
          <p:cNvSpPr txBox="1"/>
          <p:nvPr/>
        </p:nvSpPr>
        <p:spPr>
          <a:xfrm>
            <a:off x="731520" y="1463040"/>
            <a:ext cx="5669280" cy="4617720"/>
          </a:xfrm>
          <a:prstGeom prst="rect">
            <a:avLst/>
          </a:prstGeom>
          <a:noFill/>
          <a:ln/>
        </p:spPr>
        <p:txBody>
          <a:bodyPr wrap="square" lIns="0" tIns="0" rIns="0" bIns="0" rtlCol="0" anchor="t"/>
          <a:lstStyle/>
          <a:p>
            <a:pPr indent="0" marL="0">
              <a:buNone/>
            </a:pPr>
            <a:r>
              <a:rPr lang="en-US" sz="1400" dirty="0">
                <a:solidFill>
                  <a:srgbClr val="1F2933"/>
                </a:solidFill>
                <a:latin typeface="Consolas" pitchFamily="34" charset="0"/>
                <a:ea typeface="メイリオ" pitchFamily="34" charset="-122"/>
                <a:cs typeface="Consolas" pitchFamily="34" charset="-120"/>
              </a:rPr>
              <a:t>---</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name: meeting-minutes</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description: 会議のメモから議事録を作る。</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「議事録にして」と頼まれたときに使う。</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a:t>
            </a:r>
            <a:endParaRPr lang="en-US" sz="1400" dirty="0"/>
          </a:p>
          <a:p>
            <a:pPr indent="0" marL="0">
              <a:buNone/>
            </a:pP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議事録の作成</a:t>
            </a:r>
            <a:endParaRPr lang="en-US" sz="1400" dirty="0"/>
          </a:p>
          <a:p>
            <a:pPr indent="0" marL="0">
              <a:buNone/>
            </a:pP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1. 決定事項・宿題・未決事項に分けて書く。</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2. 宿題には担当と期限を必ず書く。</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わからなければ「要確認」と書く。</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3. 最後に、確認が必要な点を一覧にする。</a:t>
            </a:r>
            <a:endParaRPr lang="en-US" sz="1400" dirty="0"/>
          </a:p>
        </p:txBody>
      </p:sp>
      <p:sp>
        <p:nvSpPr>
          <p:cNvPr id="6" name="card-1"/>
          <p:cNvSpPr/>
          <p:nvPr/>
        </p:nvSpPr>
        <p:spPr>
          <a:xfrm>
            <a:off x="6949440" y="1325880"/>
            <a:ext cx="4693615" cy="1447800"/>
          </a:xfrm>
          <a:prstGeom prst="roundRect">
            <a:avLst>
              <a:gd name="adj" fmla="val 7579"/>
            </a:avLst>
          </a:prstGeom>
          <a:solidFill>
            <a:srgbClr val="E6F0F2"/>
          </a:solidFill>
          <a:ln w="12700">
            <a:solidFill>
              <a:srgbClr val="E6F0F2"/>
            </a:solidFill>
            <a:prstDash val="solid"/>
          </a:ln>
        </p:spPr>
      </p:sp>
      <p:sp>
        <p:nvSpPr>
          <p:cNvPr id="7" name="Text 4"/>
          <p:cNvSpPr txBox="1"/>
          <p:nvPr/>
        </p:nvSpPr>
        <p:spPr>
          <a:xfrm>
            <a:off x="7178040" y="1508760"/>
            <a:ext cx="4236415" cy="457200"/>
          </a:xfrm>
          <a:prstGeom prst="rect">
            <a:avLst/>
          </a:prstGeom>
          <a:noFill/>
          <a:ln/>
        </p:spPr>
        <p:txBody>
          <a:bodyPr wrap="square" lIns="0" tIns="0" rIns="0" bIns="0" rtlCol="0" anchor="ctr"/>
          <a:lstStyle/>
          <a:p>
            <a:pPr indent="0" marL="0">
              <a:buNone/>
            </a:pPr>
            <a:r>
              <a:rPr lang="en-US" sz="1800" b="1" dirty="0">
                <a:solidFill>
                  <a:srgbClr val="0F4C5C"/>
                </a:solidFill>
              </a:rPr>
              <a:t>name: 名前</a:t>
            </a:r>
            <a:endParaRPr lang="en-US" sz="1800" dirty="0"/>
          </a:p>
        </p:txBody>
      </p:sp>
      <p:sp>
        <p:nvSpPr>
          <p:cNvPr id="8" name="Text 5"/>
          <p:cNvSpPr txBox="1"/>
          <p:nvPr/>
        </p:nvSpPr>
        <p:spPr>
          <a:xfrm>
            <a:off x="7178040" y="2103120"/>
            <a:ext cx="4236415" cy="53340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半角英小文字とハイフン → 背表紙のタイトル</a:t>
            </a:r>
            <a:endParaRPr lang="en-US" sz="1600" dirty="0"/>
          </a:p>
        </p:txBody>
      </p:sp>
      <p:sp>
        <p:nvSpPr>
          <p:cNvPr id="9" name="card-2"/>
          <p:cNvSpPr/>
          <p:nvPr/>
        </p:nvSpPr>
        <p:spPr>
          <a:xfrm>
            <a:off x="6949440" y="3048000"/>
            <a:ext cx="4693615" cy="1447800"/>
          </a:xfrm>
          <a:prstGeom prst="roundRect">
            <a:avLst>
              <a:gd name="adj" fmla="val 7579"/>
            </a:avLst>
          </a:prstGeom>
          <a:solidFill>
            <a:srgbClr val="FFF1E7"/>
          </a:solidFill>
          <a:ln w="12700">
            <a:solidFill>
              <a:srgbClr val="E36414"/>
            </a:solidFill>
            <a:prstDash val="solid"/>
          </a:ln>
        </p:spPr>
      </p:sp>
      <p:sp>
        <p:nvSpPr>
          <p:cNvPr id="10" name="Text 7"/>
          <p:cNvSpPr txBox="1"/>
          <p:nvPr/>
        </p:nvSpPr>
        <p:spPr>
          <a:xfrm>
            <a:off x="7178040" y="3230880"/>
            <a:ext cx="4236415" cy="457200"/>
          </a:xfrm>
          <a:prstGeom prst="rect">
            <a:avLst/>
          </a:prstGeom>
          <a:noFill/>
          <a:ln/>
        </p:spPr>
        <p:txBody>
          <a:bodyPr wrap="square" lIns="0" tIns="0" rIns="0" bIns="0" rtlCol="0" anchor="ctr"/>
          <a:lstStyle/>
          <a:p>
            <a:pPr indent="0" marL="0">
              <a:buNone/>
            </a:pPr>
            <a:r>
              <a:rPr lang="en-US" sz="1800" b="1" dirty="0">
                <a:solidFill>
                  <a:srgbClr val="0F4C5C"/>
                </a:solidFill>
              </a:rPr>
              <a:t>description: いつ使うか</a:t>
            </a:r>
            <a:endParaRPr lang="en-US" sz="1800" dirty="0"/>
          </a:p>
        </p:txBody>
      </p:sp>
      <p:sp>
        <p:nvSpPr>
          <p:cNvPr id="11" name="Text 8"/>
          <p:cNvSpPr txBox="1"/>
          <p:nvPr/>
        </p:nvSpPr>
        <p:spPr>
          <a:xfrm>
            <a:off x="7178040" y="3825240"/>
            <a:ext cx="4236415" cy="53340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何をするSkillで、いつ使うか → 背表紙の「こんなときに読む」</a:t>
            </a:r>
            <a:endParaRPr lang="en-US" sz="1600" dirty="0"/>
          </a:p>
        </p:txBody>
      </p:sp>
      <p:sp>
        <p:nvSpPr>
          <p:cNvPr id="12" name="card-3"/>
          <p:cNvSpPr/>
          <p:nvPr/>
        </p:nvSpPr>
        <p:spPr>
          <a:xfrm>
            <a:off x="6949440" y="4770120"/>
            <a:ext cx="4693615" cy="1447800"/>
          </a:xfrm>
          <a:prstGeom prst="roundRect">
            <a:avLst>
              <a:gd name="adj" fmla="val 7579"/>
            </a:avLst>
          </a:prstGeom>
          <a:solidFill>
            <a:srgbClr val="E6F0F2"/>
          </a:solidFill>
          <a:ln w="12700">
            <a:solidFill>
              <a:srgbClr val="E6F0F2"/>
            </a:solidFill>
            <a:prstDash val="solid"/>
          </a:ln>
        </p:spPr>
      </p:sp>
      <p:sp>
        <p:nvSpPr>
          <p:cNvPr id="13" name="Text 10"/>
          <p:cNvSpPr txBox="1"/>
          <p:nvPr/>
        </p:nvSpPr>
        <p:spPr>
          <a:xfrm>
            <a:off x="7178040" y="4953000"/>
            <a:ext cx="4236415" cy="457200"/>
          </a:xfrm>
          <a:prstGeom prst="rect">
            <a:avLst/>
          </a:prstGeom>
          <a:noFill/>
          <a:ln/>
        </p:spPr>
        <p:txBody>
          <a:bodyPr wrap="square" lIns="0" tIns="0" rIns="0" bIns="0" rtlCol="0" anchor="ctr"/>
          <a:lstStyle/>
          <a:p>
            <a:pPr indent="0" marL="0">
              <a:buNone/>
            </a:pPr>
            <a:r>
              <a:rPr lang="en-US" sz="1800" b="1" dirty="0">
                <a:solidFill>
                  <a:srgbClr val="0F4C5C"/>
                </a:solidFill>
              </a:rPr>
              <a:t>--- より下: 本文</a:t>
            </a:r>
            <a:endParaRPr lang="en-US" sz="1800" dirty="0"/>
          </a:p>
        </p:txBody>
      </p:sp>
      <p:sp>
        <p:nvSpPr>
          <p:cNvPr id="14" name="Text 11"/>
          <p:cNvSpPr txBox="1"/>
          <p:nvPr/>
        </p:nvSpPr>
        <p:spPr>
          <a:xfrm>
            <a:off x="7178040" y="5547360"/>
            <a:ext cx="4236415" cy="53340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実際の手順 → マニュアルの本文</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いちばん大切なのは description</a:t>
            </a:r>
            <a:endParaRPr lang="en-US" sz="3000" dirty="0"/>
          </a:p>
        </p:txBody>
      </p:sp>
      <p:sp>
        <p:nvSpPr>
          <p:cNvPr id="4" name="step-1"/>
          <p:cNvSpPr/>
          <p:nvPr/>
        </p:nvSpPr>
        <p:spPr>
          <a:xfrm>
            <a:off x="548640" y="1325880"/>
            <a:ext cx="2464994" cy="3886200"/>
          </a:xfrm>
          <a:prstGeom prst="roundRect">
            <a:avLst>
              <a:gd name="adj" fmla="val 445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0F4C5C"/>
          </a:solidFill>
          <a:ln w="12700">
            <a:solidFill>
              <a:srgbClr val="0F4C5C"/>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31520"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あなたが頼む</a:t>
            </a:r>
            <a:endParaRPr lang="en-US" sz="1800" dirty="0"/>
          </a:p>
        </p:txBody>
      </p:sp>
      <p:sp>
        <p:nvSpPr>
          <p:cNvPr id="8" name="Text 5"/>
          <p:cNvSpPr txBox="1"/>
          <p:nvPr/>
        </p:nvSpPr>
        <p:spPr>
          <a:xfrm>
            <a:off x="731520"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「さっきの打合せメモを整理して」</a:t>
            </a:r>
            <a:endParaRPr lang="en-US" sz="1800" dirty="0"/>
          </a:p>
        </p:txBody>
      </p:sp>
      <p:sp>
        <p:nvSpPr>
          <p:cNvPr id="9" name="Shape 6"/>
          <p:cNvSpPr/>
          <p:nvPr/>
        </p:nvSpPr>
        <p:spPr>
          <a:xfrm>
            <a:off x="3077642" y="3122676"/>
            <a:ext cx="283464" cy="292608"/>
          </a:xfrm>
          <a:prstGeom prst="rightArrow">
            <a:avLst/>
          </a:prstGeom>
          <a:solidFill>
            <a:srgbClr val="E36414"/>
          </a:solidFill>
          <a:ln w="12700">
            <a:solidFill>
              <a:srgbClr val="E36414"/>
            </a:solidFill>
            <a:prstDash val="solid"/>
          </a:ln>
        </p:spPr>
      </p:sp>
      <p:sp>
        <p:nvSpPr>
          <p:cNvPr id="10" name="step-2"/>
          <p:cNvSpPr/>
          <p:nvPr/>
        </p:nvSpPr>
        <p:spPr>
          <a:xfrm>
            <a:off x="3425114" y="1325880"/>
            <a:ext cx="2464994" cy="3886200"/>
          </a:xfrm>
          <a:prstGeom prst="roundRect">
            <a:avLst>
              <a:gd name="adj" fmla="val 4451"/>
            </a:avLst>
          </a:prstGeom>
          <a:solidFill>
            <a:srgbClr val="FFF1E7"/>
          </a:solidFill>
          <a:ln w="12700">
            <a:solidFill>
              <a:srgbClr val="E36414"/>
            </a:solidFill>
            <a:prstDash val="solid"/>
          </a:ln>
        </p:spPr>
      </p:sp>
      <p:sp>
        <p:nvSpPr>
          <p:cNvPr id="11" name="Shape 8"/>
          <p:cNvSpPr/>
          <p:nvPr/>
        </p:nvSpPr>
        <p:spPr>
          <a:xfrm>
            <a:off x="3607994" y="1508760"/>
            <a:ext cx="457200" cy="457200"/>
          </a:xfrm>
          <a:prstGeom prst="ellipse">
            <a:avLst/>
          </a:prstGeom>
          <a:solidFill>
            <a:srgbClr val="0F4C5C"/>
          </a:solidFill>
          <a:ln w="12700">
            <a:solidFill>
              <a:srgbClr val="0F4C5C"/>
            </a:solidFill>
            <a:prstDash val="solid"/>
          </a:ln>
        </p:spPr>
      </p:sp>
      <p:sp>
        <p:nvSpPr>
          <p:cNvPr id="12" name="Text 9"/>
          <p:cNvSpPr txBox="1"/>
          <p:nvPr/>
        </p:nvSpPr>
        <p:spPr>
          <a:xfrm>
            <a:off x="3607994"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3607994"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AIが description を見比べる</a:t>
            </a:r>
            <a:endParaRPr lang="en-US" sz="1800" dirty="0"/>
          </a:p>
        </p:txBody>
      </p:sp>
      <p:sp>
        <p:nvSpPr>
          <p:cNvPr id="14" name="Text 11"/>
          <p:cNvSpPr txBox="1"/>
          <p:nvPr/>
        </p:nvSpPr>
        <p:spPr>
          <a:xfrm>
            <a:off x="3607994"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登録済みSkillの</a:t>
            </a:r>
            <a:r>
              <a:rPr lang="en-US" sz="1800" b="1" dirty="0">
                <a:solidFill>
                  <a:srgbClr val="0F4C5C"/>
                </a:solidFill>
              </a:rPr>
              <a:t>名前と説明だけ</a:t>
            </a:r>
            <a:r>
              <a:rPr lang="en-US" sz="1800" dirty="0">
                <a:solidFill>
                  <a:srgbClr val="1F2933"/>
                </a:solidFill>
              </a:rPr>
              <a:t>を読む</a:t>
            </a:r>
            <a:endParaRPr lang="en-US" sz="1800" dirty="0"/>
          </a:p>
        </p:txBody>
      </p:sp>
      <p:sp>
        <p:nvSpPr>
          <p:cNvPr id="15" name="Shape 12"/>
          <p:cNvSpPr/>
          <p:nvPr/>
        </p:nvSpPr>
        <p:spPr>
          <a:xfrm>
            <a:off x="5954116" y="3122676"/>
            <a:ext cx="283464" cy="292608"/>
          </a:xfrm>
          <a:prstGeom prst="rightArrow">
            <a:avLst/>
          </a:prstGeom>
          <a:solidFill>
            <a:srgbClr val="E36414"/>
          </a:solidFill>
          <a:ln w="12700">
            <a:solidFill>
              <a:srgbClr val="E36414"/>
            </a:solidFill>
            <a:prstDash val="solid"/>
          </a:ln>
        </p:spPr>
      </p:sp>
      <p:sp>
        <p:nvSpPr>
          <p:cNvPr id="16" name="step-3"/>
          <p:cNvSpPr/>
          <p:nvPr/>
        </p:nvSpPr>
        <p:spPr>
          <a:xfrm>
            <a:off x="6301588" y="1325880"/>
            <a:ext cx="2464994" cy="3886200"/>
          </a:xfrm>
          <a:prstGeom prst="roundRect">
            <a:avLst>
              <a:gd name="adj" fmla="val 4451"/>
            </a:avLst>
          </a:prstGeom>
          <a:solidFill>
            <a:srgbClr val="E6F0F2"/>
          </a:solidFill>
          <a:ln w="12700">
            <a:solidFill>
              <a:srgbClr val="E6F0F2"/>
            </a:solidFill>
            <a:prstDash val="solid"/>
          </a:ln>
        </p:spPr>
      </p:sp>
      <p:sp>
        <p:nvSpPr>
          <p:cNvPr id="17" name="Shape 14"/>
          <p:cNvSpPr/>
          <p:nvPr/>
        </p:nvSpPr>
        <p:spPr>
          <a:xfrm>
            <a:off x="6484468" y="1508760"/>
            <a:ext cx="457200" cy="457200"/>
          </a:xfrm>
          <a:prstGeom prst="ellipse">
            <a:avLst/>
          </a:prstGeom>
          <a:solidFill>
            <a:srgbClr val="0F4C5C"/>
          </a:solidFill>
          <a:ln w="12700">
            <a:solidFill>
              <a:srgbClr val="0F4C5C"/>
            </a:solidFill>
            <a:prstDash val="solid"/>
          </a:ln>
        </p:spPr>
      </p:sp>
      <p:sp>
        <p:nvSpPr>
          <p:cNvPr id="18" name="Text 15"/>
          <p:cNvSpPr txBox="1"/>
          <p:nvPr/>
        </p:nvSpPr>
        <p:spPr>
          <a:xfrm>
            <a:off x="648446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6"/>
          <p:cNvSpPr txBox="1"/>
          <p:nvPr/>
        </p:nvSpPr>
        <p:spPr>
          <a:xfrm>
            <a:off x="6484468"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合うSkillを選ぶ</a:t>
            </a:r>
            <a:endParaRPr lang="en-US" sz="1800" dirty="0"/>
          </a:p>
        </p:txBody>
      </p:sp>
      <p:sp>
        <p:nvSpPr>
          <p:cNvPr id="20" name="Text 17"/>
          <p:cNvSpPr txBox="1"/>
          <p:nvPr/>
        </p:nvSpPr>
        <p:spPr>
          <a:xfrm>
            <a:off x="6484468"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「会議メモから議事録を作る…」が合致</a:t>
            </a:r>
            <a:endParaRPr lang="en-US" sz="1800" dirty="0"/>
          </a:p>
        </p:txBody>
      </p:sp>
      <p:sp>
        <p:nvSpPr>
          <p:cNvPr id="21" name="Shape 18"/>
          <p:cNvSpPr/>
          <p:nvPr/>
        </p:nvSpPr>
        <p:spPr>
          <a:xfrm>
            <a:off x="8830589" y="3122676"/>
            <a:ext cx="283464" cy="292608"/>
          </a:xfrm>
          <a:prstGeom prst="rightArrow">
            <a:avLst/>
          </a:prstGeom>
          <a:solidFill>
            <a:srgbClr val="E36414"/>
          </a:solidFill>
          <a:ln w="12700">
            <a:solidFill>
              <a:srgbClr val="E36414"/>
            </a:solidFill>
            <a:prstDash val="solid"/>
          </a:ln>
        </p:spPr>
      </p:sp>
      <p:sp>
        <p:nvSpPr>
          <p:cNvPr id="22" name="step-4"/>
          <p:cNvSpPr/>
          <p:nvPr/>
        </p:nvSpPr>
        <p:spPr>
          <a:xfrm>
            <a:off x="9178061" y="1325880"/>
            <a:ext cx="2464994" cy="3886200"/>
          </a:xfrm>
          <a:prstGeom prst="roundRect">
            <a:avLst>
              <a:gd name="adj" fmla="val 4451"/>
            </a:avLst>
          </a:prstGeom>
          <a:solidFill>
            <a:srgbClr val="E6F0F2"/>
          </a:solidFill>
          <a:ln w="12700">
            <a:solidFill>
              <a:srgbClr val="E6F0F2"/>
            </a:solidFill>
            <a:prstDash val="solid"/>
          </a:ln>
        </p:spPr>
      </p:sp>
      <p:sp>
        <p:nvSpPr>
          <p:cNvPr id="23" name="Shape 20"/>
          <p:cNvSpPr/>
          <p:nvPr/>
        </p:nvSpPr>
        <p:spPr>
          <a:xfrm>
            <a:off x="9360941" y="1508760"/>
            <a:ext cx="457200" cy="457200"/>
          </a:xfrm>
          <a:prstGeom prst="ellipse">
            <a:avLst/>
          </a:prstGeom>
          <a:solidFill>
            <a:srgbClr val="0F4C5C"/>
          </a:solidFill>
          <a:ln w="12700">
            <a:solidFill>
              <a:srgbClr val="0F4C5C"/>
            </a:solidFill>
            <a:prstDash val="solid"/>
          </a:ln>
        </p:spPr>
      </p:sp>
      <p:sp>
        <p:nvSpPr>
          <p:cNvPr id="24" name="Text 21"/>
          <p:cNvSpPr txBox="1"/>
          <p:nvPr/>
        </p:nvSpPr>
        <p:spPr>
          <a:xfrm>
            <a:off x="9360941"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Text 22"/>
          <p:cNvSpPr txBox="1"/>
          <p:nvPr/>
        </p:nvSpPr>
        <p:spPr>
          <a:xfrm>
            <a:off x="9360941"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本文を読んで作業</a:t>
            </a:r>
            <a:endParaRPr lang="en-US" sz="1800" dirty="0"/>
          </a:p>
        </p:txBody>
      </p:sp>
      <p:sp>
        <p:nvSpPr>
          <p:cNvPr id="26" name="Text 23"/>
          <p:cNvSpPr txBox="1"/>
          <p:nvPr/>
        </p:nvSpPr>
        <p:spPr>
          <a:xfrm>
            <a:off x="9360941"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手順どおりに議事録を作る</a:t>
            </a:r>
            <a:endParaRPr lang="en-US" sz="1800" dirty="0"/>
          </a:p>
        </p:txBody>
      </p:sp>
      <p:sp>
        <p:nvSpPr>
          <p:cNvPr id="27" name="Shape 24"/>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28" name="Text 25"/>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description には </a:t>
            </a:r>
            <a:r>
              <a:rPr lang="en-US" sz="1800" b="1" dirty="0">
                <a:solidFill>
                  <a:srgbClr val="E36414"/>
                </a:solidFill>
              </a:rPr>
              <a:t>「何をするか」</a:t>
            </a:r>
            <a:r>
              <a:rPr lang="en-US" sz="1800" dirty="0">
                <a:solidFill>
                  <a:srgbClr val="1F2933"/>
                </a:solidFill>
              </a:rPr>
              <a:t> と </a:t>
            </a:r>
            <a:r>
              <a:rPr lang="en-US" sz="1800" b="1" dirty="0">
                <a:solidFill>
                  <a:srgbClr val="E36414"/>
                </a:solidFill>
              </a:rPr>
              <a:t>「どんな頼み方をされたら使うか」</a:t>
            </a:r>
            <a:r>
              <a:rPr lang="en-US" sz="1800" dirty="0">
                <a:solidFill>
                  <a:srgbClr val="1F2933"/>
                </a:solidFill>
              </a:rPr>
              <a:t> の両方を書く</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4. はじめてのSkillを作る ― 3つの方法</a:t>
            </a:r>
            <a:endParaRPr lang="en-US" sz="3000" dirty="0"/>
          </a:p>
        </p:txBody>
      </p:sp>
      <p:sp>
        <p:nvSpPr>
          <p:cNvPr id="4" name="card-1"/>
          <p:cNvSpPr/>
          <p:nvPr/>
        </p:nvSpPr>
        <p:spPr>
          <a:xfrm>
            <a:off x="548640" y="1325880"/>
            <a:ext cx="3515258" cy="3886200"/>
          </a:xfrm>
          <a:prstGeom prst="roundRect">
            <a:avLst>
              <a:gd name="adj" fmla="val 312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E36414"/>
          </a:solidFill>
          <a:ln w="12700">
            <a:solidFill>
              <a:srgbClr val="E36414"/>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7" name="Text 4"/>
          <p:cNvSpPr txBox="1"/>
          <p:nvPr/>
        </p:nvSpPr>
        <p:spPr>
          <a:xfrm>
            <a:off x="1325880"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Claude.aiで作る</a:t>
            </a:r>
            <a:endParaRPr lang="en-US" sz="2000" dirty="0"/>
          </a:p>
        </p:txBody>
      </p:sp>
      <p:sp>
        <p:nvSpPr>
          <p:cNvPr id="8" name="Text 5"/>
          <p:cNvSpPr txBox="1"/>
          <p:nvPr/>
        </p:nvSpPr>
        <p:spPr>
          <a:xfrm>
            <a:off x="777240" y="21031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チャットで「Skillを作って」と頼む</a:t>
            </a:r>
            <a:endParaRPr lang="en-US" sz="1600" dirty="0"/>
          </a:p>
          <a:p>
            <a:pPr marL="203200" indent="-203200">
              <a:spcAft>
                <a:spcPts val="600"/>
              </a:spcAft>
              <a:buSzPct val="100000"/>
              <a:buChar char="●"/>
            </a:pPr>
            <a:r>
              <a:rPr lang="en-US" sz="1600" dirty="0">
                <a:solidFill>
                  <a:srgbClr val="1F2933"/>
                </a:solidFill>
              </a:rPr>
              <a:t>対象: Free / Pro / Max / Team / Enterprise</a:t>
            </a:r>
            <a:endParaRPr lang="en-US" sz="1600" dirty="0"/>
          </a:p>
        </p:txBody>
      </p:sp>
      <p:sp>
        <p:nvSpPr>
          <p:cNvPr id="9" name="card-2"/>
          <p:cNvSpPr/>
          <p:nvPr/>
        </p:nvSpPr>
        <p:spPr>
          <a:xfrm>
            <a:off x="4338218" y="1325880"/>
            <a:ext cx="3515258" cy="3886200"/>
          </a:xfrm>
          <a:prstGeom prst="roundRect">
            <a:avLst>
              <a:gd name="adj" fmla="val 3121"/>
            </a:avLst>
          </a:prstGeom>
          <a:solidFill>
            <a:srgbClr val="E6F0F2"/>
          </a:solidFill>
          <a:ln w="12700">
            <a:solidFill>
              <a:srgbClr val="E6F0F2"/>
            </a:solidFill>
            <a:prstDash val="solid"/>
          </a:ln>
        </p:spPr>
      </p:sp>
      <p:sp>
        <p:nvSpPr>
          <p:cNvPr id="10" name="Shape 7"/>
          <p:cNvSpPr/>
          <p:nvPr/>
        </p:nvSpPr>
        <p:spPr>
          <a:xfrm>
            <a:off x="4521098" y="1508760"/>
            <a:ext cx="457200" cy="457200"/>
          </a:xfrm>
          <a:prstGeom prst="ellipse">
            <a:avLst/>
          </a:prstGeom>
          <a:solidFill>
            <a:srgbClr val="E36414"/>
          </a:solidFill>
          <a:ln w="12700">
            <a:solidFill>
              <a:srgbClr val="E36414"/>
            </a:solidFill>
            <a:prstDash val="solid"/>
          </a:ln>
        </p:spPr>
      </p:sp>
      <p:sp>
        <p:nvSpPr>
          <p:cNvPr id="11" name="Text 8"/>
          <p:cNvSpPr txBox="1"/>
          <p:nvPr/>
        </p:nvSpPr>
        <p:spPr>
          <a:xfrm>
            <a:off x="452109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2" name="Text 9"/>
          <p:cNvSpPr txBox="1"/>
          <p:nvPr/>
        </p:nvSpPr>
        <p:spPr>
          <a:xfrm>
            <a:off x="5115458"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ChatGPTで作る</a:t>
            </a:r>
            <a:endParaRPr lang="en-US" sz="2000" dirty="0"/>
          </a:p>
        </p:txBody>
      </p:sp>
      <p:sp>
        <p:nvSpPr>
          <p:cNvPr id="13" name="Text 10"/>
          <p:cNvSpPr txBox="1"/>
          <p:nvPr/>
        </p:nvSpPr>
        <p:spPr>
          <a:xfrm>
            <a:off x="4566818" y="21031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Skills画面の「Create with chat」</a:t>
            </a:r>
            <a:endParaRPr lang="en-US" sz="1600" dirty="0"/>
          </a:p>
          <a:p>
            <a:pPr marL="203200" indent="-203200">
              <a:spcAft>
                <a:spcPts val="600"/>
              </a:spcAft>
              <a:buSzPct val="100000"/>
              <a:buChar char="●"/>
            </a:pPr>
            <a:r>
              <a:rPr lang="en-US" sz="1600" dirty="0">
                <a:solidFill>
                  <a:srgbClr val="1F2933"/>
                </a:solidFill>
              </a:rPr>
              <a:t>対象: Business / Enterprise / Healthcare / Edu（個人プランは</a:t>
            </a:r>
            <a:r>
              <a:rPr lang="en-US" sz="1600" b="1" dirty="0">
                <a:solidFill>
                  <a:srgbClr val="0F4C5C"/>
                </a:solidFill>
              </a:rPr>
              <a:t>要確認</a:t>
            </a:r>
            <a:r>
              <a:rPr lang="en-US" sz="1600" dirty="0">
                <a:solidFill>
                  <a:srgbClr val="1F2933"/>
                </a:solidFill>
              </a:rPr>
              <a:t>）</a:t>
            </a:r>
            <a:endParaRPr lang="en-US" sz="1600" dirty="0"/>
          </a:p>
        </p:txBody>
      </p:sp>
      <p:sp>
        <p:nvSpPr>
          <p:cNvPr id="14" name="card-3"/>
          <p:cNvSpPr/>
          <p:nvPr/>
        </p:nvSpPr>
        <p:spPr>
          <a:xfrm>
            <a:off x="8127797" y="1325880"/>
            <a:ext cx="3515258" cy="3886200"/>
          </a:xfrm>
          <a:prstGeom prst="roundRect">
            <a:avLst>
              <a:gd name="adj" fmla="val 3121"/>
            </a:avLst>
          </a:prstGeom>
          <a:solidFill>
            <a:srgbClr val="E6F0F2"/>
          </a:solidFill>
          <a:ln w="12700">
            <a:solidFill>
              <a:srgbClr val="E6F0F2"/>
            </a:solidFill>
            <a:prstDash val="solid"/>
          </a:ln>
        </p:spPr>
      </p:sp>
      <p:sp>
        <p:nvSpPr>
          <p:cNvPr id="15" name="Shape 12"/>
          <p:cNvSpPr/>
          <p:nvPr/>
        </p:nvSpPr>
        <p:spPr>
          <a:xfrm>
            <a:off x="8310677" y="1508760"/>
            <a:ext cx="457200" cy="457200"/>
          </a:xfrm>
          <a:prstGeom prst="ellipse">
            <a:avLst/>
          </a:prstGeom>
          <a:solidFill>
            <a:srgbClr val="E36414"/>
          </a:solidFill>
          <a:ln w="12700">
            <a:solidFill>
              <a:srgbClr val="E36414"/>
            </a:solidFill>
            <a:prstDash val="solid"/>
          </a:ln>
        </p:spPr>
      </p:sp>
      <p:sp>
        <p:nvSpPr>
          <p:cNvPr id="16" name="Text 13"/>
          <p:cNvSpPr txBox="1"/>
          <p:nvPr/>
        </p:nvSpPr>
        <p:spPr>
          <a:xfrm>
            <a:off x="8310677"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7" name="Text 14"/>
          <p:cNvSpPr txBox="1"/>
          <p:nvPr/>
        </p:nvSpPr>
        <p:spPr>
          <a:xfrm>
            <a:off x="8905037"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自分で書いてアップロード</a:t>
            </a:r>
            <a:endParaRPr lang="en-US" sz="2000" dirty="0"/>
          </a:p>
        </p:txBody>
      </p:sp>
      <p:sp>
        <p:nvSpPr>
          <p:cNvPr id="18" name="Text 15"/>
          <p:cNvSpPr txBox="1"/>
          <p:nvPr/>
        </p:nvSpPr>
        <p:spPr>
          <a:xfrm>
            <a:off x="8356397" y="21031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メモ帳でSKILL.mdを書く</a:t>
            </a:r>
            <a:endParaRPr lang="en-US" sz="1600" dirty="0"/>
          </a:p>
          <a:p>
            <a:pPr marL="203200" indent="-203200">
              <a:spcAft>
                <a:spcPts val="600"/>
              </a:spcAft>
              <a:buSzPct val="100000"/>
              <a:buChar char="●"/>
            </a:pPr>
            <a:r>
              <a:rPr lang="en-US" sz="1600" dirty="0">
                <a:solidFill>
                  <a:srgbClr val="1F2933"/>
                </a:solidFill>
              </a:rPr>
              <a:t>フォルダごとZIPにして登録</a:t>
            </a:r>
            <a:endParaRPr lang="en-US" sz="1600" dirty="0"/>
          </a:p>
        </p:txBody>
      </p:sp>
      <p:sp>
        <p:nvSpPr>
          <p:cNvPr id="19" name="Shape 16"/>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20" name="Text 17"/>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おすすめは </a:t>
            </a:r>
            <a:r>
              <a:rPr lang="en-US" sz="1800" b="1" dirty="0">
                <a:solidFill>
                  <a:srgbClr val="E36414"/>
                </a:solidFill>
              </a:rPr>
              <a:t>AIに頼んで作ってもらう</a:t>
            </a:r>
            <a:r>
              <a:rPr lang="en-US" sz="1800" dirty="0">
                <a:solidFill>
                  <a:srgbClr val="1F2933"/>
                </a:solidFill>
              </a:rPr>
              <a:t>（A・B）。Skill作りを手伝う「skill-creator」が使える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方法A: Claude.aiで作る</a:t>
            </a:r>
            <a:endParaRPr lang="en-US" sz="3000" dirty="0"/>
          </a:p>
        </p:txBody>
      </p:sp>
      <p:sp>
        <p:nvSpPr>
          <p:cNvPr id="4" name="step-1"/>
          <p:cNvSpPr/>
          <p:nvPr/>
        </p:nvSpPr>
        <p:spPr>
          <a:xfrm>
            <a:off x="548640" y="1325880"/>
            <a:ext cx="1506169" cy="4892040"/>
          </a:xfrm>
          <a:prstGeom prst="roundRect">
            <a:avLst>
              <a:gd name="adj" fmla="val 7285"/>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0F4C5C"/>
          </a:solidFill>
          <a:ln w="12700">
            <a:solidFill>
              <a:srgbClr val="0F4C5C"/>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31520" y="2103120"/>
            <a:ext cx="1140409" cy="685800"/>
          </a:xfrm>
          <a:prstGeom prst="rect">
            <a:avLst/>
          </a:prstGeom>
          <a:noFill/>
          <a:ln/>
        </p:spPr>
        <p:txBody>
          <a:bodyPr wrap="square" lIns="0" tIns="0" rIns="0" bIns="0" rtlCol="0" anchor="t"/>
          <a:lstStyle/>
          <a:p>
            <a:pPr indent="0" marL="0">
              <a:buNone/>
            </a:pPr>
            <a:r>
              <a:rPr lang="en-US" sz="1700" b="1" dirty="0">
                <a:solidFill>
                  <a:srgbClr val="0F4C5C"/>
                </a:solidFill>
              </a:rPr>
              <a:t>準備</a:t>
            </a:r>
            <a:endParaRPr lang="en-US" sz="1700" dirty="0"/>
          </a:p>
        </p:txBody>
      </p:sp>
      <p:sp>
        <p:nvSpPr>
          <p:cNvPr id="8" name="Text 5"/>
          <p:cNvSpPr txBox="1"/>
          <p:nvPr/>
        </p:nvSpPr>
        <p:spPr>
          <a:xfrm>
            <a:off x="731520" y="2834640"/>
            <a:ext cx="1140409" cy="3246120"/>
          </a:xfrm>
          <a:prstGeom prst="rect">
            <a:avLst/>
          </a:prstGeom>
          <a:noFill/>
          <a:ln/>
        </p:spPr>
        <p:txBody>
          <a:bodyPr wrap="square" lIns="0" tIns="0" rIns="0" bIns="0" rtlCol="0" anchor="t"/>
          <a:lstStyle/>
          <a:p>
            <a:pPr indent="0" marL="0">
              <a:buNone/>
            </a:pPr>
            <a:r>
              <a:rPr lang="en-US" sz="1600" dirty="0">
                <a:solidFill>
                  <a:srgbClr val="1F2933"/>
                </a:solidFill>
              </a:rPr>
              <a:t>設定 &gt; 機能で「</a:t>
            </a:r>
            <a:r>
              <a:rPr lang="en-US" sz="1600" b="1" dirty="0">
                <a:solidFill>
                  <a:srgbClr val="0F4C5C"/>
                </a:solidFill>
              </a:rPr>
              <a:t>コード実行とファイル作成</a:t>
            </a:r>
            <a:r>
              <a:rPr lang="en-US" sz="1600" dirty="0">
                <a:solidFill>
                  <a:srgbClr val="1F2933"/>
                </a:solidFill>
              </a:rPr>
              <a:t>」をオン</a:t>
            </a:r>
            <a:endParaRPr lang="en-US" sz="1600" dirty="0"/>
          </a:p>
        </p:txBody>
      </p:sp>
      <p:sp>
        <p:nvSpPr>
          <p:cNvPr id="9" name="Shape 6"/>
          <p:cNvSpPr/>
          <p:nvPr/>
        </p:nvSpPr>
        <p:spPr>
          <a:xfrm>
            <a:off x="2118817" y="3625596"/>
            <a:ext cx="283464" cy="292608"/>
          </a:xfrm>
          <a:prstGeom prst="rightArrow">
            <a:avLst/>
          </a:prstGeom>
          <a:solidFill>
            <a:srgbClr val="E36414"/>
          </a:solidFill>
          <a:ln w="12700">
            <a:solidFill>
              <a:srgbClr val="E36414"/>
            </a:solidFill>
            <a:prstDash val="solid"/>
          </a:ln>
        </p:spPr>
      </p:sp>
      <p:sp>
        <p:nvSpPr>
          <p:cNvPr id="10" name="step-2"/>
          <p:cNvSpPr/>
          <p:nvPr/>
        </p:nvSpPr>
        <p:spPr>
          <a:xfrm>
            <a:off x="2466289" y="1325880"/>
            <a:ext cx="1506169" cy="4892040"/>
          </a:xfrm>
          <a:prstGeom prst="roundRect">
            <a:avLst>
              <a:gd name="adj" fmla="val 7285"/>
            </a:avLst>
          </a:prstGeom>
          <a:solidFill>
            <a:srgbClr val="E6F0F2"/>
          </a:solidFill>
          <a:ln w="12700">
            <a:solidFill>
              <a:srgbClr val="E6F0F2"/>
            </a:solidFill>
            <a:prstDash val="solid"/>
          </a:ln>
        </p:spPr>
      </p:sp>
      <p:sp>
        <p:nvSpPr>
          <p:cNvPr id="11" name="Shape 8"/>
          <p:cNvSpPr/>
          <p:nvPr/>
        </p:nvSpPr>
        <p:spPr>
          <a:xfrm>
            <a:off x="2649169" y="1508760"/>
            <a:ext cx="457200" cy="457200"/>
          </a:xfrm>
          <a:prstGeom prst="ellipse">
            <a:avLst/>
          </a:prstGeom>
          <a:solidFill>
            <a:srgbClr val="0F4C5C"/>
          </a:solidFill>
          <a:ln w="12700">
            <a:solidFill>
              <a:srgbClr val="0F4C5C"/>
            </a:solidFill>
            <a:prstDash val="solid"/>
          </a:ln>
        </p:spPr>
      </p:sp>
      <p:sp>
        <p:nvSpPr>
          <p:cNvPr id="12" name="Text 9"/>
          <p:cNvSpPr txBox="1"/>
          <p:nvPr/>
        </p:nvSpPr>
        <p:spPr>
          <a:xfrm>
            <a:off x="2649169"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2649169" y="2103120"/>
            <a:ext cx="1140409" cy="685800"/>
          </a:xfrm>
          <a:prstGeom prst="rect">
            <a:avLst/>
          </a:prstGeom>
          <a:noFill/>
          <a:ln/>
        </p:spPr>
        <p:txBody>
          <a:bodyPr wrap="square" lIns="0" tIns="0" rIns="0" bIns="0" rtlCol="0" anchor="t"/>
          <a:lstStyle/>
          <a:p>
            <a:pPr indent="0" marL="0">
              <a:buNone/>
            </a:pPr>
            <a:r>
              <a:rPr lang="en-US" sz="1700" b="1" dirty="0">
                <a:solidFill>
                  <a:srgbClr val="0F4C5C"/>
                </a:solidFill>
              </a:rPr>
              <a:t>頼む</a:t>
            </a:r>
            <a:endParaRPr lang="en-US" sz="1700" dirty="0"/>
          </a:p>
        </p:txBody>
      </p:sp>
      <p:sp>
        <p:nvSpPr>
          <p:cNvPr id="14" name="Text 11"/>
          <p:cNvSpPr txBox="1"/>
          <p:nvPr/>
        </p:nvSpPr>
        <p:spPr>
          <a:xfrm>
            <a:off x="2649169" y="2834640"/>
            <a:ext cx="1140409" cy="3246120"/>
          </a:xfrm>
          <a:prstGeom prst="rect">
            <a:avLst/>
          </a:prstGeom>
          <a:noFill/>
          <a:ln/>
        </p:spPr>
        <p:txBody>
          <a:bodyPr wrap="square" lIns="0" tIns="0" rIns="0" bIns="0" rtlCol="0" anchor="t"/>
          <a:lstStyle/>
          <a:p>
            <a:pPr indent="0" marL="0">
              <a:buNone/>
            </a:pPr>
            <a:r>
              <a:rPr lang="en-US" sz="1600" dirty="0">
                <a:solidFill>
                  <a:srgbClr val="1F2933"/>
                </a:solidFill>
              </a:rPr>
              <a:t>新しいチャットで「議事録を作るSkillを作って」と目的を伝える</a:t>
            </a:r>
            <a:endParaRPr lang="en-US" sz="1600" dirty="0"/>
          </a:p>
        </p:txBody>
      </p:sp>
      <p:sp>
        <p:nvSpPr>
          <p:cNvPr id="15" name="Shape 12"/>
          <p:cNvSpPr/>
          <p:nvPr/>
        </p:nvSpPr>
        <p:spPr>
          <a:xfrm>
            <a:off x="4036466" y="3625596"/>
            <a:ext cx="283464" cy="292608"/>
          </a:xfrm>
          <a:prstGeom prst="rightArrow">
            <a:avLst/>
          </a:prstGeom>
          <a:solidFill>
            <a:srgbClr val="E36414"/>
          </a:solidFill>
          <a:ln w="12700">
            <a:solidFill>
              <a:srgbClr val="E36414"/>
            </a:solidFill>
            <a:prstDash val="solid"/>
          </a:ln>
        </p:spPr>
      </p:sp>
      <p:sp>
        <p:nvSpPr>
          <p:cNvPr id="16" name="step-3"/>
          <p:cNvSpPr/>
          <p:nvPr/>
        </p:nvSpPr>
        <p:spPr>
          <a:xfrm>
            <a:off x="4383938" y="1325880"/>
            <a:ext cx="1506169" cy="4892040"/>
          </a:xfrm>
          <a:prstGeom prst="roundRect">
            <a:avLst>
              <a:gd name="adj" fmla="val 7285"/>
            </a:avLst>
          </a:prstGeom>
          <a:solidFill>
            <a:srgbClr val="E6F0F2"/>
          </a:solidFill>
          <a:ln w="12700">
            <a:solidFill>
              <a:srgbClr val="E6F0F2"/>
            </a:solidFill>
            <a:prstDash val="solid"/>
          </a:ln>
        </p:spPr>
      </p:sp>
      <p:sp>
        <p:nvSpPr>
          <p:cNvPr id="17" name="Shape 14"/>
          <p:cNvSpPr/>
          <p:nvPr/>
        </p:nvSpPr>
        <p:spPr>
          <a:xfrm>
            <a:off x="4566818" y="1508760"/>
            <a:ext cx="457200" cy="457200"/>
          </a:xfrm>
          <a:prstGeom prst="ellipse">
            <a:avLst/>
          </a:prstGeom>
          <a:solidFill>
            <a:srgbClr val="0F4C5C"/>
          </a:solidFill>
          <a:ln w="12700">
            <a:solidFill>
              <a:srgbClr val="0F4C5C"/>
            </a:solidFill>
            <a:prstDash val="solid"/>
          </a:ln>
        </p:spPr>
      </p:sp>
      <p:sp>
        <p:nvSpPr>
          <p:cNvPr id="18" name="Text 15"/>
          <p:cNvSpPr txBox="1"/>
          <p:nvPr/>
        </p:nvSpPr>
        <p:spPr>
          <a:xfrm>
            <a:off x="456681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6"/>
          <p:cNvSpPr txBox="1"/>
          <p:nvPr/>
        </p:nvSpPr>
        <p:spPr>
          <a:xfrm>
            <a:off x="4566818" y="2103120"/>
            <a:ext cx="1140409" cy="685800"/>
          </a:xfrm>
          <a:prstGeom prst="rect">
            <a:avLst/>
          </a:prstGeom>
          <a:noFill/>
          <a:ln/>
        </p:spPr>
        <p:txBody>
          <a:bodyPr wrap="square" lIns="0" tIns="0" rIns="0" bIns="0" rtlCol="0" anchor="t"/>
          <a:lstStyle/>
          <a:p>
            <a:pPr indent="0" marL="0">
              <a:buNone/>
            </a:pPr>
            <a:r>
              <a:rPr lang="en-US" sz="1700" b="1" dirty="0">
                <a:solidFill>
                  <a:srgbClr val="0F4C5C"/>
                </a:solidFill>
              </a:rPr>
              <a:t>答える</a:t>
            </a:r>
            <a:endParaRPr lang="en-US" sz="1700" dirty="0"/>
          </a:p>
        </p:txBody>
      </p:sp>
      <p:sp>
        <p:nvSpPr>
          <p:cNvPr id="20" name="Text 17"/>
          <p:cNvSpPr txBox="1"/>
          <p:nvPr/>
        </p:nvSpPr>
        <p:spPr>
          <a:xfrm>
            <a:off x="4566818" y="2834640"/>
            <a:ext cx="1140409" cy="3246120"/>
          </a:xfrm>
          <a:prstGeom prst="rect">
            <a:avLst/>
          </a:prstGeom>
          <a:noFill/>
          <a:ln/>
        </p:spPr>
        <p:txBody>
          <a:bodyPr wrap="square" lIns="0" tIns="0" rIns="0" bIns="0" rtlCol="0" anchor="t"/>
          <a:lstStyle/>
          <a:p>
            <a:pPr indent="0" marL="0">
              <a:buNone/>
            </a:pPr>
            <a:r>
              <a:rPr lang="en-US" sz="1600" dirty="0">
                <a:solidFill>
                  <a:srgbClr val="1F2933"/>
                </a:solidFill>
              </a:rPr>
              <a:t>書式や頼み方の質問に、わかる範囲で答える</a:t>
            </a:r>
            <a:endParaRPr lang="en-US" sz="1600" dirty="0"/>
          </a:p>
        </p:txBody>
      </p:sp>
      <p:sp>
        <p:nvSpPr>
          <p:cNvPr id="21" name="Shape 18"/>
          <p:cNvSpPr/>
          <p:nvPr/>
        </p:nvSpPr>
        <p:spPr>
          <a:xfrm>
            <a:off x="5954116" y="3625596"/>
            <a:ext cx="283464" cy="292608"/>
          </a:xfrm>
          <a:prstGeom prst="rightArrow">
            <a:avLst/>
          </a:prstGeom>
          <a:solidFill>
            <a:srgbClr val="E36414"/>
          </a:solidFill>
          <a:ln w="12700">
            <a:solidFill>
              <a:srgbClr val="E36414"/>
            </a:solidFill>
            <a:prstDash val="solid"/>
          </a:ln>
        </p:spPr>
      </p:sp>
      <p:sp>
        <p:nvSpPr>
          <p:cNvPr id="22" name="step-4"/>
          <p:cNvSpPr/>
          <p:nvPr/>
        </p:nvSpPr>
        <p:spPr>
          <a:xfrm>
            <a:off x="6301588" y="1325880"/>
            <a:ext cx="1506169" cy="4892040"/>
          </a:xfrm>
          <a:prstGeom prst="roundRect">
            <a:avLst>
              <a:gd name="adj" fmla="val 7285"/>
            </a:avLst>
          </a:prstGeom>
          <a:solidFill>
            <a:srgbClr val="E6F0F2"/>
          </a:solidFill>
          <a:ln w="12700">
            <a:solidFill>
              <a:srgbClr val="E6F0F2"/>
            </a:solidFill>
            <a:prstDash val="solid"/>
          </a:ln>
        </p:spPr>
      </p:sp>
      <p:sp>
        <p:nvSpPr>
          <p:cNvPr id="23" name="Shape 20"/>
          <p:cNvSpPr/>
          <p:nvPr/>
        </p:nvSpPr>
        <p:spPr>
          <a:xfrm>
            <a:off x="6484468" y="1508760"/>
            <a:ext cx="457200" cy="457200"/>
          </a:xfrm>
          <a:prstGeom prst="ellipse">
            <a:avLst/>
          </a:prstGeom>
          <a:solidFill>
            <a:srgbClr val="0F4C5C"/>
          </a:solidFill>
          <a:ln w="12700">
            <a:solidFill>
              <a:srgbClr val="0F4C5C"/>
            </a:solidFill>
            <a:prstDash val="solid"/>
          </a:ln>
        </p:spPr>
      </p:sp>
      <p:sp>
        <p:nvSpPr>
          <p:cNvPr id="24" name="Text 21"/>
          <p:cNvSpPr txBox="1"/>
          <p:nvPr/>
        </p:nvSpPr>
        <p:spPr>
          <a:xfrm>
            <a:off x="648446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Text 22"/>
          <p:cNvSpPr txBox="1"/>
          <p:nvPr/>
        </p:nvSpPr>
        <p:spPr>
          <a:xfrm>
            <a:off x="6484468" y="2103120"/>
            <a:ext cx="1140409" cy="685800"/>
          </a:xfrm>
          <a:prstGeom prst="rect">
            <a:avLst/>
          </a:prstGeom>
          <a:noFill/>
          <a:ln/>
        </p:spPr>
        <p:txBody>
          <a:bodyPr wrap="square" lIns="0" tIns="0" rIns="0" bIns="0" rtlCol="0" anchor="t"/>
          <a:lstStyle/>
          <a:p>
            <a:pPr indent="0" marL="0">
              <a:buNone/>
            </a:pPr>
            <a:r>
              <a:rPr lang="en-US" sz="1700" b="1" dirty="0">
                <a:solidFill>
                  <a:srgbClr val="0F4C5C"/>
                </a:solidFill>
              </a:rPr>
              <a:t>保存する</a:t>
            </a:r>
            <a:endParaRPr lang="en-US" sz="1700" dirty="0"/>
          </a:p>
        </p:txBody>
      </p:sp>
      <p:sp>
        <p:nvSpPr>
          <p:cNvPr id="26" name="Text 23"/>
          <p:cNvSpPr txBox="1"/>
          <p:nvPr/>
        </p:nvSpPr>
        <p:spPr>
          <a:xfrm>
            <a:off x="6484468" y="2834640"/>
            <a:ext cx="1140409" cy="3246120"/>
          </a:xfrm>
          <a:prstGeom prst="rect">
            <a:avLst/>
          </a:prstGeom>
          <a:noFill/>
          <a:ln/>
        </p:spPr>
        <p:txBody>
          <a:bodyPr wrap="square" lIns="0" tIns="0" rIns="0" bIns="0" rtlCol="0" anchor="t"/>
          <a:lstStyle/>
          <a:p>
            <a:pPr indent="0" marL="0">
              <a:buNone/>
            </a:pPr>
            <a:r>
              <a:rPr lang="en-US" sz="1600" dirty="0">
                <a:solidFill>
                  <a:srgbClr val="1F2933"/>
                </a:solidFill>
              </a:rPr>
              <a:t>「</a:t>
            </a:r>
            <a:r>
              <a:rPr lang="en-US" sz="1600" b="1" dirty="0">
                <a:solidFill>
                  <a:srgbClr val="0F4C5C"/>
                </a:solidFill>
              </a:rPr>
              <a:t>Save skill</a:t>
            </a:r>
            <a:r>
              <a:rPr lang="en-US" sz="1600" dirty="0">
                <a:solidFill>
                  <a:srgbClr val="1F2933"/>
                </a:solidFill>
              </a:rPr>
              <a:t>」を押す（ない場合はダウンロード→方法C）</a:t>
            </a:r>
            <a:endParaRPr lang="en-US" sz="1600" dirty="0"/>
          </a:p>
        </p:txBody>
      </p:sp>
      <p:sp>
        <p:nvSpPr>
          <p:cNvPr id="27" name="Shape 24"/>
          <p:cNvSpPr/>
          <p:nvPr/>
        </p:nvSpPr>
        <p:spPr>
          <a:xfrm>
            <a:off x="7871765" y="3625596"/>
            <a:ext cx="283464" cy="292608"/>
          </a:xfrm>
          <a:prstGeom prst="rightArrow">
            <a:avLst/>
          </a:prstGeom>
          <a:solidFill>
            <a:srgbClr val="E36414"/>
          </a:solidFill>
          <a:ln w="12700">
            <a:solidFill>
              <a:srgbClr val="E36414"/>
            </a:solidFill>
            <a:prstDash val="solid"/>
          </a:ln>
        </p:spPr>
      </p:sp>
      <p:sp>
        <p:nvSpPr>
          <p:cNvPr id="28" name="step-5"/>
          <p:cNvSpPr/>
          <p:nvPr/>
        </p:nvSpPr>
        <p:spPr>
          <a:xfrm>
            <a:off x="8219237" y="1325880"/>
            <a:ext cx="1506169" cy="4892040"/>
          </a:xfrm>
          <a:prstGeom prst="roundRect">
            <a:avLst>
              <a:gd name="adj" fmla="val 7285"/>
            </a:avLst>
          </a:prstGeom>
          <a:solidFill>
            <a:srgbClr val="E6F0F2"/>
          </a:solidFill>
          <a:ln w="12700">
            <a:solidFill>
              <a:srgbClr val="E6F0F2"/>
            </a:solidFill>
            <a:prstDash val="solid"/>
          </a:ln>
        </p:spPr>
      </p:sp>
      <p:sp>
        <p:nvSpPr>
          <p:cNvPr id="29" name="Shape 26"/>
          <p:cNvSpPr/>
          <p:nvPr/>
        </p:nvSpPr>
        <p:spPr>
          <a:xfrm>
            <a:off x="8402117" y="1508760"/>
            <a:ext cx="457200" cy="457200"/>
          </a:xfrm>
          <a:prstGeom prst="ellipse">
            <a:avLst/>
          </a:prstGeom>
          <a:solidFill>
            <a:srgbClr val="0F4C5C"/>
          </a:solidFill>
          <a:ln w="12700">
            <a:solidFill>
              <a:srgbClr val="0F4C5C"/>
            </a:solidFill>
            <a:prstDash val="solid"/>
          </a:ln>
        </p:spPr>
      </p:sp>
      <p:sp>
        <p:nvSpPr>
          <p:cNvPr id="30" name="Text 27"/>
          <p:cNvSpPr txBox="1"/>
          <p:nvPr/>
        </p:nvSpPr>
        <p:spPr>
          <a:xfrm>
            <a:off x="8402117"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1" name="Text 28"/>
          <p:cNvSpPr txBox="1"/>
          <p:nvPr/>
        </p:nvSpPr>
        <p:spPr>
          <a:xfrm>
            <a:off x="8402117" y="2103120"/>
            <a:ext cx="1140409" cy="685800"/>
          </a:xfrm>
          <a:prstGeom prst="rect">
            <a:avLst/>
          </a:prstGeom>
          <a:noFill/>
          <a:ln/>
        </p:spPr>
        <p:txBody>
          <a:bodyPr wrap="square" lIns="0" tIns="0" rIns="0" bIns="0" rtlCol="0" anchor="t"/>
          <a:lstStyle/>
          <a:p>
            <a:pPr indent="0" marL="0">
              <a:buNone/>
            </a:pPr>
            <a:r>
              <a:rPr lang="en-US" sz="1700" b="1" dirty="0">
                <a:solidFill>
                  <a:srgbClr val="0F4C5C"/>
                </a:solidFill>
              </a:rPr>
              <a:t>確認する</a:t>
            </a:r>
            <a:endParaRPr lang="en-US" sz="1700" dirty="0"/>
          </a:p>
        </p:txBody>
      </p:sp>
      <p:sp>
        <p:nvSpPr>
          <p:cNvPr id="32" name="Text 29"/>
          <p:cNvSpPr txBox="1"/>
          <p:nvPr/>
        </p:nvSpPr>
        <p:spPr>
          <a:xfrm>
            <a:off x="8402117" y="2834640"/>
            <a:ext cx="1140409" cy="3246120"/>
          </a:xfrm>
          <a:prstGeom prst="rect">
            <a:avLst/>
          </a:prstGeom>
          <a:noFill/>
          <a:ln/>
        </p:spPr>
        <p:txBody>
          <a:bodyPr wrap="square" lIns="0" tIns="0" rIns="0" bIns="0" rtlCol="0" anchor="t"/>
          <a:lstStyle/>
          <a:p>
            <a:pPr indent="0" marL="0">
              <a:buNone/>
            </a:pPr>
            <a:r>
              <a:rPr lang="en-US" sz="1600" dirty="0">
                <a:solidFill>
                  <a:srgbClr val="1F2933"/>
                </a:solidFill>
              </a:rPr>
              <a:t>カスタマイズ &gt; スキルでオンになっているか</a:t>
            </a:r>
            <a:endParaRPr lang="en-US" sz="1600" dirty="0"/>
          </a:p>
        </p:txBody>
      </p:sp>
      <p:sp>
        <p:nvSpPr>
          <p:cNvPr id="33" name="Shape 30"/>
          <p:cNvSpPr/>
          <p:nvPr/>
        </p:nvSpPr>
        <p:spPr>
          <a:xfrm>
            <a:off x="9789414" y="3625596"/>
            <a:ext cx="283464" cy="292608"/>
          </a:xfrm>
          <a:prstGeom prst="rightArrow">
            <a:avLst/>
          </a:prstGeom>
          <a:solidFill>
            <a:srgbClr val="E36414"/>
          </a:solidFill>
          <a:ln w="12700">
            <a:solidFill>
              <a:srgbClr val="E36414"/>
            </a:solidFill>
            <a:prstDash val="solid"/>
          </a:ln>
        </p:spPr>
      </p:sp>
      <p:sp>
        <p:nvSpPr>
          <p:cNvPr id="34" name="step-6"/>
          <p:cNvSpPr/>
          <p:nvPr/>
        </p:nvSpPr>
        <p:spPr>
          <a:xfrm>
            <a:off x="10136886" y="1325880"/>
            <a:ext cx="1506169" cy="4892040"/>
          </a:xfrm>
          <a:prstGeom prst="roundRect">
            <a:avLst>
              <a:gd name="adj" fmla="val 7285"/>
            </a:avLst>
          </a:prstGeom>
          <a:solidFill>
            <a:srgbClr val="E6F0F2"/>
          </a:solidFill>
          <a:ln w="12700">
            <a:solidFill>
              <a:srgbClr val="E6F0F2"/>
            </a:solidFill>
            <a:prstDash val="solid"/>
          </a:ln>
        </p:spPr>
      </p:sp>
      <p:sp>
        <p:nvSpPr>
          <p:cNvPr id="35" name="Shape 32"/>
          <p:cNvSpPr/>
          <p:nvPr/>
        </p:nvSpPr>
        <p:spPr>
          <a:xfrm>
            <a:off x="10319766" y="1508760"/>
            <a:ext cx="457200" cy="457200"/>
          </a:xfrm>
          <a:prstGeom prst="ellipse">
            <a:avLst/>
          </a:prstGeom>
          <a:solidFill>
            <a:srgbClr val="0F4C5C"/>
          </a:solidFill>
          <a:ln w="12700">
            <a:solidFill>
              <a:srgbClr val="0F4C5C"/>
            </a:solidFill>
            <a:prstDash val="solid"/>
          </a:ln>
        </p:spPr>
      </p:sp>
      <p:sp>
        <p:nvSpPr>
          <p:cNvPr id="36" name="Text 33"/>
          <p:cNvSpPr txBox="1"/>
          <p:nvPr/>
        </p:nvSpPr>
        <p:spPr>
          <a:xfrm>
            <a:off x="10319766"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7" name="Text 34"/>
          <p:cNvSpPr txBox="1"/>
          <p:nvPr/>
        </p:nvSpPr>
        <p:spPr>
          <a:xfrm>
            <a:off x="10319766" y="2103120"/>
            <a:ext cx="1140409" cy="685800"/>
          </a:xfrm>
          <a:prstGeom prst="rect">
            <a:avLst/>
          </a:prstGeom>
          <a:noFill/>
          <a:ln/>
        </p:spPr>
        <p:txBody>
          <a:bodyPr wrap="square" lIns="0" tIns="0" rIns="0" bIns="0" rtlCol="0" anchor="t"/>
          <a:lstStyle/>
          <a:p>
            <a:pPr indent="0" marL="0">
              <a:buNone/>
            </a:pPr>
            <a:r>
              <a:rPr lang="en-US" sz="1700" b="1" dirty="0">
                <a:solidFill>
                  <a:srgbClr val="0F4C5C"/>
                </a:solidFill>
              </a:rPr>
              <a:t>試す</a:t>
            </a:r>
            <a:endParaRPr lang="en-US" sz="1700" dirty="0"/>
          </a:p>
        </p:txBody>
      </p:sp>
      <p:sp>
        <p:nvSpPr>
          <p:cNvPr id="38" name="Text 35"/>
          <p:cNvSpPr txBox="1"/>
          <p:nvPr/>
        </p:nvSpPr>
        <p:spPr>
          <a:xfrm>
            <a:off x="10319766" y="2834640"/>
            <a:ext cx="1140409" cy="3246120"/>
          </a:xfrm>
          <a:prstGeom prst="rect">
            <a:avLst/>
          </a:prstGeom>
          <a:noFill/>
          <a:ln/>
        </p:spPr>
        <p:txBody>
          <a:bodyPr wrap="square" lIns="0" tIns="0" rIns="0" bIns="0" rtlCol="0" anchor="t"/>
          <a:lstStyle/>
          <a:p>
            <a:pPr indent="0" marL="0">
              <a:buNone/>
            </a:pPr>
            <a:r>
              <a:rPr lang="en-US" sz="1600" b="1" dirty="0">
                <a:solidFill>
                  <a:srgbClr val="0F4C5C"/>
                </a:solidFill>
              </a:rPr>
              <a:t>新しいチャット</a:t>
            </a:r>
            <a:r>
              <a:rPr lang="en-US" sz="1600" dirty="0">
                <a:solidFill>
                  <a:srgbClr val="1F2933"/>
                </a:solidFill>
              </a:rPr>
              <a:t>でメモを貼り「議事録にして」</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方法B: ChatGPTで作る</a:t>
            </a:r>
            <a:endParaRPr lang="en-US" sz="3000" dirty="0"/>
          </a:p>
        </p:txBody>
      </p:sp>
      <p:sp>
        <p:nvSpPr>
          <p:cNvPr id="4" name="step-1"/>
          <p:cNvSpPr/>
          <p:nvPr/>
        </p:nvSpPr>
        <p:spPr>
          <a:xfrm>
            <a:off x="548640" y="1325880"/>
            <a:ext cx="2464994" cy="3886200"/>
          </a:xfrm>
          <a:prstGeom prst="roundRect">
            <a:avLst>
              <a:gd name="adj" fmla="val 445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0F4C5C"/>
          </a:solidFill>
          <a:ln w="12700">
            <a:solidFill>
              <a:srgbClr val="0F4C5C"/>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31520"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Skills画面を開く</a:t>
            </a:r>
            <a:endParaRPr lang="en-US" sz="1800" dirty="0"/>
          </a:p>
        </p:txBody>
      </p:sp>
      <p:sp>
        <p:nvSpPr>
          <p:cNvPr id="8" name="Text 5"/>
          <p:cNvSpPr txBox="1"/>
          <p:nvPr/>
        </p:nvSpPr>
        <p:spPr>
          <a:xfrm>
            <a:off x="731520"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「Plugins」内のSkillsタブという情報あり（</a:t>
            </a:r>
            <a:r>
              <a:rPr lang="en-US" sz="1800" b="1" dirty="0">
                <a:solidFill>
                  <a:srgbClr val="0F4C5C"/>
                </a:solidFill>
              </a:rPr>
              <a:t>要確認</a:t>
            </a:r>
            <a:r>
              <a:rPr lang="en-US" sz="1800" dirty="0">
                <a:solidFill>
                  <a:srgbClr val="1F2933"/>
                </a:solidFill>
              </a:rPr>
              <a:t>）</a:t>
            </a:r>
            <a:endParaRPr lang="en-US" sz="1800" dirty="0"/>
          </a:p>
        </p:txBody>
      </p:sp>
      <p:sp>
        <p:nvSpPr>
          <p:cNvPr id="9" name="Shape 6"/>
          <p:cNvSpPr/>
          <p:nvPr/>
        </p:nvSpPr>
        <p:spPr>
          <a:xfrm>
            <a:off x="3077642" y="3122676"/>
            <a:ext cx="283464" cy="292608"/>
          </a:xfrm>
          <a:prstGeom prst="rightArrow">
            <a:avLst/>
          </a:prstGeom>
          <a:solidFill>
            <a:srgbClr val="E36414"/>
          </a:solidFill>
          <a:ln w="12700">
            <a:solidFill>
              <a:srgbClr val="E36414"/>
            </a:solidFill>
            <a:prstDash val="solid"/>
          </a:ln>
        </p:spPr>
      </p:sp>
      <p:sp>
        <p:nvSpPr>
          <p:cNvPr id="10" name="step-2"/>
          <p:cNvSpPr/>
          <p:nvPr/>
        </p:nvSpPr>
        <p:spPr>
          <a:xfrm>
            <a:off x="3425114" y="1325880"/>
            <a:ext cx="2464994" cy="3886200"/>
          </a:xfrm>
          <a:prstGeom prst="roundRect">
            <a:avLst>
              <a:gd name="adj" fmla="val 4451"/>
            </a:avLst>
          </a:prstGeom>
          <a:solidFill>
            <a:srgbClr val="E6F0F2"/>
          </a:solidFill>
          <a:ln w="12700">
            <a:solidFill>
              <a:srgbClr val="E6F0F2"/>
            </a:solidFill>
            <a:prstDash val="solid"/>
          </a:ln>
        </p:spPr>
      </p:sp>
      <p:sp>
        <p:nvSpPr>
          <p:cNvPr id="11" name="Shape 8"/>
          <p:cNvSpPr/>
          <p:nvPr/>
        </p:nvSpPr>
        <p:spPr>
          <a:xfrm>
            <a:off x="3607994" y="1508760"/>
            <a:ext cx="457200" cy="457200"/>
          </a:xfrm>
          <a:prstGeom prst="ellipse">
            <a:avLst/>
          </a:prstGeom>
          <a:solidFill>
            <a:srgbClr val="0F4C5C"/>
          </a:solidFill>
          <a:ln w="12700">
            <a:solidFill>
              <a:srgbClr val="0F4C5C"/>
            </a:solidFill>
            <a:prstDash val="solid"/>
          </a:ln>
        </p:spPr>
      </p:sp>
      <p:sp>
        <p:nvSpPr>
          <p:cNvPr id="12" name="Text 9"/>
          <p:cNvSpPr txBox="1"/>
          <p:nvPr/>
        </p:nvSpPr>
        <p:spPr>
          <a:xfrm>
            <a:off x="3607994"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3607994"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Createを選ぶ</a:t>
            </a:r>
            <a:endParaRPr lang="en-US" sz="1800" dirty="0"/>
          </a:p>
        </p:txBody>
      </p:sp>
      <p:sp>
        <p:nvSpPr>
          <p:cNvPr id="14" name="Text 11"/>
          <p:cNvSpPr txBox="1"/>
          <p:nvPr/>
        </p:nvSpPr>
        <p:spPr>
          <a:xfrm>
            <a:off x="3607994"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Create with chat / Create with editor / Upload from your computer</a:t>
            </a:r>
            <a:endParaRPr lang="en-US" sz="1800" dirty="0"/>
          </a:p>
        </p:txBody>
      </p:sp>
      <p:sp>
        <p:nvSpPr>
          <p:cNvPr id="15" name="Shape 12"/>
          <p:cNvSpPr/>
          <p:nvPr/>
        </p:nvSpPr>
        <p:spPr>
          <a:xfrm>
            <a:off x="5954116" y="3122676"/>
            <a:ext cx="283464" cy="292608"/>
          </a:xfrm>
          <a:prstGeom prst="rightArrow">
            <a:avLst/>
          </a:prstGeom>
          <a:solidFill>
            <a:srgbClr val="E36414"/>
          </a:solidFill>
          <a:ln w="12700">
            <a:solidFill>
              <a:srgbClr val="E36414"/>
            </a:solidFill>
            <a:prstDash val="solid"/>
          </a:ln>
        </p:spPr>
      </p:sp>
      <p:sp>
        <p:nvSpPr>
          <p:cNvPr id="16" name="step-3"/>
          <p:cNvSpPr/>
          <p:nvPr/>
        </p:nvSpPr>
        <p:spPr>
          <a:xfrm>
            <a:off x="6301588" y="1325880"/>
            <a:ext cx="2464994" cy="3886200"/>
          </a:xfrm>
          <a:prstGeom prst="roundRect">
            <a:avLst>
              <a:gd name="adj" fmla="val 4451"/>
            </a:avLst>
          </a:prstGeom>
          <a:solidFill>
            <a:srgbClr val="E6F0F2"/>
          </a:solidFill>
          <a:ln w="12700">
            <a:solidFill>
              <a:srgbClr val="E6F0F2"/>
            </a:solidFill>
            <a:prstDash val="solid"/>
          </a:ln>
        </p:spPr>
      </p:sp>
      <p:sp>
        <p:nvSpPr>
          <p:cNvPr id="17" name="Shape 14"/>
          <p:cNvSpPr/>
          <p:nvPr/>
        </p:nvSpPr>
        <p:spPr>
          <a:xfrm>
            <a:off x="6484468" y="1508760"/>
            <a:ext cx="457200" cy="457200"/>
          </a:xfrm>
          <a:prstGeom prst="ellipse">
            <a:avLst/>
          </a:prstGeom>
          <a:solidFill>
            <a:srgbClr val="0F4C5C"/>
          </a:solidFill>
          <a:ln w="12700">
            <a:solidFill>
              <a:srgbClr val="0F4C5C"/>
            </a:solidFill>
            <a:prstDash val="solid"/>
          </a:ln>
        </p:spPr>
      </p:sp>
      <p:sp>
        <p:nvSpPr>
          <p:cNvPr id="18" name="Text 15"/>
          <p:cNvSpPr txBox="1"/>
          <p:nvPr/>
        </p:nvSpPr>
        <p:spPr>
          <a:xfrm>
            <a:off x="648446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6"/>
          <p:cNvSpPr txBox="1"/>
          <p:nvPr/>
        </p:nvSpPr>
        <p:spPr>
          <a:xfrm>
            <a:off x="6484468"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チャットで相談</a:t>
            </a:r>
            <a:endParaRPr lang="en-US" sz="1800" dirty="0"/>
          </a:p>
        </p:txBody>
      </p:sp>
      <p:sp>
        <p:nvSpPr>
          <p:cNvPr id="20" name="Text 17"/>
          <p:cNvSpPr txBox="1"/>
          <p:nvPr/>
        </p:nvSpPr>
        <p:spPr>
          <a:xfrm>
            <a:off x="6484468"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作りたいSkillを説明し、質問に答える</a:t>
            </a:r>
            <a:endParaRPr lang="en-US" sz="1800" dirty="0"/>
          </a:p>
        </p:txBody>
      </p:sp>
      <p:sp>
        <p:nvSpPr>
          <p:cNvPr id="21" name="Shape 18"/>
          <p:cNvSpPr/>
          <p:nvPr/>
        </p:nvSpPr>
        <p:spPr>
          <a:xfrm>
            <a:off x="8830589" y="3122676"/>
            <a:ext cx="283464" cy="292608"/>
          </a:xfrm>
          <a:prstGeom prst="rightArrow">
            <a:avLst/>
          </a:prstGeom>
          <a:solidFill>
            <a:srgbClr val="E36414"/>
          </a:solidFill>
          <a:ln w="12700">
            <a:solidFill>
              <a:srgbClr val="E36414"/>
            </a:solidFill>
            <a:prstDash val="solid"/>
          </a:ln>
        </p:spPr>
      </p:sp>
      <p:sp>
        <p:nvSpPr>
          <p:cNvPr id="22" name="step-4"/>
          <p:cNvSpPr/>
          <p:nvPr/>
        </p:nvSpPr>
        <p:spPr>
          <a:xfrm>
            <a:off x="9178061" y="1325880"/>
            <a:ext cx="2464994" cy="3886200"/>
          </a:xfrm>
          <a:prstGeom prst="roundRect">
            <a:avLst>
              <a:gd name="adj" fmla="val 4451"/>
            </a:avLst>
          </a:prstGeom>
          <a:solidFill>
            <a:srgbClr val="E6F0F2"/>
          </a:solidFill>
          <a:ln w="12700">
            <a:solidFill>
              <a:srgbClr val="E6F0F2"/>
            </a:solidFill>
            <a:prstDash val="solid"/>
          </a:ln>
        </p:spPr>
      </p:sp>
      <p:sp>
        <p:nvSpPr>
          <p:cNvPr id="23" name="Shape 20"/>
          <p:cNvSpPr/>
          <p:nvPr/>
        </p:nvSpPr>
        <p:spPr>
          <a:xfrm>
            <a:off x="9360941" y="1508760"/>
            <a:ext cx="457200" cy="457200"/>
          </a:xfrm>
          <a:prstGeom prst="ellipse">
            <a:avLst/>
          </a:prstGeom>
          <a:solidFill>
            <a:srgbClr val="0F4C5C"/>
          </a:solidFill>
          <a:ln w="12700">
            <a:solidFill>
              <a:srgbClr val="0F4C5C"/>
            </a:solidFill>
            <a:prstDash val="solid"/>
          </a:ln>
        </p:spPr>
      </p:sp>
      <p:sp>
        <p:nvSpPr>
          <p:cNvPr id="24" name="Text 21"/>
          <p:cNvSpPr txBox="1"/>
          <p:nvPr/>
        </p:nvSpPr>
        <p:spPr>
          <a:xfrm>
            <a:off x="9360941"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Text 22"/>
          <p:cNvSpPr txBox="1"/>
          <p:nvPr/>
        </p:nvSpPr>
        <p:spPr>
          <a:xfrm>
            <a:off x="9360941"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保存して試す</a:t>
            </a:r>
            <a:endParaRPr lang="en-US" sz="1800" dirty="0"/>
          </a:p>
        </p:txBody>
      </p:sp>
      <p:sp>
        <p:nvSpPr>
          <p:cNvPr id="26" name="Text 23"/>
          <p:cNvSpPr txBox="1"/>
          <p:nvPr/>
        </p:nvSpPr>
        <p:spPr>
          <a:xfrm>
            <a:off x="9360941" y="2834640"/>
            <a:ext cx="2099234" cy="2240280"/>
          </a:xfrm>
          <a:prstGeom prst="rect">
            <a:avLst/>
          </a:prstGeom>
          <a:noFill/>
          <a:ln/>
        </p:spPr>
        <p:txBody>
          <a:bodyPr wrap="square" lIns="0" tIns="0" rIns="0" bIns="0" rtlCol="0" anchor="t"/>
          <a:lstStyle/>
          <a:p>
            <a:pPr indent="0" marL="0">
              <a:buNone/>
            </a:pPr>
            <a:r>
              <a:rPr lang="en-US" sz="1800" dirty="0">
                <a:solidFill>
                  <a:srgbClr val="1F2933"/>
                </a:solidFill>
              </a:rPr>
              <a:t>新しいチャットで試す</a:t>
            </a:r>
            <a:endParaRPr lang="en-US" sz="1800" dirty="0"/>
          </a:p>
        </p:txBody>
      </p:sp>
      <p:sp>
        <p:nvSpPr>
          <p:cNvPr id="27" name="Shape 24"/>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28" name="Text 25"/>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アップロードしたSkillは、利用可能になる前に</a:t>
            </a:r>
            <a:r>
              <a:rPr lang="en-US" sz="1800" b="1" dirty="0">
                <a:solidFill>
                  <a:srgbClr val="E36414"/>
                </a:solidFill>
              </a:rPr>
              <a:t>ChatGPT側で安全性チェック</a:t>
            </a:r>
            <a:r>
              <a:rPr lang="en-US" sz="1800" dirty="0">
                <a:solidFill>
                  <a:srgbClr val="1F2933"/>
                </a:solidFill>
              </a:rPr>
              <a:t>が行われる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方法C: 自分で書いてアップロード（Claude.ai）</a:t>
            </a:r>
            <a:endParaRPr lang="en-US" sz="3000" dirty="0"/>
          </a:p>
        </p:txBody>
      </p:sp>
      <p:sp>
        <p:nvSpPr>
          <p:cNvPr id="4" name="Text 1"/>
          <p:cNvSpPr txBox="1"/>
          <p:nvPr/>
        </p:nvSpPr>
        <p:spPr>
          <a:xfrm>
            <a:off x="548640" y="1325880"/>
            <a:ext cx="5318608" cy="4892040"/>
          </a:xfrm>
          <a:prstGeom prst="rect">
            <a:avLst/>
          </a:prstGeom>
          <a:noFill/>
          <a:ln/>
        </p:spPr>
        <p:txBody>
          <a:bodyPr wrap="square" lIns="0" tIns="0" rIns="0" bIns="0" rtlCol="0" anchor="t"/>
          <a:lstStyle/>
          <a:p>
            <a:pPr marL="254000" indent="-254000">
              <a:spcAft>
                <a:spcPts val="1000"/>
              </a:spcAft>
              <a:buSzPct val="100000"/>
              <a:buChar char="●"/>
            </a:pPr>
            <a:r>
              <a:rPr lang="en-US" sz="1500" b="1" dirty="0">
                <a:solidFill>
                  <a:srgbClr val="0F4C5C"/>
                </a:solidFill>
              </a:rPr>
              <a:t>1.</a:t>
            </a:r>
            <a:r>
              <a:rPr lang="en-US" sz="1500" dirty="0">
                <a:solidFill>
                  <a:srgbClr val="1F2933"/>
                </a:solidFill>
              </a:rPr>
              <a:t> </a:t>
            </a:r>
            <a:r>
              <a:rPr lang="en-US" sz="1500" dirty="0">
                <a:solidFill>
                  <a:srgbClr val="1F2933"/>
                </a:solidFill>
                <a:latin typeface="Consolas" pitchFamily="34" charset="0"/>
                <a:ea typeface="メイリオ" pitchFamily="34" charset="-122"/>
                <a:cs typeface="Consolas" pitchFamily="34" charset="-120"/>
              </a:rPr>
              <a:t>meeting-minutes</a:t>
            </a:r>
            <a:r>
              <a:rPr lang="en-US" sz="1500" dirty="0">
                <a:solidFill>
                  <a:srgbClr val="1F2933"/>
                </a:solidFill>
              </a:rPr>
              <a:t> フォルダを作る</a:t>
            </a:r>
            <a:endParaRPr lang="en-US" sz="1500" dirty="0"/>
          </a:p>
          <a:p>
            <a:pPr marL="254000" indent="-254000">
              <a:spcAft>
                <a:spcPts val="1000"/>
              </a:spcAft>
              <a:buSzPct val="100000"/>
              <a:buChar char="●"/>
            </a:pPr>
            <a:r>
              <a:rPr lang="en-US" sz="1500" b="1" dirty="0">
                <a:solidFill>
                  <a:srgbClr val="0F4C5C"/>
                </a:solidFill>
              </a:rPr>
              <a:t>2.</a:t>
            </a:r>
            <a:r>
              <a:rPr lang="en-US" sz="1500" dirty="0">
                <a:solidFill>
                  <a:srgbClr val="1F2933"/>
                </a:solidFill>
              </a:rPr>
              <a:t> メモ帳で SKILL.md を書く（第3章の例を貼る）</a:t>
            </a:r>
            <a:endParaRPr lang="en-US" sz="1500" dirty="0"/>
          </a:p>
          <a:p>
            <a:pPr marL="254000" indent="-254000">
              <a:spcAft>
                <a:spcPts val="1000"/>
              </a:spcAft>
              <a:buSzPct val="100000"/>
              <a:buChar char="●"/>
            </a:pPr>
            <a:r>
              <a:rPr lang="en-US" sz="1500" b="1" dirty="0">
                <a:solidFill>
                  <a:srgbClr val="0F4C5C"/>
                </a:solidFill>
              </a:rPr>
              <a:t>3.</a:t>
            </a:r>
            <a:r>
              <a:rPr lang="en-US" sz="1500" dirty="0">
                <a:solidFill>
                  <a:srgbClr val="1F2933"/>
                </a:solidFill>
              </a:rPr>
              <a:t> 保存: ファイル名 </a:t>
            </a:r>
            <a:r>
              <a:rPr lang="en-US" sz="1500" dirty="0">
                <a:solidFill>
                  <a:srgbClr val="1F2933"/>
                </a:solidFill>
                <a:latin typeface="Consolas" pitchFamily="34" charset="0"/>
                <a:ea typeface="メイリオ" pitchFamily="34" charset="-122"/>
                <a:cs typeface="Consolas" pitchFamily="34" charset="-120"/>
              </a:rPr>
              <a:t>SKILL.md</a:t>
            </a:r>
            <a:r>
              <a:rPr lang="en-US" sz="1500" dirty="0">
                <a:solidFill>
                  <a:srgbClr val="1F2933"/>
                </a:solidFill>
              </a:rPr>
              <a:t>（大文字）、種類「</a:t>
            </a:r>
            <a:r>
              <a:rPr lang="en-US" sz="1500" b="1" dirty="0">
                <a:solidFill>
                  <a:srgbClr val="0F4C5C"/>
                </a:solidFill>
              </a:rPr>
              <a:t>すべてのファイル</a:t>
            </a:r>
            <a:r>
              <a:rPr lang="en-US" sz="1500" dirty="0">
                <a:solidFill>
                  <a:srgbClr val="1F2933"/>
                </a:solidFill>
              </a:rPr>
              <a:t>」、文字コード </a:t>
            </a:r>
            <a:r>
              <a:rPr lang="en-US" sz="1500" b="1" dirty="0">
                <a:solidFill>
                  <a:srgbClr val="0F4C5C"/>
                </a:solidFill>
              </a:rPr>
              <a:t>UTF-8</a:t>
            </a:r>
            <a:endParaRPr lang="en-US" sz="1500" dirty="0"/>
          </a:p>
          <a:p>
            <a:pPr marL="254000" indent="-254000">
              <a:spcAft>
                <a:spcPts val="1000"/>
              </a:spcAft>
              <a:buSzPct val="100000"/>
              <a:buChar char="●"/>
            </a:pPr>
            <a:r>
              <a:rPr lang="en-US" sz="1500" b="1" dirty="0">
                <a:solidFill>
                  <a:srgbClr val="0F4C5C"/>
                </a:solidFill>
              </a:rPr>
              <a:t>4.</a:t>
            </a:r>
            <a:r>
              <a:rPr lang="en-US" sz="1500" dirty="0">
                <a:solidFill>
                  <a:srgbClr val="1F2933"/>
                </a:solidFill>
              </a:rPr>
              <a:t> </a:t>
            </a:r>
            <a:r>
              <a:rPr lang="en-US" sz="1500" b="1" dirty="0">
                <a:solidFill>
                  <a:srgbClr val="0F4C5C"/>
                </a:solidFill>
              </a:rPr>
              <a:t>フォルダ自体</a:t>
            </a:r>
            <a:r>
              <a:rPr lang="en-US" sz="1500" dirty="0">
                <a:solidFill>
                  <a:srgbClr val="1F2933"/>
                </a:solidFill>
              </a:rPr>
              <a:t>を右クリック →「送る」→「圧縮（zip形式）フォルダー」</a:t>
            </a:r>
            <a:endParaRPr lang="en-US" sz="1500" dirty="0"/>
          </a:p>
          <a:p>
            <a:pPr marL="254000" indent="-254000">
              <a:spcAft>
                <a:spcPts val="1000"/>
              </a:spcAft>
              <a:buSzPct val="100000"/>
              <a:buChar char="●"/>
            </a:pPr>
            <a:r>
              <a:rPr lang="en-US" sz="1500" b="1" dirty="0">
                <a:solidFill>
                  <a:srgbClr val="0F4C5C"/>
                </a:solidFill>
              </a:rPr>
              <a:t>5.</a:t>
            </a:r>
            <a:r>
              <a:rPr lang="en-US" sz="1500" dirty="0">
                <a:solidFill>
                  <a:srgbClr val="1F2933"/>
                </a:solidFill>
              </a:rPr>
              <a:t> カスタマイズ &gt; スキル →「＋」→「＋ Create skill」→「Upload a skill」</a:t>
            </a:r>
            <a:endParaRPr lang="en-US" sz="1500" dirty="0"/>
          </a:p>
          <a:p>
            <a:pPr marL="254000" indent="-254000">
              <a:spcAft>
                <a:spcPts val="1000"/>
              </a:spcAft>
              <a:buSzPct val="100000"/>
              <a:buChar char="●"/>
            </a:pPr>
            <a:r>
              <a:rPr lang="en-US" sz="1500" b="1" dirty="0">
                <a:solidFill>
                  <a:srgbClr val="0F4C5C"/>
                </a:solidFill>
              </a:rPr>
              <a:t>6.</a:t>
            </a:r>
            <a:r>
              <a:rPr lang="en-US" sz="1500" dirty="0">
                <a:solidFill>
                  <a:srgbClr val="1F2933"/>
                </a:solidFill>
              </a:rPr>
              <a:t> ZIPをアップロードし、オンになっていれば完了</a:t>
            </a:r>
            <a:endParaRPr lang="en-US" sz="1500" dirty="0"/>
          </a:p>
        </p:txBody>
      </p:sp>
      <p:sp>
        <p:nvSpPr>
          <p:cNvPr id="5" name="Text 2"/>
          <p:cNvSpPr txBox="1"/>
          <p:nvPr/>
        </p:nvSpPr>
        <p:spPr>
          <a:xfrm>
            <a:off x="6324448" y="1325880"/>
            <a:ext cx="5318608" cy="365760"/>
          </a:xfrm>
          <a:prstGeom prst="rect">
            <a:avLst/>
          </a:prstGeom>
          <a:noFill/>
          <a:ln/>
        </p:spPr>
        <p:txBody>
          <a:bodyPr wrap="square" lIns="0" tIns="0" rIns="0" bIns="0" rtlCol="0" anchor="t"/>
          <a:lstStyle/>
          <a:p>
            <a:pPr indent="0" marL="0">
              <a:buNone/>
            </a:pPr>
            <a:r>
              <a:rPr lang="en-US" sz="1800" b="1" dirty="0">
                <a:solidFill>
                  <a:srgbClr val="0F4C5C"/>
                </a:solidFill>
              </a:rPr>
              <a:t>ZIPの中身</a:t>
            </a:r>
            <a:endParaRPr lang="en-US" sz="1800" dirty="0"/>
          </a:p>
        </p:txBody>
      </p:sp>
      <p:sp>
        <p:nvSpPr>
          <p:cNvPr id="6" name="card-1"/>
          <p:cNvSpPr/>
          <p:nvPr/>
        </p:nvSpPr>
        <p:spPr>
          <a:xfrm>
            <a:off x="6324448" y="1783080"/>
            <a:ext cx="2522144" cy="2926080"/>
          </a:xfrm>
          <a:prstGeom prst="roundRect">
            <a:avLst>
              <a:gd name="adj" fmla="val 4351"/>
            </a:avLst>
          </a:prstGeom>
          <a:solidFill>
            <a:srgbClr val="E6F0F2"/>
          </a:solidFill>
          <a:ln w="12700">
            <a:solidFill>
              <a:srgbClr val="E6F0F2"/>
            </a:solidFill>
            <a:prstDash val="solid"/>
          </a:ln>
        </p:spPr>
      </p:sp>
      <p:sp>
        <p:nvSpPr>
          <p:cNvPr id="7" name="Text 4"/>
          <p:cNvSpPr txBox="1"/>
          <p:nvPr/>
        </p:nvSpPr>
        <p:spPr>
          <a:xfrm>
            <a:off x="6553048" y="1965960"/>
            <a:ext cx="2064944" cy="457200"/>
          </a:xfrm>
          <a:prstGeom prst="rect">
            <a:avLst/>
          </a:prstGeom>
          <a:noFill/>
          <a:ln/>
        </p:spPr>
        <p:txBody>
          <a:bodyPr wrap="square" lIns="0" tIns="0" rIns="0" bIns="0" rtlCol="0" anchor="ctr"/>
          <a:lstStyle/>
          <a:p>
            <a:pPr indent="0" marL="0">
              <a:buNone/>
            </a:pPr>
            <a:r>
              <a:rPr lang="en-US" sz="2000" b="1" dirty="0">
                <a:solidFill>
                  <a:srgbClr val="0F4C5C"/>
                </a:solidFill>
              </a:rPr>
              <a:t>正しい</a:t>
            </a:r>
            <a:endParaRPr lang="en-US" sz="2000" dirty="0"/>
          </a:p>
        </p:txBody>
      </p:sp>
      <p:sp>
        <p:nvSpPr>
          <p:cNvPr id="8" name="Text 5"/>
          <p:cNvSpPr txBox="1"/>
          <p:nvPr/>
        </p:nvSpPr>
        <p:spPr>
          <a:xfrm>
            <a:off x="6553048" y="2560320"/>
            <a:ext cx="2064944" cy="20116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my-skill.zip</a:t>
            </a:r>
            <a:endParaRPr lang="en-US" sz="1600" dirty="0"/>
          </a:p>
          <a:p>
            <a:pPr indent="0" marL="0">
              <a:spcAft>
                <a:spcPts val="600"/>
              </a:spcAft>
              <a:buNone/>
            </a:pPr>
            <a:r>
              <a:rPr lang="en-US" sz="1600" dirty="0">
                <a:solidFill>
                  <a:srgbClr val="1F2933"/>
                </a:solidFill>
              </a:rPr>
              <a:t>└ meeting-minutes/</a:t>
            </a:r>
            <a:endParaRPr lang="en-US" sz="1600" dirty="0"/>
          </a:p>
          <a:p>
            <a:pPr indent="0" marL="0">
              <a:spcAft>
                <a:spcPts val="600"/>
              </a:spcAft>
              <a:buNone/>
            </a:pPr>
            <a:r>
              <a:rPr lang="en-US" sz="1600" dirty="0">
                <a:solidFill>
                  <a:srgbClr val="1F2933"/>
                </a:solidFill>
              </a:rPr>
              <a:t>    └ SKILL.md</a:t>
            </a:r>
            <a:endParaRPr lang="en-US" sz="1600" dirty="0"/>
          </a:p>
        </p:txBody>
      </p:sp>
      <p:sp>
        <p:nvSpPr>
          <p:cNvPr id="9" name="card-2"/>
          <p:cNvSpPr/>
          <p:nvPr/>
        </p:nvSpPr>
        <p:spPr>
          <a:xfrm>
            <a:off x="9120911" y="1783080"/>
            <a:ext cx="2522144" cy="2926080"/>
          </a:xfrm>
          <a:prstGeom prst="roundRect">
            <a:avLst>
              <a:gd name="adj" fmla="val 4351"/>
            </a:avLst>
          </a:prstGeom>
          <a:solidFill>
            <a:srgbClr val="FFF1E7"/>
          </a:solidFill>
          <a:ln w="12700">
            <a:solidFill>
              <a:srgbClr val="E36414"/>
            </a:solidFill>
            <a:prstDash val="solid"/>
          </a:ln>
        </p:spPr>
      </p:sp>
      <p:sp>
        <p:nvSpPr>
          <p:cNvPr id="10" name="Text 7"/>
          <p:cNvSpPr txBox="1"/>
          <p:nvPr/>
        </p:nvSpPr>
        <p:spPr>
          <a:xfrm>
            <a:off x="9349511" y="1965960"/>
            <a:ext cx="2064944" cy="457200"/>
          </a:xfrm>
          <a:prstGeom prst="rect">
            <a:avLst/>
          </a:prstGeom>
          <a:noFill/>
          <a:ln/>
        </p:spPr>
        <p:txBody>
          <a:bodyPr wrap="square" lIns="0" tIns="0" rIns="0" bIns="0" rtlCol="0" anchor="ctr"/>
          <a:lstStyle/>
          <a:p>
            <a:pPr indent="0" marL="0">
              <a:buNone/>
            </a:pPr>
            <a:r>
              <a:rPr lang="en-US" sz="2000" b="1" dirty="0">
                <a:solidFill>
                  <a:srgbClr val="0F4C5C"/>
                </a:solidFill>
              </a:rPr>
              <a:t>誤り</a:t>
            </a:r>
            <a:endParaRPr lang="en-US" sz="2000" dirty="0"/>
          </a:p>
        </p:txBody>
      </p:sp>
      <p:sp>
        <p:nvSpPr>
          <p:cNvPr id="11" name="Text 8"/>
          <p:cNvSpPr txBox="1"/>
          <p:nvPr/>
        </p:nvSpPr>
        <p:spPr>
          <a:xfrm>
            <a:off x="9349511" y="2560320"/>
            <a:ext cx="2064944" cy="20116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my-skill.zip</a:t>
            </a:r>
            <a:endParaRPr lang="en-US" sz="1600" dirty="0"/>
          </a:p>
          <a:p>
            <a:pPr indent="0" marL="0">
              <a:spcAft>
                <a:spcPts val="600"/>
              </a:spcAft>
              <a:buNone/>
            </a:pPr>
            <a:r>
              <a:rPr lang="en-US" sz="1600" dirty="0">
                <a:solidFill>
                  <a:srgbClr val="1F2933"/>
                </a:solidFill>
              </a:rPr>
              <a:t>└ SKILL.md（直下にファイル）</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うまく動かないときの3つの確認点</a:t>
            </a:r>
            <a:endParaRPr lang="en-US" sz="3000" dirty="0"/>
          </a:p>
        </p:txBody>
      </p:sp>
      <p:sp>
        <p:nvSpPr>
          <p:cNvPr id="4" name="card-1"/>
          <p:cNvSpPr/>
          <p:nvPr/>
        </p:nvSpPr>
        <p:spPr>
          <a:xfrm>
            <a:off x="548640" y="1325880"/>
            <a:ext cx="3515258" cy="3886200"/>
          </a:xfrm>
          <a:prstGeom prst="roundRect">
            <a:avLst>
              <a:gd name="adj" fmla="val 312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E36414"/>
          </a:solidFill>
          <a:ln w="12700">
            <a:solidFill>
              <a:srgbClr val="E36414"/>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325880" y="1508760"/>
            <a:ext cx="2555138" cy="457200"/>
          </a:xfrm>
          <a:prstGeom prst="rect">
            <a:avLst/>
          </a:prstGeom>
          <a:noFill/>
          <a:ln/>
        </p:spPr>
        <p:txBody>
          <a:bodyPr wrap="square" lIns="0" tIns="0" rIns="0" bIns="0" rtlCol="0" anchor="ctr"/>
          <a:lstStyle/>
          <a:p>
            <a:pPr indent="0" marL="0">
              <a:buNone/>
            </a:pPr>
            <a:r>
              <a:rPr lang="en-US" sz="1800" b="1" dirty="0">
                <a:solidFill>
                  <a:srgbClr val="0F4C5C"/>
                </a:solidFill>
              </a:rPr>
              <a:t>オンになっているか</a:t>
            </a:r>
            <a:endParaRPr lang="en-US" sz="1800" dirty="0"/>
          </a:p>
        </p:txBody>
      </p:sp>
      <p:sp>
        <p:nvSpPr>
          <p:cNvPr id="8" name="Text 5"/>
          <p:cNvSpPr txBox="1"/>
          <p:nvPr/>
        </p:nvSpPr>
        <p:spPr>
          <a:xfrm>
            <a:off x="777240" y="2103120"/>
            <a:ext cx="3058058" cy="297180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一覧でスイッチがオフのままになっていないか</a:t>
            </a:r>
            <a:endParaRPr lang="en-US" sz="1600" dirty="0"/>
          </a:p>
        </p:txBody>
      </p:sp>
      <p:sp>
        <p:nvSpPr>
          <p:cNvPr id="9" name="card-2"/>
          <p:cNvSpPr/>
          <p:nvPr/>
        </p:nvSpPr>
        <p:spPr>
          <a:xfrm>
            <a:off x="4338218" y="1325880"/>
            <a:ext cx="3515258" cy="3886200"/>
          </a:xfrm>
          <a:prstGeom prst="roundRect">
            <a:avLst>
              <a:gd name="adj" fmla="val 3121"/>
            </a:avLst>
          </a:prstGeom>
          <a:solidFill>
            <a:srgbClr val="E6F0F2"/>
          </a:solidFill>
          <a:ln w="12700">
            <a:solidFill>
              <a:srgbClr val="E6F0F2"/>
            </a:solidFill>
            <a:prstDash val="solid"/>
          </a:ln>
        </p:spPr>
      </p:sp>
      <p:sp>
        <p:nvSpPr>
          <p:cNvPr id="10" name="Shape 7"/>
          <p:cNvSpPr/>
          <p:nvPr/>
        </p:nvSpPr>
        <p:spPr>
          <a:xfrm>
            <a:off x="4521098" y="1508760"/>
            <a:ext cx="457200" cy="457200"/>
          </a:xfrm>
          <a:prstGeom prst="ellipse">
            <a:avLst/>
          </a:prstGeom>
          <a:solidFill>
            <a:srgbClr val="E36414"/>
          </a:solidFill>
          <a:ln w="12700">
            <a:solidFill>
              <a:srgbClr val="E36414"/>
            </a:solidFill>
            <a:prstDash val="solid"/>
          </a:ln>
        </p:spPr>
      </p:sp>
      <p:sp>
        <p:nvSpPr>
          <p:cNvPr id="11" name="Text 8"/>
          <p:cNvSpPr txBox="1"/>
          <p:nvPr/>
        </p:nvSpPr>
        <p:spPr>
          <a:xfrm>
            <a:off x="452109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5115458" y="1508760"/>
            <a:ext cx="2555138" cy="457200"/>
          </a:xfrm>
          <a:prstGeom prst="rect">
            <a:avLst/>
          </a:prstGeom>
          <a:noFill/>
          <a:ln/>
        </p:spPr>
        <p:txBody>
          <a:bodyPr wrap="square" lIns="0" tIns="0" rIns="0" bIns="0" rtlCol="0" anchor="ctr"/>
          <a:lstStyle/>
          <a:p>
            <a:pPr indent="0" marL="0">
              <a:buNone/>
            </a:pPr>
            <a:r>
              <a:rPr lang="en-US" sz="1800" b="1" dirty="0">
                <a:solidFill>
                  <a:srgbClr val="0F4C5C"/>
                </a:solidFill>
              </a:rPr>
              <a:t>頼み方の言葉が description にあるか</a:t>
            </a:r>
            <a:endParaRPr lang="en-US" sz="1800" dirty="0"/>
          </a:p>
        </p:txBody>
      </p:sp>
      <p:sp>
        <p:nvSpPr>
          <p:cNvPr id="13" name="Text 10"/>
          <p:cNvSpPr txBox="1"/>
          <p:nvPr/>
        </p:nvSpPr>
        <p:spPr>
          <a:xfrm>
            <a:off x="4566818" y="2103120"/>
            <a:ext cx="3058058" cy="297180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「議事録」と書いてあっても「打合せ記録」と頼むと使われないことがある。よく使う言い方を足す</a:t>
            </a:r>
            <a:endParaRPr lang="en-US" sz="1600" dirty="0"/>
          </a:p>
        </p:txBody>
      </p:sp>
      <p:sp>
        <p:nvSpPr>
          <p:cNvPr id="14" name="card-3"/>
          <p:cNvSpPr/>
          <p:nvPr/>
        </p:nvSpPr>
        <p:spPr>
          <a:xfrm>
            <a:off x="8127797" y="1325880"/>
            <a:ext cx="3515258" cy="3886200"/>
          </a:xfrm>
          <a:prstGeom prst="roundRect">
            <a:avLst>
              <a:gd name="adj" fmla="val 3121"/>
            </a:avLst>
          </a:prstGeom>
          <a:solidFill>
            <a:srgbClr val="E6F0F2"/>
          </a:solidFill>
          <a:ln w="12700">
            <a:solidFill>
              <a:srgbClr val="E6F0F2"/>
            </a:solidFill>
            <a:prstDash val="solid"/>
          </a:ln>
        </p:spPr>
      </p:sp>
      <p:sp>
        <p:nvSpPr>
          <p:cNvPr id="15" name="Shape 12"/>
          <p:cNvSpPr/>
          <p:nvPr/>
        </p:nvSpPr>
        <p:spPr>
          <a:xfrm>
            <a:off x="8310677" y="1508760"/>
            <a:ext cx="457200" cy="457200"/>
          </a:xfrm>
          <a:prstGeom prst="ellipse">
            <a:avLst/>
          </a:prstGeom>
          <a:solidFill>
            <a:srgbClr val="E36414"/>
          </a:solidFill>
          <a:ln w="12700">
            <a:solidFill>
              <a:srgbClr val="E36414"/>
            </a:solidFill>
            <a:prstDash val="solid"/>
          </a:ln>
        </p:spPr>
      </p:sp>
      <p:sp>
        <p:nvSpPr>
          <p:cNvPr id="16" name="Text 13"/>
          <p:cNvSpPr txBox="1"/>
          <p:nvPr/>
        </p:nvSpPr>
        <p:spPr>
          <a:xfrm>
            <a:off x="8310677"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8905037" y="1508760"/>
            <a:ext cx="2555138" cy="457200"/>
          </a:xfrm>
          <a:prstGeom prst="rect">
            <a:avLst/>
          </a:prstGeom>
          <a:noFill/>
          <a:ln/>
        </p:spPr>
        <p:txBody>
          <a:bodyPr wrap="square" lIns="0" tIns="0" rIns="0" bIns="0" rtlCol="0" anchor="ctr"/>
          <a:lstStyle/>
          <a:p>
            <a:pPr indent="0" marL="0">
              <a:buNone/>
            </a:pPr>
            <a:r>
              <a:rPr lang="en-US" sz="1800" b="1" dirty="0">
                <a:solidFill>
                  <a:srgbClr val="0F4C5C"/>
                </a:solidFill>
              </a:rPr>
              <a:t>新しいチャットで試したか</a:t>
            </a:r>
            <a:endParaRPr lang="en-US" sz="1800" dirty="0"/>
          </a:p>
        </p:txBody>
      </p:sp>
      <p:sp>
        <p:nvSpPr>
          <p:cNvPr id="18" name="Text 15"/>
          <p:cNvSpPr txBox="1"/>
          <p:nvPr/>
        </p:nvSpPr>
        <p:spPr>
          <a:xfrm>
            <a:off x="8356397" y="2103120"/>
            <a:ext cx="3058058" cy="297180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Skillを作った同じチャットでは正しく試せないことがある</a:t>
            </a:r>
            <a:endParaRPr lang="en-US" sz="1600" dirty="0"/>
          </a:p>
        </p:txBody>
      </p:sp>
      <p:sp>
        <p:nvSpPr>
          <p:cNvPr id="19" name="Shape 16"/>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20" name="Text 17"/>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それでもダメなら「</a:t>
            </a:r>
            <a:r>
              <a:rPr lang="en-US" sz="1800" b="1" dirty="0">
                <a:solidFill>
                  <a:srgbClr val="E36414"/>
                </a:solidFill>
              </a:rPr>
              <a:t>議事録Skillを使って</a:t>
            </a:r>
            <a:r>
              <a:rPr lang="en-US" sz="1800" dirty="0">
                <a:solidFill>
                  <a:srgbClr val="1F2933"/>
                </a:solidFill>
              </a:rPr>
              <a:t>」と名前を出して頼む</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5. カスタム指示・プロジェクト・GPTsとの違い</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108960"/>
                <a:gridCol w="2743200"/>
                <a:gridCol w="2743200"/>
                <a:gridCol w="2496312"/>
              </a:tblGrid>
              <a:tr h="457200">
                <a:tc>
                  <a:txBody>
                    <a:bodyPr/>
                    <a:lstStyle/>
                    <a:p>
                      <a:pPr indent="0" marL="0">
                        <a:buNone/>
                      </a:pPr>
                      <a:r>
                        <a:rPr lang="en-US" sz="1400" b="1" dirty="0">
                          <a:solidFill>
                            <a:srgbClr val="0F4C5C"/>
                          </a:solidFill>
                        </a:rPr>
                        <a:t>機能</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効く範囲</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向いている内容</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カスタム指示</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すべての会話に毎回</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短い好み・前提</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「日本語で、結論から」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プロジェクト</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そのプロジェクト内</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特定テーマの資料と指示</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「新製品Xの資料一式」</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GPTs（ChatGPT）</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そのGPTを選んだ会話</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特定用途の専用チャット</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「英文校正GPT」</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指示ファイル（CLAUDE.md、AGENTS.md 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そのリポジトリの作業すべて</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開発のルール・前提</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「テストは必ず実行」</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b="1" dirty="0">
                          <a:solidFill>
                            <a:srgbClr val="1F2933"/>
                          </a:solidFill>
                        </a:rPr>
                        <a:t>Skill</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b="1" dirty="0">
                          <a:solidFill>
                            <a:srgbClr val="1F2933"/>
                          </a:solidFill>
                        </a:rPr>
                        <a:t>必要なときだけ自動で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b="1" dirty="0">
                          <a:solidFill>
                            <a:srgbClr val="1F2933"/>
                          </a:solidFill>
                        </a:rPr>
                        <a:t>特定作業の詳しい手順</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「議事録の作り方」</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b="1" dirty="0">
                <a:solidFill>
                  <a:srgbClr val="E36414"/>
                </a:solidFill>
              </a:rPr>
              <a:t>毎回必要な短いこと</a:t>
            </a:r>
            <a:r>
              <a:rPr lang="en-US" sz="1800" dirty="0">
                <a:solidFill>
                  <a:srgbClr val="1F2933"/>
                </a:solidFill>
              </a:rPr>
              <a:t> → カスタム指示　／　</a:t>
            </a:r>
            <a:r>
              <a:rPr lang="en-US" sz="1800" b="1" dirty="0">
                <a:solidFill>
                  <a:srgbClr val="E36414"/>
                </a:solidFill>
              </a:rPr>
              <a:t>特定作業の詳しい手順</a:t>
            </a:r>
            <a:r>
              <a:rPr lang="en-US" sz="1800" dirty="0">
                <a:solidFill>
                  <a:srgbClr val="1F2933"/>
                </a:solidFill>
              </a:rPr>
              <a:t> → Skill</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4415" cy="1097280"/>
          </a:xfrm>
          <a:prstGeom prst="rect">
            <a:avLst/>
          </a:prstGeom>
          <a:noFill/>
          <a:ln/>
        </p:spPr>
        <p:txBody>
          <a:bodyPr wrap="square" lIns="0" tIns="0" rIns="0" bIns="0" rtlCol="0" anchor="b"/>
          <a:lstStyle/>
          <a:p>
            <a:pPr algn="l" indent="0" marL="0">
              <a:buNone/>
            </a:pPr>
            <a:r>
              <a:rPr lang="en-US" sz="4000" b="1" dirty="0">
                <a:solidFill>
                  <a:srgbClr val="FFFFFF"/>
                </a:solidFill>
              </a:rPr>
              <a:t>第2部 実践編</a:t>
            </a:r>
            <a:endParaRPr lang="en-US" sz="4000" dirty="0"/>
          </a:p>
        </p:txBody>
      </p:sp>
      <p:sp>
        <p:nvSpPr>
          <p:cNvPr id="3" name="Text 0"/>
          <p:cNvSpPr/>
          <p:nvPr>
            <p:ph idx="101" type="body" hasCustomPrompt="1"/>
          </p:nvPr>
        </p:nvSpPr>
        <p:spPr>
          <a:xfrm>
            <a:off x="548640" y="2834640"/>
            <a:ext cx="11094415" cy="3108960"/>
          </a:xfrm>
          <a:prstGeom prst="rect">
            <a:avLst/>
          </a:prstGeom>
          <a:noFill/>
          <a:ln/>
        </p:spPr>
        <p:txBody>
          <a:bodyPr wrap="square" lIns="0" tIns="0" rIns="0" bIns="0" rtlCol="0" anchor="t"/>
          <a:lstStyle/>
          <a:p>
            <a:pPr algn="l" indent="0" marL="0">
              <a:spcAft>
                <a:spcPts val="600"/>
              </a:spcAft>
              <a:buNone/>
            </a:pPr>
            <a:r>
              <a:rPr lang="en-US" sz="2200" dirty="0">
                <a:solidFill>
                  <a:srgbClr val="D7E6EA"/>
                </a:solidFill>
              </a:rPr>
              <a:t>自分で書いて、どの環境でも使う</a:t>
            </a:r>
            <a:endParaRPr lang="en-US" sz="2200" dirty="0"/>
          </a:p>
          <a:p>
            <a:pPr algn="l" indent="0" marL="0">
              <a:spcAft>
                <a:spcPts val="600"/>
              </a:spcAft>
              <a:buNone/>
            </a:pPr>
            <a:r>
              <a:rPr lang="en-US" sz="2200" dirty="0">
                <a:solidFill>
                  <a:srgbClr val="D7E6EA"/>
                </a:solidFill>
              </a:rPr>
              <a:t>6. 共通ルール（Agent Skills標準）</a:t>
            </a:r>
            <a:endParaRPr lang="en-US" sz="2200" dirty="0"/>
          </a:p>
          <a:p>
            <a:pPr algn="l" indent="0" marL="0">
              <a:spcAft>
                <a:spcPts val="600"/>
              </a:spcAft>
              <a:buNone/>
            </a:pPr>
            <a:r>
              <a:rPr lang="en-US" sz="2200" dirty="0">
                <a:solidFill>
                  <a:srgbClr val="D7E6EA"/>
                </a:solidFill>
              </a:rPr>
              <a:t>7. 良いSkillの設計手順</a:t>
            </a:r>
            <a:endParaRPr lang="en-US" sz="2200" dirty="0"/>
          </a:p>
          <a:p>
            <a:pPr algn="l" indent="0" marL="0">
              <a:spcAft>
                <a:spcPts val="600"/>
              </a:spcAft>
              <a:buNone/>
            </a:pPr>
            <a:r>
              <a:rPr lang="en-US" sz="2200" dirty="0">
                <a:solidFill>
                  <a:srgbClr val="D7E6EA"/>
                </a:solidFill>
              </a:rPr>
              <a:t>8. SKILL.mdの書き方</a:t>
            </a:r>
            <a:endParaRPr lang="en-US" sz="2200" dirty="0"/>
          </a:p>
          <a:p>
            <a:pPr algn="l" indent="0" marL="0">
              <a:spcAft>
                <a:spcPts val="600"/>
              </a:spcAft>
              <a:buNone/>
            </a:pPr>
            <a:r>
              <a:rPr lang="en-US" sz="2200" dirty="0">
                <a:solidFill>
                  <a:srgbClr val="D7E6EA"/>
                </a:solidFill>
              </a:rPr>
              <a:t>9. 環境別の登録方法</a:t>
            </a:r>
            <a:endParaRPr lang="en-US" sz="2200" dirty="0"/>
          </a:p>
          <a:p>
            <a:pPr algn="l" indent="0" marL="0">
              <a:spcAft>
                <a:spcPts val="600"/>
              </a:spcAft>
              <a:buNone/>
            </a:pPr>
            <a:r>
              <a:rPr lang="en-US" sz="2200" dirty="0">
                <a:solidFill>
                  <a:srgbClr val="D7E6EA"/>
                </a:solidFill>
              </a:rPr>
              <a:t>10. テストと改善</a:t>
            </a:r>
            <a:endParaRPr lang="en-US"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6. 共通ルール: フォルダ構成</a:t>
            </a:r>
            <a:endParaRPr lang="en-US" sz="3000" dirty="0"/>
          </a:p>
        </p:txBody>
      </p:sp>
      <p:sp>
        <p:nvSpPr>
          <p:cNvPr id="4" name="Shape 1"/>
          <p:cNvSpPr/>
          <p:nvPr/>
        </p:nvSpPr>
        <p:spPr>
          <a:xfrm>
            <a:off x="548640" y="1325880"/>
            <a:ext cx="6949440" cy="2743200"/>
          </a:xfrm>
          <a:prstGeom prst="roundRect">
            <a:avLst>
              <a:gd name="adj" fmla="val 2667"/>
            </a:avLst>
          </a:prstGeom>
          <a:solidFill>
            <a:srgbClr val="F3F5F6"/>
          </a:solidFill>
          <a:ln w="9525">
            <a:solidFill>
              <a:srgbClr val="B8C7CC"/>
            </a:solidFill>
            <a:prstDash val="solid"/>
          </a:ln>
        </p:spPr>
      </p:sp>
      <p:sp>
        <p:nvSpPr>
          <p:cNvPr id="5" name="Text 2"/>
          <p:cNvSpPr txBox="1"/>
          <p:nvPr/>
        </p:nvSpPr>
        <p:spPr>
          <a:xfrm>
            <a:off x="731520" y="1463040"/>
            <a:ext cx="6583680" cy="2468880"/>
          </a:xfrm>
          <a:prstGeom prst="rect">
            <a:avLst/>
          </a:prstGeom>
          <a:noFill/>
          <a:ln/>
        </p:spPr>
        <p:txBody>
          <a:bodyPr wrap="square" lIns="0" tIns="0" rIns="0" bIns="0" rtlCol="0" anchor="t"/>
          <a:lstStyle/>
          <a:p>
            <a:pPr indent="0" marL="0">
              <a:buNone/>
            </a:pPr>
            <a:r>
              <a:rPr lang="en-US" sz="1500" dirty="0">
                <a:solidFill>
                  <a:srgbClr val="1F2933"/>
                </a:solidFill>
                <a:latin typeface="Consolas" pitchFamily="34" charset="0"/>
                <a:ea typeface="メイリオ" pitchFamily="34" charset="-122"/>
                <a:cs typeface="Consolas" pitchFamily="34" charset="-120"/>
              </a:rPr>
              <a:t>meeting-minutes/        ← フォルダ名 = Skillの名前</a:t>
            </a:r>
            <a:endParaRPr lang="en-US" sz="1500" dirty="0"/>
          </a:p>
          <a:p>
            <a:pPr indent="0" marL="0">
              <a:buNone/>
            </a:pPr>
            <a:r>
              <a:rPr lang="en-US" sz="1500" dirty="0">
                <a:solidFill>
                  <a:srgbClr val="1F2933"/>
                </a:solidFill>
                <a:latin typeface="Consolas" pitchFamily="34" charset="0"/>
                <a:ea typeface="メイリオ" pitchFamily="34" charset="-122"/>
                <a:cs typeface="Consolas" pitchFamily="34" charset="-120"/>
              </a:rPr>
              <a:t>├── SKILL.md            ← 必須: フロントマター + 手順</a:t>
            </a:r>
            <a:endParaRPr lang="en-US" sz="1500" dirty="0"/>
          </a:p>
          <a:p>
            <a:pPr indent="0" marL="0">
              <a:buNone/>
            </a:pPr>
            <a:r>
              <a:rPr lang="en-US" sz="1500" dirty="0">
                <a:solidFill>
                  <a:srgbClr val="1F2933"/>
                </a:solidFill>
                <a:latin typeface="Consolas" pitchFamily="34" charset="0"/>
                <a:ea typeface="メイリオ" pitchFamily="34" charset="-122"/>
                <a:cs typeface="Consolas" pitchFamily="34" charset="-120"/>
              </a:rPr>
              <a:t>├── references/         ← 任意: 必要なときに読む資料</a:t>
            </a:r>
            <a:endParaRPr lang="en-US" sz="1500" dirty="0"/>
          </a:p>
          <a:p>
            <a:pPr indent="0" marL="0">
              <a:buNone/>
            </a:pPr>
            <a:r>
              <a:rPr lang="en-US" sz="1500" dirty="0">
                <a:solidFill>
                  <a:srgbClr val="1F2933"/>
                </a:solidFill>
                <a:latin typeface="Consolas" pitchFamily="34" charset="0"/>
                <a:ea typeface="メイリオ" pitchFamily="34" charset="-122"/>
                <a:cs typeface="Consolas" pitchFamily="34" charset="-120"/>
              </a:rPr>
              <a:t>│   └── format.md</a:t>
            </a:r>
            <a:endParaRPr lang="en-US" sz="1500" dirty="0"/>
          </a:p>
          <a:p>
            <a:pPr indent="0" marL="0">
              <a:buNone/>
            </a:pPr>
            <a:r>
              <a:rPr lang="en-US" sz="1500" dirty="0">
                <a:solidFill>
                  <a:srgbClr val="1F2933"/>
                </a:solidFill>
                <a:latin typeface="Consolas" pitchFamily="34" charset="0"/>
                <a:ea typeface="メイリオ" pitchFamily="34" charset="-122"/>
                <a:cs typeface="Consolas" pitchFamily="34" charset="-120"/>
              </a:rPr>
              <a:t>├── scripts/            ← 任意: 実行するプログラム</a:t>
            </a:r>
            <a:endParaRPr lang="en-US" sz="1500" dirty="0"/>
          </a:p>
          <a:p>
            <a:pPr indent="0" marL="0">
              <a:buNone/>
            </a:pPr>
            <a:r>
              <a:rPr lang="en-US" sz="1500" dirty="0">
                <a:solidFill>
                  <a:srgbClr val="1F2933"/>
                </a:solidFill>
                <a:latin typeface="Consolas" pitchFamily="34" charset="0"/>
                <a:ea typeface="メイリオ" pitchFamily="34" charset="-122"/>
                <a:cs typeface="Consolas" pitchFamily="34" charset="-120"/>
              </a:rPr>
              <a:t>└── assets/             ← 任意: テンプレート、画像</a:t>
            </a:r>
            <a:endParaRPr lang="en-US" sz="1500" dirty="0"/>
          </a:p>
        </p:txBody>
      </p:sp>
      <p:sp>
        <p:nvSpPr>
          <p:cNvPr id="6" name="card-1"/>
          <p:cNvSpPr/>
          <p:nvPr/>
        </p:nvSpPr>
        <p:spPr>
          <a:xfrm>
            <a:off x="7863840" y="1325880"/>
            <a:ext cx="3779215" cy="1325880"/>
          </a:xfrm>
          <a:prstGeom prst="roundRect">
            <a:avLst>
              <a:gd name="adj" fmla="val 8276"/>
            </a:avLst>
          </a:prstGeom>
          <a:solidFill>
            <a:srgbClr val="E6F0F2"/>
          </a:solidFill>
          <a:ln w="12700">
            <a:solidFill>
              <a:srgbClr val="E6F0F2"/>
            </a:solidFill>
            <a:prstDash val="solid"/>
          </a:ln>
        </p:spPr>
      </p:sp>
      <p:sp>
        <p:nvSpPr>
          <p:cNvPr id="7" name="Text 4"/>
          <p:cNvSpPr txBox="1"/>
          <p:nvPr/>
        </p:nvSpPr>
        <p:spPr>
          <a:xfrm>
            <a:off x="8092440" y="1508760"/>
            <a:ext cx="3322015" cy="457200"/>
          </a:xfrm>
          <a:prstGeom prst="rect">
            <a:avLst/>
          </a:prstGeom>
          <a:noFill/>
          <a:ln/>
        </p:spPr>
        <p:txBody>
          <a:bodyPr wrap="square" lIns="0" tIns="0" rIns="0" bIns="0" rtlCol="0" anchor="ctr"/>
          <a:lstStyle/>
          <a:p>
            <a:pPr indent="0" marL="0">
              <a:buNone/>
            </a:pPr>
            <a:r>
              <a:rPr lang="en-US" sz="1800" b="1" dirty="0">
                <a:solidFill>
                  <a:srgbClr val="0F4C5C"/>
                </a:solidFill>
              </a:rPr>
              <a:t>必須は SKILL.md だけ</a:t>
            </a:r>
            <a:endParaRPr lang="en-US" sz="1800" dirty="0"/>
          </a:p>
        </p:txBody>
      </p:sp>
      <p:sp>
        <p:nvSpPr>
          <p:cNvPr id="8" name="Text 5"/>
          <p:cNvSpPr txBox="1"/>
          <p:nvPr/>
        </p:nvSpPr>
        <p:spPr>
          <a:xfrm>
            <a:off x="8092440" y="2103120"/>
            <a:ext cx="3322015" cy="41148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ファイル名は大文字の SKILL.md</a:t>
            </a:r>
            <a:endParaRPr lang="en-US" sz="1500" dirty="0"/>
          </a:p>
        </p:txBody>
      </p:sp>
      <p:sp>
        <p:nvSpPr>
          <p:cNvPr id="9" name="card-2"/>
          <p:cNvSpPr/>
          <p:nvPr/>
        </p:nvSpPr>
        <p:spPr>
          <a:xfrm>
            <a:off x="7863840" y="2926080"/>
            <a:ext cx="3779215" cy="1325880"/>
          </a:xfrm>
          <a:prstGeom prst="roundRect">
            <a:avLst>
              <a:gd name="adj" fmla="val 8276"/>
            </a:avLst>
          </a:prstGeom>
          <a:solidFill>
            <a:srgbClr val="FFF1E7"/>
          </a:solidFill>
          <a:ln w="12700">
            <a:solidFill>
              <a:srgbClr val="E36414"/>
            </a:solidFill>
            <a:prstDash val="solid"/>
          </a:ln>
        </p:spPr>
      </p:sp>
      <p:sp>
        <p:nvSpPr>
          <p:cNvPr id="10" name="Text 7"/>
          <p:cNvSpPr txBox="1"/>
          <p:nvPr/>
        </p:nvSpPr>
        <p:spPr>
          <a:xfrm>
            <a:off x="8092440" y="3108960"/>
            <a:ext cx="3322015" cy="457200"/>
          </a:xfrm>
          <a:prstGeom prst="rect">
            <a:avLst/>
          </a:prstGeom>
          <a:noFill/>
          <a:ln/>
        </p:spPr>
        <p:txBody>
          <a:bodyPr wrap="square" lIns="0" tIns="0" rIns="0" bIns="0" rtlCol="0" anchor="ctr"/>
          <a:lstStyle/>
          <a:p>
            <a:pPr indent="0" marL="0">
              <a:buNone/>
            </a:pPr>
            <a:r>
              <a:rPr lang="en-US" sz="1800" b="1" dirty="0">
                <a:solidFill>
                  <a:srgbClr val="0F4C5C"/>
                </a:solidFill>
              </a:rPr>
              <a:t>フォルダ名 = name</a:t>
            </a:r>
            <a:endParaRPr lang="en-US" sz="1800" dirty="0"/>
          </a:p>
        </p:txBody>
      </p:sp>
      <p:sp>
        <p:nvSpPr>
          <p:cNvPr id="11" name="Text 8"/>
          <p:cNvSpPr txBox="1"/>
          <p:nvPr/>
        </p:nvSpPr>
        <p:spPr>
          <a:xfrm>
            <a:off x="8092440" y="3703320"/>
            <a:ext cx="3322015" cy="41148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フォルダ名とフロントマターの name を一致させる</a:t>
            </a:r>
            <a:endParaRPr lang="en-US" sz="1500" dirty="0"/>
          </a:p>
        </p:txBody>
      </p:sp>
      <p:sp>
        <p:nvSpPr>
          <p:cNvPr id="12" name="Shape 9"/>
          <p:cNvSpPr/>
          <p:nvPr/>
        </p:nvSpPr>
        <p:spPr>
          <a:xfrm>
            <a:off x="548640" y="4572000"/>
            <a:ext cx="11094415" cy="640080"/>
          </a:xfrm>
          <a:prstGeom prst="roundRect">
            <a:avLst>
              <a:gd name="adj" fmla="val 14286"/>
            </a:avLst>
          </a:prstGeom>
          <a:solidFill>
            <a:srgbClr val="FFF1E7"/>
          </a:solidFill>
          <a:ln w="12700">
            <a:solidFill>
              <a:srgbClr val="E36414"/>
            </a:solidFill>
            <a:prstDash val="solid"/>
          </a:ln>
        </p:spPr>
      </p:sp>
      <p:sp>
        <p:nvSpPr>
          <p:cNvPr id="13" name="Text 10"/>
          <p:cNvSpPr txBox="1"/>
          <p:nvPr/>
        </p:nvSpPr>
        <p:spPr>
          <a:xfrm>
            <a:off x="777240" y="457200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仕様「</a:t>
            </a:r>
            <a:r>
              <a:rPr lang="en-US" sz="1800" b="1" dirty="0">
                <a:solidFill>
                  <a:srgbClr val="E36414"/>
                </a:solidFill>
              </a:rPr>
              <a:t>Agent Skills</a:t>
            </a:r>
            <a:r>
              <a:rPr lang="en-US" sz="1800" dirty="0">
                <a:solidFill>
                  <a:srgbClr val="1F2933"/>
                </a:solidFill>
              </a:rPr>
              <a:t>」（agentskills.io）に合わせて書けば、どの環境でも動く土台ができる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フロントマターの項目</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94560"/>
                <a:gridCol w="1005840"/>
                <a:gridCol w="7891272"/>
              </a:tblGrid>
              <a:tr h="457200">
                <a:tc>
                  <a:txBody>
                    <a:bodyPr/>
                    <a:lstStyle/>
                    <a:p>
                      <a:pPr indent="0" marL="0">
                        <a:buNone/>
                      </a:pPr>
                      <a:r>
                        <a:rPr lang="en-US" sz="1500" b="1" dirty="0">
                          <a:solidFill>
                            <a:srgbClr val="0F4C5C"/>
                          </a:solidFill>
                        </a:rPr>
                        <a:t>項目</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必須</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制約（Agent Skills仕様）</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500" dirty="0">
                          <a:solidFill>
                            <a:srgbClr val="1F2933"/>
                          </a:solidFill>
                        </a:rPr>
                        <a:t>name</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必須</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1〜64文字。半角英小文字・数字・ハイフンのみ。先頭・末尾のハイフン不可、</a:t>
                      </a:r>
                      <a:r>
                        <a:rPr lang="en-US" sz="1500" dirty="0">
                          <a:solidFill>
                            <a:srgbClr val="1F2933"/>
                          </a:solidFill>
                          <a:latin typeface="Consolas" pitchFamily="34" charset="0"/>
                          <a:ea typeface="メイリオ" pitchFamily="34" charset="-122"/>
                          <a:cs typeface="Consolas" pitchFamily="34" charset="-120"/>
                        </a:rPr>
                        <a:t>--</a:t>
                      </a:r>
                      <a:r>
                        <a:rPr lang="en-US" sz="1500" dirty="0">
                          <a:solidFill>
                            <a:srgbClr val="1F2933"/>
                          </a:solidFill>
                        </a:rPr>
                        <a:t> 不可。</a:t>
                      </a:r>
                      <a:r>
                        <a:rPr lang="en-US" sz="1500" b="1" dirty="0">
                          <a:solidFill>
                            <a:srgbClr val="1F2933"/>
                          </a:solidFill>
                        </a:rPr>
                        <a:t>フォルダ名と一致</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description</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必須</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1〜1024文字。何をするか、いつ使うかを書く</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license</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任意</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ライセンス名、または同梱したライセンスファイル名</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compatibility</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任意</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1〜500文字。必要な環境。ほとんどのSkillでは不要</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metadata</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任意</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自由な「キー: 値」（例: version: "1.0"）</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allowed-tools</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任意</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事前に許可するツール（実験的。対応は製品により異なる）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環境ごとの追加の制約 ― 厳しい方に合わせる</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8165592"/>
              </a:tblGrid>
              <a:tr h="457200">
                <a:tc>
                  <a:txBody>
                    <a:bodyPr/>
                    <a:lstStyle/>
                    <a:p>
                      <a:pPr indent="0" marL="0">
                        <a:buNone/>
                      </a:pPr>
                      <a:r>
                        <a:rPr lang="en-US" sz="1500" b="1" dirty="0">
                          <a:solidFill>
                            <a:srgbClr val="0F4C5C"/>
                          </a:solidFill>
                        </a:rPr>
                        <a:t>環境</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追加の制約・注意</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500" dirty="0">
                          <a:solidFill>
                            <a:srgbClr val="1F2933"/>
                          </a:solidFill>
                        </a:rPr>
                        <a:t>Claude（Claude.ai、API）</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name に「anthropic」「claude」を含めない。name・description にXMLタグを含めない</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Claude.ai</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公式ヘルプでは description は</a:t>
                      </a:r>
                      <a:r>
                        <a:rPr lang="en-US" sz="1500" b="1" dirty="0">
                          <a:solidFill>
                            <a:srgbClr val="1F2933"/>
                          </a:solidFill>
                        </a:rPr>
                        <a:t>200文字以内</a:t>
                      </a:r>
                      <a:r>
                        <a:rPr lang="en-US" sz="1500" dirty="0">
                          <a:solidFill>
                            <a:srgbClr val="1F2933"/>
                          </a:solidFill>
                        </a:rPr>
                        <a:t>。アップロードで使える項目は6つのみ（他はエラー）</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Claude Code</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description（+ when_to_use）は一覧表示で1,536文字で切られる。知らない項目は無視</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Copilot</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フォルダ名は小文字、空白の代わりにハイフン</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5" name="Shape 1"/>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推奨: name は動作がわかる英小文字＋ハイフン、</a:t>
            </a:r>
            <a:r>
              <a:rPr lang="en-US" sz="1800" b="1" dirty="0">
                <a:solidFill>
                  <a:srgbClr val="E36414"/>
                </a:solidFill>
              </a:rPr>
              <a:t>description は200文字以内</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段階的な読み込み（プログレッシブ・ディスクロージャー）</a:t>
            </a:r>
            <a:endParaRPr lang="en-US" sz="3000" dirty="0"/>
          </a:p>
        </p:txBody>
      </p:sp>
      <p:sp>
        <p:nvSpPr>
          <p:cNvPr id="4" name="Shape 1"/>
          <p:cNvSpPr/>
          <p:nvPr/>
        </p:nvSpPr>
        <p:spPr>
          <a:xfrm>
            <a:off x="548640" y="1325880"/>
            <a:ext cx="11094415" cy="883920"/>
          </a:xfrm>
          <a:prstGeom prst="roundRect">
            <a:avLst>
              <a:gd name="adj" fmla="val 10345"/>
            </a:avLst>
          </a:prstGeom>
          <a:solidFill>
            <a:srgbClr val="0F4C5C"/>
          </a:solidFill>
          <a:ln w="12700">
            <a:solidFill>
              <a:srgbClr val="0F4C5C"/>
            </a:solidFill>
            <a:prstDash val="solid"/>
          </a:ln>
        </p:spPr>
      </p:sp>
      <p:sp>
        <p:nvSpPr>
          <p:cNvPr id="5" name="Text 2"/>
          <p:cNvSpPr txBox="1"/>
          <p:nvPr/>
        </p:nvSpPr>
        <p:spPr>
          <a:xfrm>
            <a:off x="777240" y="1325880"/>
            <a:ext cx="2926080" cy="883920"/>
          </a:xfrm>
          <a:prstGeom prst="rect">
            <a:avLst/>
          </a:prstGeom>
          <a:noFill/>
          <a:ln/>
        </p:spPr>
        <p:txBody>
          <a:bodyPr wrap="square" lIns="0" tIns="0" rIns="0" bIns="0" rtlCol="0" anchor="ctr"/>
          <a:lstStyle/>
          <a:p>
            <a:pPr indent="0" marL="0">
              <a:buNone/>
            </a:pPr>
            <a:r>
              <a:rPr lang="en-US" sz="2000" b="1" dirty="0">
                <a:solidFill>
                  <a:srgbClr val="FFFFFF"/>
                </a:solidFill>
              </a:rPr>
              <a:t>段階1 発見</a:t>
            </a:r>
            <a:endParaRPr lang="en-US" sz="2000" dirty="0"/>
          </a:p>
        </p:txBody>
      </p:sp>
      <p:sp>
        <p:nvSpPr>
          <p:cNvPr id="6" name="Text 3"/>
          <p:cNvSpPr txBox="1"/>
          <p:nvPr/>
        </p:nvSpPr>
        <p:spPr>
          <a:xfrm>
            <a:off x="3749040" y="1325880"/>
            <a:ext cx="5653735" cy="883920"/>
          </a:xfrm>
          <a:prstGeom prst="rect">
            <a:avLst/>
          </a:prstGeom>
          <a:noFill/>
          <a:ln/>
        </p:spPr>
        <p:txBody>
          <a:bodyPr wrap="square" lIns="0" tIns="0" rIns="0" bIns="0" rtlCol="0" anchor="ctr"/>
          <a:lstStyle/>
          <a:p>
            <a:pPr indent="0" marL="0">
              <a:buNone/>
            </a:pPr>
            <a:r>
              <a:rPr lang="en-US" sz="1700" dirty="0">
                <a:solidFill>
                  <a:srgbClr val="FFFFFF"/>
                </a:solidFill>
              </a:rPr>
              <a:t>起動時に全Skillの </a:t>
            </a:r>
            <a:r>
              <a:rPr lang="en-US" sz="1700" b="1" dirty="0">
                <a:solidFill>
                  <a:srgbClr val="FFFFFF"/>
                </a:solidFill>
              </a:rPr>
              <a:t>name と description だけ</a:t>
            </a:r>
            <a:r>
              <a:rPr lang="en-US" sz="1700" dirty="0">
                <a:solidFill>
                  <a:srgbClr val="FFFFFF"/>
                </a:solidFill>
              </a:rPr>
              <a:t> 読む</a:t>
            </a:r>
            <a:endParaRPr lang="en-US" sz="1700" dirty="0"/>
          </a:p>
        </p:txBody>
      </p:sp>
      <p:sp>
        <p:nvSpPr>
          <p:cNvPr id="7" name="Text 4"/>
          <p:cNvSpPr txBox="1"/>
          <p:nvPr/>
        </p:nvSpPr>
        <p:spPr>
          <a:xfrm>
            <a:off x="9539935" y="1325880"/>
            <a:ext cx="1920240" cy="883920"/>
          </a:xfrm>
          <a:prstGeom prst="rect">
            <a:avLst/>
          </a:prstGeom>
          <a:noFill/>
          <a:ln/>
        </p:spPr>
        <p:txBody>
          <a:bodyPr wrap="square" lIns="0" tIns="0" rIns="0" bIns="0" rtlCol="0" anchor="ctr"/>
          <a:lstStyle/>
          <a:p>
            <a:pPr algn="r" indent="0" marL="0">
              <a:buNone/>
            </a:pPr>
            <a:r>
              <a:rPr lang="en-US" sz="1400" dirty="0">
                <a:solidFill>
                  <a:srgbClr val="D7E6EA"/>
                </a:solidFill>
              </a:rPr>
              <a:t>1つ約100トークン</a:t>
            </a:r>
            <a:endParaRPr lang="en-US" sz="1400" dirty="0"/>
          </a:p>
        </p:txBody>
      </p:sp>
      <p:sp>
        <p:nvSpPr>
          <p:cNvPr id="8" name="Shape 5"/>
          <p:cNvSpPr/>
          <p:nvPr/>
        </p:nvSpPr>
        <p:spPr>
          <a:xfrm>
            <a:off x="1005840" y="2237232"/>
            <a:ext cx="320040" cy="265176"/>
          </a:xfrm>
          <a:prstGeom prst="downArrow">
            <a:avLst/>
          </a:prstGeom>
          <a:solidFill>
            <a:srgbClr val="E36414"/>
          </a:solidFill>
          <a:ln w="12700">
            <a:solidFill>
              <a:srgbClr val="E36414"/>
            </a:solidFill>
            <a:prstDash val="solid"/>
          </a:ln>
        </p:spPr>
      </p:sp>
      <p:sp>
        <p:nvSpPr>
          <p:cNvPr id="9" name="Shape 6"/>
          <p:cNvSpPr/>
          <p:nvPr/>
        </p:nvSpPr>
        <p:spPr>
          <a:xfrm>
            <a:off x="1005840" y="2529840"/>
            <a:ext cx="10637215" cy="883920"/>
          </a:xfrm>
          <a:prstGeom prst="roundRect">
            <a:avLst>
              <a:gd name="adj" fmla="val 10345"/>
            </a:avLst>
          </a:prstGeom>
          <a:solidFill>
            <a:srgbClr val="E6F0F2"/>
          </a:solidFill>
          <a:ln w="12700">
            <a:solidFill>
              <a:srgbClr val="0F4C5C"/>
            </a:solidFill>
            <a:prstDash val="solid"/>
          </a:ln>
        </p:spPr>
      </p:sp>
      <p:sp>
        <p:nvSpPr>
          <p:cNvPr id="10" name="Text 7"/>
          <p:cNvSpPr txBox="1"/>
          <p:nvPr/>
        </p:nvSpPr>
        <p:spPr>
          <a:xfrm>
            <a:off x="1234440" y="2529840"/>
            <a:ext cx="2926080" cy="883920"/>
          </a:xfrm>
          <a:prstGeom prst="rect">
            <a:avLst/>
          </a:prstGeom>
          <a:noFill/>
          <a:ln/>
        </p:spPr>
        <p:txBody>
          <a:bodyPr wrap="square" lIns="0" tIns="0" rIns="0" bIns="0" rtlCol="0" anchor="ctr"/>
          <a:lstStyle/>
          <a:p>
            <a:pPr indent="0" marL="0">
              <a:buNone/>
            </a:pPr>
            <a:r>
              <a:rPr lang="en-US" sz="2000" b="1" dirty="0">
                <a:solidFill>
                  <a:srgbClr val="0F4C5C"/>
                </a:solidFill>
              </a:rPr>
              <a:t>段階2 起動</a:t>
            </a:r>
            <a:endParaRPr lang="en-US" sz="2000" dirty="0"/>
          </a:p>
        </p:txBody>
      </p:sp>
      <p:sp>
        <p:nvSpPr>
          <p:cNvPr id="11" name="Text 8"/>
          <p:cNvSpPr txBox="1"/>
          <p:nvPr/>
        </p:nvSpPr>
        <p:spPr>
          <a:xfrm>
            <a:off x="4206240" y="2529840"/>
            <a:ext cx="5196535" cy="883920"/>
          </a:xfrm>
          <a:prstGeom prst="rect">
            <a:avLst/>
          </a:prstGeom>
          <a:noFill/>
          <a:ln/>
        </p:spPr>
        <p:txBody>
          <a:bodyPr wrap="square" lIns="0" tIns="0" rIns="0" bIns="0" rtlCol="0" anchor="ctr"/>
          <a:lstStyle/>
          <a:p>
            <a:pPr indent="0" marL="0">
              <a:buNone/>
            </a:pPr>
            <a:r>
              <a:rPr lang="en-US" sz="1700" dirty="0">
                <a:solidFill>
                  <a:srgbClr val="1F2933"/>
                </a:solidFill>
              </a:rPr>
              <a:t>頼みごとが description に合うと、SKILL.md の本文を全部読む</a:t>
            </a:r>
            <a:endParaRPr lang="en-US" sz="1700" dirty="0"/>
          </a:p>
        </p:txBody>
      </p:sp>
      <p:sp>
        <p:nvSpPr>
          <p:cNvPr id="12" name="Text 9"/>
          <p:cNvSpPr txBox="1"/>
          <p:nvPr/>
        </p:nvSpPr>
        <p:spPr>
          <a:xfrm>
            <a:off x="9539935" y="2529840"/>
            <a:ext cx="1920240" cy="883920"/>
          </a:xfrm>
          <a:prstGeom prst="rect">
            <a:avLst/>
          </a:prstGeom>
          <a:noFill/>
          <a:ln/>
        </p:spPr>
        <p:txBody>
          <a:bodyPr wrap="square" lIns="0" tIns="0" rIns="0" bIns="0" rtlCol="0" anchor="ctr"/>
          <a:lstStyle/>
          <a:p>
            <a:pPr algn="r" indent="0" marL="0">
              <a:buNone/>
            </a:pPr>
            <a:r>
              <a:rPr lang="en-US" sz="1400" dirty="0">
                <a:solidFill>
                  <a:srgbClr val="5F6B76"/>
                </a:solidFill>
              </a:rPr>
              <a:t>5,000トークン未満推奨</a:t>
            </a:r>
            <a:endParaRPr lang="en-US" sz="1400" dirty="0"/>
          </a:p>
        </p:txBody>
      </p:sp>
      <p:sp>
        <p:nvSpPr>
          <p:cNvPr id="13" name="Shape 10"/>
          <p:cNvSpPr/>
          <p:nvPr/>
        </p:nvSpPr>
        <p:spPr>
          <a:xfrm>
            <a:off x="1463040" y="3441192"/>
            <a:ext cx="320040" cy="265176"/>
          </a:xfrm>
          <a:prstGeom prst="downArrow">
            <a:avLst/>
          </a:prstGeom>
          <a:solidFill>
            <a:srgbClr val="E36414"/>
          </a:solidFill>
          <a:ln w="12700">
            <a:solidFill>
              <a:srgbClr val="E36414"/>
            </a:solidFill>
            <a:prstDash val="solid"/>
          </a:ln>
        </p:spPr>
      </p:sp>
      <p:sp>
        <p:nvSpPr>
          <p:cNvPr id="14" name="Shape 11"/>
          <p:cNvSpPr/>
          <p:nvPr/>
        </p:nvSpPr>
        <p:spPr>
          <a:xfrm>
            <a:off x="1463040" y="3733800"/>
            <a:ext cx="10180015" cy="883920"/>
          </a:xfrm>
          <a:prstGeom prst="roundRect">
            <a:avLst>
              <a:gd name="adj" fmla="val 10345"/>
            </a:avLst>
          </a:prstGeom>
          <a:solidFill>
            <a:srgbClr val="E6F0F2"/>
          </a:solidFill>
          <a:ln w="12700">
            <a:solidFill>
              <a:srgbClr val="0F4C5C"/>
            </a:solidFill>
            <a:prstDash val="solid"/>
          </a:ln>
        </p:spPr>
      </p:sp>
      <p:sp>
        <p:nvSpPr>
          <p:cNvPr id="15" name="Text 12"/>
          <p:cNvSpPr txBox="1"/>
          <p:nvPr/>
        </p:nvSpPr>
        <p:spPr>
          <a:xfrm>
            <a:off x="1691640" y="3733800"/>
            <a:ext cx="2926080" cy="883920"/>
          </a:xfrm>
          <a:prstGeom prst="rect">
            <a:avLst/>
          </a:prstGeom>
          <a:noFill/>
          <a:ln/>
        </p:spPr>
        <p:txBody>
          <a:bodyPr wrap="square" lIns="0" tIns="0" rIns="0" bIns="0" rtlCol="0" anchor="ctr"/>
          <a:lstStyle/>
          <a:p>
            <a:pPr indent="0" marL="0">
              <a:buNone/>
            </a:pPr>
            <a:r>
              <a:rPr lang="en-US" sz="2000" b="1" dirty="0">
                <a:solidFill>
                  <a:srgbClr val="0F4C5C"/>
                </a:solidFill>
              </a:rPr>
              <a:t>段階3 実行</a:t>
            </a:r>
            <a:endParaRPr lang="en-US" sz="2000" dirty="0"/>
          </a:p>
        </p:txBody>
      </p:sp>
      <p:sp>
        <p:nvSpPr>
          <p:cNvPr id="16" name="Text 13"/>
          <p:cNvSpPr txBox="1"/>
          <p:nvPr/>
        </p:nvSpPr>
        <p:spPr>
          <a:xfrm>
            <a:off x="4663440" y="3733800"/>
            <a:ext cx="4739335" cy="883920"/>
          </a:xfrm>
          <a:prstGeom prst="rect">
            <a:avLst/>
          </a:prstGeom>
          <a:noFill/>
          <a:ln/>
        </p:spPr>
        <p:txBody>
          <a:bodyPr wrap="square" lIns="0" tIns="0" rIns="0" bIns="0" rtlCol="0" anchor="ctr"/>
          <a:lstStyle/>
          <a:p>
            <a:pPr indent="0" marL="0">
              <a:buNone/>
            </a:pPr>
            <a:r>
              <a:rPr lang="en-US" sz="1700" dirty="0">
                <a:solidFill>
                  <a:srgbClr val="1F2933"/>
                </a:solidFill>
              </a:rPr>
              <a:t>本文の指示に従い、必要なファイルだけ読む・スクリプトを実行</a:t>
            </a:r>
            <a:endParaRPr lang="en-US" sz="1700" dirty="0"/>
          </a:p>
        </p:txBody>
      </p:sp>
      <p:sp>
        <p:nvSpPr>
          <p:cNvPr id="17" name="Text 14"/>
          <p:cNvSpPr txBox="1"/>
          <p:nvPr/>
        </p:nvSpPr>
        <p:spPr>
          <a:xfrm>
            <a:off x="9539935" y="3733800"/>
            <a:ext cx="1920240" cy="883920"/>
          </a:xfrm>
          <a:prstGeom prst="rect">
            <a:avLst/>
          </a:prstGeom>
          <a:noFill/>
          <a:ln/>
        </p:spPr>
        <p:txBody>
          <a:bodyPr wrap="square" lIns="0" tIns="0" rIns="0" bIns="0" rtlCol="0" anchor="ctr"/>
          <a:lstStyle/>
          <a:p>
            <a:pPr algn="r" indent="0" marL="0">
              <a:buNone/>
            </a:pPr>
            <a:r>
              <a:rPr lang="en-US" sz="1400" dirty="0">
                <a:solidFill>
                  <a:srgbClr val="5F6B76"/>
                </a:solidFill>
              </a:rPr>
              <a:t>必要な分だけ</a:t>
            </a:r>
            <a:endParaRPr lang="en-US" sz="1400" dirty="0"/>
          </a:p>
        </p:txBody>
      </p:sp>
      <p:sp>
        <p:nvSpPr>
          <p:cNvPr id="18" name="Shape 15"/>
          <p:cNvSpPr/>
          <p:nvPr/>
        </p:nvSpPr>
        <p:spPr>
          <a:xfrm>
            <a:off x="548640" y="4892040"/>
            <a:ext cx="11094415" cy="640080"/>
          </a:xfrm>
          <a:prstGeom prst="roundRect">
            <a:avLst>
              <a:gd name="adj" fmla="val 14286"/>
            </a:avLst>
          </a:prstGeom>
          <a:solidFill>
            <a:srgbClr val="FFF1E7"/>
          </a:solidFill>
          <a:ln w="12700">
            <a:solidFill>
              <a:srgbClr val="E36414"/>
            </a:solidFill>
            <a:prstDash val="solid"/>
          </a:ln>
        </p:spPr>
      </p:sp>
      <p:sp>
        <p:nvSpPr>
          <p:cNvPr id="19" name="Text 16"/>
          <p:cNvSpPr txBox="1"/>
          <p:nvPr/>
        </p:nvSpPr>
        <p:spPr>
          <a:xfrm>
            <a:off x="777240" y="489204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だから </a:t>
            </a:r>
            <a:r>
              <a:rPr lang="en-US" sz="1800" b="1" dirty="0">
                <a:solidFill>
                  <a:srgbClr val="E36414"/>
                </a:solidFill>
              </a:rPr>
              <a:t>description の出来が勝負</a:t>
            </a:r>
            <a:r>
              <a:rPr lang="en-US" sz="1800" dirty="0">
                <a:solidFill>
                  <a:srgbClr val="1F2933"/>
                </a:solidFill>
              </a:rPr>
              <a:t>。SKILL.md は </a:t>
            </a:r>
            <a:r>
              <a:rPr lang="en-US" sz="1800" b="1" dirty="0">
                <a:solidFill>
                  <a:srgbClr val="E36414"/>
                </a:solidFill>
              </a:rPr>
              <a:t>500行以内</a:t>
            </a:r>
            <a:r>
              <a:rPr lang="en-US" sz="1800" dirty="0">
                <a:solidFill>
                  <a:srgbClr val="1F2933"/>
                </a:solidFill>
              </a:rPr>
              <a:t>、詳細は別ファイルへ</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7. 良いSkillの設計手順</a:t>
            </a:r>
            <a:endParaRPr lang="en-US" sz="3000" dirty="0"/>
          </a:p>
        </p:txBody>
      </p:sp>
      <p:sp>
        <p:nvSpPr>
          <p:cNvPr id="4" name="step-1"/>
          <p:cNvSpPr/>
          <p:nvPr/>
        </p:nvSpPr>
        <p:spPr>
          <a:xfrm>
            <a:off x="548640" y="1325880"/>
            <a:ext cx="1889699" cy="4892040"/>
          </a:xfrm>
          <a:prstGeom prst="roundRect">
            <a:avLst>
              <a:gd name="adj" fmla="val 5807"/>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0F4C5C"/>
          </a:solidFill>
          <a:ln w="12700">
            <a:solidFill>
              <a:srgbClr val="0F4C5C"/>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31520" y="21031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Skillにすべきか判定</a:t>
            </a:r>
            <a:endParaRPr lang="en-US" sz="1700" dirty="0"/>
          </a:p>
        </p:txBody>
      </p:sp>
      <p:sp>
        <p:nvSpPr>
          <p:cNvPr id="8" name="Text 5"/>
          <p:cNvSpPr txBox="1"/>
          <p:nvPr/>
        </p:nvSpPr>
        <p:spPr>
          <a:xfrm>
            <a:off x="731520" y="2834640"/>
            <a:ext cx="1523939" cy="3246120"/>
          </a:xfrm>
          <a:prstGeom prst="rect">
            <a:avLst/>
          </a:prstGeom>
          <a:noFill/>
          <a:ln/>
        </p:spPr>
        <p:txBody>
          <a:bodyPr wrap="square" lIns="0" tIns="0" rIns="0" bIns="0" rtlCol="0" anchor="t"/>
          <a:lstStyle/>
          <a:p>
            <a:pPr indent="0" marL="0">
              <a:buNone/>
            </a:pPr>
            <a:r>
              <a:rPr lang="en-US" sz="1600" dirty="0">
                <a:solidFill>
                  <a:srgbClr val="1F2933"/>
                </a:solidFill>
              </a:rPr>
              <a:t>繰り返す・手順が決まっている・社内ルールがある</a:t>
            </a:r>
            <a:endParaRPr lang="en-US" sz="1600" dirty="0"/>
          </a:p>
        </p:txBody>
      </p:sp>
      <p:sp>
        <p:nvSpPr>
          <p:cNvPr id="9" name="Shape 6"/>
          <p:cNvSpPr/>
          <p:nvPr/>
        </p:nvSpPr>
        <p:spPr>
          <a:xfrm>
            <a:off x="2502347" y="3625596"/>
            <a:ext cx="283464" cy="292608"/>
          </a:xfrm>
          <a:prstGeom prst="rightArrow">
            <a:avLst/>
          </a:prstGeom>
          <a:solidFill>
            <a:srgbClr val="E36414"/>
          </a:solidFill>
          <a:ln w="12700">
            <a:solidFill>
              <a:srgbClr val="E36414"/>
            </a:solidFill>
            <a:prstDash val="solid"/>
          </a:ln>
        </p:spPr>
      </p:sp>
      <p:sp>
        <p:nvSpPr>
          <p:cNvPr id="10" name="step-2"/>
          <p:cNvSpPr/>
          <p:nvPr/>
        </p:nvSpPr>
        <p:spPr>
          <a:xfrm>
            <a:off x="2849819" y="1325880"/>
            <a:ext cx="1889699" cy="4892040"/>
          </a:xfrm>
          <a:prstGeom prst="roundRect">
            <a:avLst>
              <a:gd name="adj" fmla="val 5807"/>
            </a:avLst>
          </a:prstGeom>
          <a:solidFill>
            <a:srgbClr val="E6F0F2"/>
          </a:solidFill>
          <a:ln w="12700">
            <a:solidFill>
              <a:srgbClr val="E6F0F2"/>
            </a:solidFill>
            <a:prstDash val="solid"/>
          </a:ln>
        </p:spPr>
      </p:sp>
      <p:sp>
        <p:nvSpPr>
          <p:cNvPr id="11" name="Shape 8"/>
          <p:cNvSpPr/>
          <p:nvPr/>
        </p:nvSpPr>
        <p:spPr>
          <a:xfrm>
            <a:off x="3032699" y="1508760"/>
            <a:ext cx="457200" cy="457200"/>
          </a:xfrm>
          <a:prstGeom prst="ellipse">
            <a:avLst/>
          </a:prstGeom>
          <a:solidFill>
            <a:srgbClr val="0F4C5C"/>
          </a:solidFill>
          <a:ln w="12700">
            <a:solidFill>
              <a:srgbClr val="0F4C5C"/>
            </a:solidFill>
            <a:prstDash val="solid"/>
          </a:ln>
        </p:spPr>
      </p:sp>
      <p:sp>
        <p:nvSpPr>
          <p:cNvPr id="12" name="Text 9"/>
          <p:cNvSpPr txBox="1"/>
          <p:nvPr/>
        </p:nvSpPr>
        <p:spPr>
          <a:xfrm>
            <a:off x="3032699"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3032699" y="21031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発動条件を決める</a:t>
            </a:r>
            <a:endParaRPr lang="en-US" sz="1700" dirty="0"/>
          </a:p>
        </p:txBody>
      </p:sp>
      <p:sp>
        <p:nvSpPr>
          <p:cNvPr id="14" name="Text 11"/>
          <p:cNvSpPr txBox="1"/>
          <p:nvPr/>
        </p:nvSpPr>
        <p:spPr>
          <a:xfrm>
            <a:off x="3032699" y="2834640"/>
            <a:ext cx="1523939" cy="3246120"/>
          </a:xfrm>
          <a:prstGeom prst="rect">
            <a:avLst/>
          </a:prstGeom>
          <a:noFill/>
          <a:ln/>
        </p:spPr>
        <p:txBody>
          <a:bodyPr wrap="square" lIns="0" tIns="0" rIns="0" bIns="0" rtlCol="0" anchor="t"/>
          <a:lstStyle/>
          <a:p>
            <a:pPr indent="0" marL="0">
              <a:buNone/>
            </a:pPr>
            <a:r>
              <a:rPr lang="en-US" sz="1600" dirty="0">
                <a:solidFill>
                  <a:srgbClr val="1F2933"/>
                </a:solidFill>
              </a:rPr>
              <a:t>実際の頼み方を</a:t>
            </a:r>
            <a:r>
              <a:rPr lang="en-US" sz="1600" b="1" dirty="0">
                <a:solidFill>
                  <a:srgbClr val="0F4C5C"/>
                </a:solidFill>
              </a:rPr>
              <a:t>5つ以上</a:t>
            </a:r>
            <a:r>
              <a:rPr lang="en-US" sz="1600" dirty="0">
                <a:solidFill>
                  <a:srgbClr val="1F2933"/>
                </a:solidFill>
              </a:rPr>
              <a:t>書き出す</a:t>
            </a:r>
            <a:endParaRPr lang="en-US" sz="1600" dirty="0"/>
          </a:p>
        </p:txBody>
      </p:sp>
      <p:sp>
        <p:nvSpPr>
          <p:cNvPr id="15" name="Shape 12"/>
          <p:cNvSpPr/>
          <p:nvPr/>
        </p:nvSpPr>
        <p:spPr>
          <a:xfrm>
            <a:off x="4803526" y="3625596"/>
            <a:ext cx="283464" cy="292608"/>
          </a:xfrm>
          <a:prstGeom prst="rightArrow">
            <a:avLst/>
          </a:prstGeom>
          <a:solidFill>
            <a:srgbClr val="E36414"/>
          </a:solidFill>
          <a:ln w="12700">
            <a:solidFill>
              <a:srgbClr val="E36414"/>
            </a:solidFill>
            <a:prstDash val="solid"/>
          </a:ln>
        </p:spPr>
      </p:sp>
      <p:sp>
        <p:nvSpPr>
          <p:cNvPr id="16" name="step-3"/>
          <p:cNvSpPr/>
          <p:nvPr/>
        </p:nvSpPr>
        <p:spPr>
          <a:xfrm>
            <a:off x="5150998" y="1325880"/>
            <a:ext cx="1889699" cy="4892040"/>
          </a:xfrm>
          <a:prstGeom prst="roundRect">
            <a:avLst>
              <a:gd name="adj" fmla="val 5807"/>
            </a:avLst>
          </a:prstGeom>
          <a:solidFill>
            <a:srgbClr val="E6F0F2"/>
          </a:solidFill>
          <a:ln w="12700">
            <a:solidFill>
              <a:srgbClr val="E6F0F2"/>
            </a:solidFill>
            <a:prstDash val="solid"/>
          </a:ln>
        </p:spPr>
      </p:sp>
      <p:sp>
        <p:nvSpPr>
          <p:cNvPr id="17" name="Shape 14"/>
          <p:cNvSpPr/>
          <p:nvPr/>
        </p:nvSpPr>
        <p:spPr>
          <a:xfrm>
            <a:off x="5333878" y="1508760"/>
            <a:ext cx="457200" cy="457200"/>
          </a:xfrm>
          <a:prstGeom prst="ellipse">
            <a:avLst/>
          </a:prstGeom>
          <a:solidFill>
            <a:srgbClr val="0F4C5C"/>
          </a:solidFill>
          <a:ln w="12700">
            <a:solidFill>
              <a:srgbClr val="0F4C5C"/>
            </a:solidFill>
            <a:prstDash val="solid"/>
          </a:ln>
        </p:spPr>
      </p:sp>
      <p:sp>
        <p:nvSpPr>
          <p:cNvPr id="18" name="Text 15"/>
          <p:cNvSpPr txBox="1"/>
          <p:nvPr/>
        </p:nvSpPr>
        <p:spPr>
          <a:xfrm>
            <a:off x="533387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6"/>
          <p:cNvSpPr txBox="1"/>
          <p:nvPr/>
        </p:nvSpPr>
        <p:spPr>
          <a:xfrm>
            <a:off x="5333878" y="21031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入力と出力を決める</a:t>
            </a:r>
            <a:endParaRPr lang="en-US" sz="1700" dirty="0"/>
          </a:p>
        </p:txBody>
      </p:sp>
      <p:sp>
        <p:nvSpPr>
          <p:cNvPr id="20" name="Text 17"/>
          <p:cNvSpPr txBox="1"/>
          <p:nvPr/>
        </p:nvSpPr>
        <p:spPr>
          <a:xfrm>
            <a:off x="5333878" y="2834640"/>
            <a:ext cx="1523939" cy="3246120"/>
          </a:xfrm>
          <a:prstGeom prst="rect">
            <a:avLst/>
          </a:prstGeom>
          <a:noFill/>
          <a:ln/>
        </p:spPr>
        <p:txBody>
          <a:bodyPr wrap="square" lIns="0" tIns="0" rIns="0" bIns="0" rtlCol="0" anchor="t"/>
          <a:lstStyle/>
          <a:p>
            <a:pPr indent="0" marL="0">
              <a:buNone/>
            </a:pPr>
            <a:r>
              <a:rPr lang="en-US" sz="1600" dirty="0">
                <a:solidFill>
                  <a:srgbClr val="1F2933"/>
                </a:solidFill>
              </a:rPr>
              <a:t>何を受け取り、何を返すか</a:t>
            </a:r>
            <a:endParaRPr lang="en-US" sz="1600" dirty="0"/>
          </a:p>
        </p:txBody>
      </p:sp>
      <p:sp>
        <p:nvSpPr>
          <p:cNvPr id="21" name="Shape 18"/>
          <p:cNvSpPr/>
          <p:nvPr/>
        </p:nvSpPr>
        <p:spPr>
          <a:xfrm>
            <a:off x="7104705" y="3625596"/>
            <a:ext cx="283464" cy="292608"/>
          </a:xfrm>
          <a:prstGeom prst="rightArrow">
            <a:avLst/>
          </a:prstGeom>
          <a:solidFill>
            <a:srgbClr val="E36414"/>
          </a:solidFill>
          <a:ln w="12700">
            <a:solidFill>
              <a:srgbClr val="E36414"/>
            </a:solidFill>
            <a:prstDash val="solid"/>
          </a:ln>
        </p:spPr>
      </p:sp>
      <p:sp>
        <p:nvSpPr>
          <p:cNvPr id="22" name="step-4"/>
          <p:cNvSpPr/>
          <p:nvPr/>
        </p:nvSpPr>
        <p:spPr>
          <a:xfrm>
            <a:off x="7452177" y="1325880"/>
            <a:ext cx="1889699" cy="4892040"/>
          </a:xfrm>
          <a:prstGeom prst="roundRect">
            <a:avLst>
              <a:gd name="adj" fmla="val 5807"/>
            </a:avLst>
          </a:prstGeom>
          <a:solidFill>
            <a:srgbClr val="E6F0F2"/>
          </a:solidFill>
          <a:ln w="12700">
            <a:solidFill>
              <a:srgbClr val="E6F0F2"/>
            </a:solidFill>
            <a:prstDash val="solid"/>
          </a:ln>
        </p:spPr>
      </p:sp>
      <p:sp>
        <p:nvSpPr>
          <p:cNvPr id="23" name="Shape 20"/>
          <p:cNvSpPr/>
          <p:nvPr/>
        </p:nvSpPr>
        <p:spPr>
          <a:xfrm>
            <a:off x="7635057" y="1508760"/>
            <a:ext cx="457200" cy="457200"/>
          </a:xfrm>
          <a:prstGeom prst="ellipse">
            <a:avLst/>
          </a:prstGeom>
          <a:solidFill>
            <a:srgbClr val="0F4C5C"/>
          </a:solidFill>
          <a:ln w="12700">
            <a:solidFill>
              <a:srgbClr val="0F4C5C"/>
            </a:solidFill>
            <a:prstDash val="solid"/>
          </a:ln>
        </p:spPr>
      </p:sp>
      <p:sp>
        <p:nvSpPr>
          <p:cNvPr id="24" name="Text 21"/>
          <p:cNvSpPr txBox="1"/>
          <p:nvPr/>
        </p:nvSpPr>
        <p:spPr>
          <a:xfrm>
            <a:off x="7635057"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Text 22"/>
          <p:cNvSpPr txBox="1"/>
          <p:nvPr/>
        </p:nvSpPr>
        <p:spPr>
          <a:xfrm>
            <a:off x="7635057" y="21031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成功の基準を決める</a:t>
            </a:r>
            <a:endParaRPr lang="en-US" sz="1700" dirty="0"/>
          </a:p>
        </p:txBody>
      </p:sp>
      <p:sp>
        <p:nvSpPr>
          <p:cNvPr id="26" name="Text 23"/>
          <p:cNvSpPr txBox="1"/>
          <p:nvPr/>
        </p:nvSpPr>
        <p:spPr>
          <a:xfrm>
            <a:off x="7635057" y="2834640"/>
            <a:ext cx="1523939" cy="3246120"/>
          </a:xfrm>
          <a:prstGeom prst="rect">
            <a:avLst/>
          </a:prstGeom>
          <a:noFill/>
          <a:ln/>
        </p:spPr>
        <p:txBody>
          <a:bodyPr wrap="square" lIns="0" tIns="0" rIns="0" bIns="0" rtlCol="0" anchor="t"/>
          <a:lstStyle/>
          <a:p>
            <a:pPr indent="0" marL="0">
              <a:buNone/>
            </a:pPr>
            <a:r>
              <a:rPr lang="en-US" sz="1600" dirty="0">
                <a:solidFill>
                  <a:srgbClr val="1F2933"/>
                </a:solidFill>
              </a:rPr>
              <a:t>確かめられる形で書く（例: 宿題が全件3点そろう）</a:t>
            </a:r>
            <a:endParaRPr lang="en-US" sz="1600" dirty="0"/>
          </a:p>
        </p:txBody>
      </p:sp>
      <p:sp>
        <p:nvSpPr>
          <p:cNvPr id="27" name="Shape 24"/>
          <p:cNvSpPr/>
          <p:nvPr/>
        </p:nvSpPr>
        <p:spPr>
          <a:xfrm>
            <a:off x="9405884" y="3625596"/>
            <a:ext cx="283464" cy="292608"/>
          </a:xfrm>
          <a:prstGeom prst="rightArrow">
            <a:avLst/>
          </a:prstGeom>
          <a:solidFill>
            <a:srgbClr val="E36414"/>
          </a:solidFill>
          <a:ln w="12700">
            <a:solidFill>
              <a:srgbClr val="E36414"/>
            </a:solidFill>
            <a:prstDash val="solid"/>
          </a:ln>
        </p:spPr>
      </p:sp>
      <p:sp>
        <p:nvSpPr>
          <p:cNvPr id="28" name="step-5"/>
          <p:cNvSpPr/>
          <p:nvPr/>
        </p:nvSpPr>
        <p:spPr>
          <a:xfrm>
            <a:off x="9753356" y="1325880"/>
            <a:ext cx="1889699" cy="4892040"/>
          </a:xfrm>
          <a:prstGeom prst="roundRect">
            <a:avLst>
              <a:gd name="adj" fmla="val 5807"/>
            </a:avLst>
          </a:prstGeom>
          <a:solidFill>
            <a:srgbClr val="E6F0F2"/>
          </a:solidFill>
          <a:ln w="12700">
            <a:solidFill>
              <a:srgbClr val="E6F0F2"/>
            </a:solidFill>
            <a:prstDash val="solid"/>
          </a:ln>
        </p:spPr>
      </p:sp>
      <p:sp>
        <p:nvSpPr>
          <p:cNvPr id="29" name="Shape 26"/>
          <p:cNvSpPr/>
          <p:nvPr/>
        </p:nvSpPr>
        <p:spPr>
          <a:xfrm>
            <a:off x="9936236" y="1508760"/>
            <a:ext cx="457200" cy="457200"/>
          </a:xfrm>
          <a:prstGeom prst="ellipse">
            <a:avLst/>
          </a:prstGeom>
          <a:solidFill>
            <a:srgbClr val="0F4C5C"/>
          </a:solidFill>
          <a:ln w="12700">
            <a:solidFill>
              <a:srgbClr val="0F4C5C"/>
            </a:solidFill>
            <a:prstDash val="solid"/>
          </a:ln>
        </p:spPr>
      </p:sp>
      <p:sp>
        <p:nvSpPr>
          <p:cNvPr id="30" name="Text 27"/>
          <p:cNvSpPr txBox="1"/>
          <p:nvPr/>
        </p:nvSpPr>
        <p:spPr>
          <a:xfrm>
            <a:off x="9936236"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1" name="Text 28"/>
          <p:cNvSpPr txBox="1"/>
          <p:nvPr/>
        </p:nvSpPr>
        <p:spPr>
          <a:xfrm>
            <a:off x="9936236" y="21031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テストの頼み方を用意</a:t>
            </a:r>
            <a:endParaRPr lang="en-US" sz="1700" dirty="0"/>
          </a:p>
        </p:txBody>
      </p:sp>
      <p:sp>
        <p:nvSpPr>
          <p:cNvPr id="32" name="Text 29"/>
          <p:cNvSpPr txBox="1"/>
          <p:nvPr/>
        </p:nvSpPr>
        <p:spPr>
          <a:xfrm>
            <a:off x="9936236" y="2834640"/>
            <a:ext cx="1523939" cy="3246120"/>
          </a:xfrm>
          <a:prstGeom prst="rect">
            <a:avLst/>
          </a:prstGeom>
          <a:noFill/>
          <a:ln/>
        </p:spPr>
        <p:txBody>
          <a:bodyPr wrap="square" lIns="0" tIns="0" rIns="0" bIns="0" rtlCol="0" anchor="t"/>
          <a:lstStyle/>
          <a:p>
            <a:pPr indent="0" marL="0">
              <a:buNone/>
            </a:pPr>
            <a:r>
              <a:rPr lang="en-US" sz="1600" dirty="0">
                <a:solidFill>
                  <a:srgbClr val="1F2933"/>
                </a:solidFill>
              </a:rPr>
              <a:t>使われるべき</a:t>
            </a:r>
            <a:r>
              <a:rPr lang="en-US" sz="1600" b="1" dirty="0">
                <a:solidFill>
                  <a:srgbClr val="0F4C5C"/>
                </a:solidFill>
              </a:rPr>
              <a:t>3つ以上</a:t>
            </a:r>
            <a:r>
              <a:rPr lang="en-US" sz="1600" dirty="0">
                <a:solidFill>
                  <a:srgbClr val="1F2933"/>
                </a:solidFill>
              </a:rPr>
              <a:t>＋紛らわしい例</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Skillに向く作業・向かない作業</a:t>
            </a:r>
            <a:endParaRPr lang="en-US" sz="3000" dirty="0"/>
          </a:p>
        </p:txBody>
      </p:sp>
      <p:sp>
        <p:nvSpPr>
          <p:cNvPr id="4" name="card-1"/>
          <p:cNvSpPr/>
          <p:nvPr/>
        </p:nvSpPr>
        <p:spPr>
          <a:xfrm>
            <a:off x="548640" y="1325880"/>
            <a:ext cx="5410048" cy="3886200"/>
          </a:xfrm>
          <a:prstGeom prst="roundRect">
            <a:avLst>
              <a:gd name="adj" fmla="val 2824"/>
            </a:avLst>
          </a:prstGeom>
          <a:solidFill>
            <a:srgbClr val="E6F0F2"/>
          </a:solidFill>
          <a:ln w="12700">
            <a:solidFill>
              <a:srgbClr val="E6F0F2"/>
            </a:solidFill>
            <a:prstDash val="solid"/>
          </a:ln>
        </p:spPr>
      </p:sp>
      <p:sp>
        <p:nvSpPr>
          <p:cNvPr id="5" name="Text 2"/>
          <p:cNvSpPr txBox="1"/>
          <p:nvPr/>
        </p:nvSpPr>
        <p:spPr>
          <a:xfrm>
            <a:off x="777240"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Skillに向く</a:t>
            </a:r>
            <a:endParaRPr lang="en-US" sz="2000" dirty="0"/>
          </a:p>
        </p:txBody>
      </p:sp>
      <p:sp>
        <p:nvSpPr>
          <p:cNvPr id="6" name="Text 3"/>
          <p:cNvSpPr txBox="1"/>
          <p:nvPr/>
        </p:nvSpPr>
        <p:spPr>
          <a:xfrm>
            <a:off x="777240" y="2103120"/>
            <a:ext cx="495284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何度も繰り返す作業</a:t>
            </a:r>
            <a:endParaRPr lang="en-US" sz="1600" dirty="0"/>
          </a:p>
          <a:p>
            <a:pPr marL="203200" indent="-203200">
              <a:spcAft>
                <a:spcPts val="600"/>
              </a:spcAft>
              <a:buSzPct val="100000"/>
              <a:buChar char="●"/>
            </a:pPr>
            <a:r>
              <a:rPr lang="en-US" sz="1600" dirty="0">
                <a:solidFill>
                  <a:srgbClr val="1F2933"/>
                </a:solidFill>
              </a:rPr>
              <a:t>手順やルールが決まっている</a:t>
            </a:r>
            <a:endParaRPr lang="en-US" sz="1600" dirty="0"/>
          </a:p>
          <a:p>
            <a:pPr marL="203200" indent="-203200">
              <a:spcAft>
                <a:spcPts val="600"/>
              </a:spcAft>
              <a:buSzPct val="100000"/>
              <a:buChar char="●"/>
            </a:pPr>
            <a:r>
              <a:rPr lang="en-US" sz="1600" dirty="0">
                <a:solidFill>
                  <a:srgbClr val="1F2933"/>
                </a:solidFill>
              </a:rPr>
              <a:t>AIが知らない社内ルールがある</a:t>
            </a:r>
            <a:endParaRPr lang="en-US" sz="1600" dirty="0"/>
          </a:p>
          <a:p>
            <a:pPr marL="203200" indent="-203200">
              <a:spcAft>
                <a:spcPts val="600"/>
              </a:spcAft>
              <a:buSzPct val="100000"/>
              <a:buChar char="●"/>
            </a:pPr>
            <a:r>
              <a:rPr lang="en-US" sz="1600" dirty="0">
                <a:solidFill>
                  <a:srgbClr val="1F2933"/>
                </a:solidFill>
              </a:rPr>
              <a:t>1つの目的に絞れる</a:t>
            </a:r>
            <a:endParaRPr lang="en-US" sz="1600" dirty="0"/>
          </a:p>
        </p:txBody>
      </p:sp>
      <p:sp>
        <p:nvSpPr>
          <p:cNvPr id="7" name="card-2"/>
          <p:cNvSpPr/>
          <p:nvPr/>
        </p:nvSpPr>
        <p:spPr>
          <a:xfrm>
            <a:off x="6233008" y="1325880"/>
            <a:ext cx="5410048" cy="3886200"/>
          </a:xfrm>
          <a:prstGeom prst="roundRect">
            <a:avLst>
              <a:gd name="adj" fmla="val 2824"/>
            </a:avLst>
          </a:prstGeom>
          <a:solidFill>
            <a:srgbClr val="FFF1E7"/>
          </a:solidFill>
          <a:ln w="12700">
            <a:solidFill>
              <a:srgbClr val="E36414"/>
            </a:solidFill>
            <a:prstDash val="solid"/>
          </a:ln>
        </p:spPr>
      </p:sp>
      <p:sp>
        <p:nvSpPr>
          <p:cNvPr id="8" name="Text 5"/>
          <p:cNvSpPr txBox="1"/>
          <p:nvPr/>
        </p:nvSpPr>
        <p:spPr>
          <a:xfrm>
            <a:off x="6461608"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Skillに向かない</a:t>
            </a:r>
            <a:endParaRPr lang="en-US" sz="2000" dirty="0"/>
          </a:p>
        </p:txBody>
      </p:sp>
      <p:sp>
        <p:nvSpPr>
          <p:cNvPr id="9" name="Text 6"/>
          <p:cNvSpPr txBox="1"/>
          <p:nvPr/>
        </p:nvSpPr>
        <p:spPr>
          <a:xfrm>
            <a:off x="6461608" y="2103120"/>
            <a:ext cx="495284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一度きりの作業</a:t>
            </a:r>
            <a:endParaRPr lang="en-US" sz="1600" dirty="0"/>
          </a:p>
          <a:p>
            <a:pPr marL="203200" indent="-203200">
              <a:spcAft>
                <a:spcPts val="600"/>
              </a:spcAft>
              <a:buSzPct val="100000"/>
              <a:buChar char="●"/>
            </a:pPr>
            <a:r>
              <a:rPr lang="en-US" sz="1600" dirty="0">
                <a:solidFill>
                  <a:srgbClr val="1F2933"/>
                </a:solidFill>
              </a:rPr>
              <a:t>毎回やり方が違う</a:t>
            </a:r>
            <a:endParaRPr lang="en-US" sz="1600" dirty="0"/>
          </a:p>
          <a:p>
            <a:pPr marL="203200" indent="-203200">
              <a:spcAft>
                <a:spcPts val="600"/>
              </a:spcAft>
              <a:buSzPct val="100000"/>
              <a:buChar char="●"/>
            </a:pPr>
            <a:r>
              <a:rPr lang="en-US" sz="1600" dirty="0">
                <a:solidFill>
                  <a:srgbClr val="1F2933"/>
                </a:solidFill>
              </a:rPr>
              <a:t>AIが一般知識で十分こなせる</a:t>
            </a:r>
            <a:endParaRPr lang="en-US" sz="1600" dirty="0"/>
          </a:p>
          <a:p>
            <a:pPr marL="203200" indent="-203200">
              <a:spcAft>
                <a:spcPts val="600"/>
              </a:spcAft>
              <a:buSzPct val="100000"/>
              <a:buChar char="●"/>
            </a:pPr>
            <a:r>
              <a:rPr lang="en-US" sz="1600" dirty="0">
                <a:solidFill>
                  <a:srgbClr val="1F2933"/>
                </a:solidFill>
              </a:rPr>
              <a:t>「何でもできる」万能型</a:t>
            </a:r>
            <a:endParaRPr lang="en-US" sz="1600" dirty="0"/>
          </a:p>
        </p:txBody>
      </p:sp>
      <p:sp>
        <p:nvSpPr>
          <p:cNvPr id="10" name="Shape 7"/>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11" name="Text 8"/>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b="1" dirty="0">
                <a:solidFill>
                  <a:srgbClr val="E36414"/>
                </a:solidFill>
              </a:rPr>
              <a:t>1つのSkillに1つの仕事</a:t>
            </a:r>
            <a:r>
              <a:rPr lang="en-US" sz="1800" dirty="0">
                <a:solidFill>
                  <a:srgbClr val="1F2933"/>
                </a:solidFill>
              </a:rPr>
              <a:t>。大きな1つより小さな複数のほうがうまく組み合わさる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8. description の書き方: 悪い例と良い例</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463040"/>
                <a:gridCol w="6583680"/>
                <a:gridCol w="3044952"/>
              </a:tblGrid>
              <a:tr h="457200">
                <a:tc>
                  <a:txBody>
                    <a:bodyPr/>
                    <a:lstStyle/>
                    <a:p>
                      <a:pPr indent="0" marL="0">
                        <a:buNone/>
                      </a:pP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評価</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500" dirty="0">
                          <a:solidFill>
                            <a:srgbClr val="1F2933"/>
                          </a:solidFill>
                        </a:rPr>
                        <a:t>悪い例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議事録を手伝う。</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何をするか曖昧。いつ使うかがない</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悪い例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私は議事録を作れます。</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一人称は避ける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b="1" dirty="0">
                          <a:solidFill>
                            <a:srgbClr val="1F2933"/>
                          </a:solidFill>
                        </a:rPr>
                        <a:t>良い例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会議のメモや文字起こしから、決定事項・宿題（担当・内容・期限）・未決事項を整理した議事録を作成する。「議事録にして」「会議メモをまとめて」と頼まれたとき、または会議の文字起こしが貼り付けられたときに使う。</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何を・いつが具体的。利用者の言葉が入っている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description を書く4つのコツ</a:t>
            </a:r>
            <a:endParaRPr lang="en-US" sz="3000" dirty="0"/>
          </a:p>
        </p:txBody>
      </p:sp>
      <p:sp>
        <p:nvSpPr>
          <p:cNvPr id="4" name="card-1"/>
          <p:cNvSpPr/>
          <p:nvPr/>
        </p:nvSpPr>
        <p:spPr>
          <a:xfrm>
            <a:off x="548640" y="1325880"/>
            <a:ext cx="2567864" cy="4892040"/>
          </a:xfrm>
          <a:prstGeom prst="roundRect">
            <a:avLst>
              <a:gd name="adj" fmla="val 4273"/>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E36414"/>
          </a:solidFill>
          <a:ln w="12700">
            <a:solidFill>
              <a:srgbClr val="E36414"/>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325880" y="1508760"/>
            <a:ext cx="1607744" cy="457200"/>
          </a:xfrm>
          <a:prstGeom prst="rect">
            <a:avLst/>
          </a:prstGeom>
          <a:noFill/>
          <a:ln/>
        </p:spPr>
        <p:txBody>
          <a:bodyPr wrap="square" lIns="0" tIns="0" rIns="0" bIns="0" rtlCol="0" anchor="ctr"/>
          <a:lstStyle/>
          <a:p>
            <a:pPr indent="0" marL="0">
              <a:buNone/>
            </a:pPr>
            <a:r>
              <a:rPr lang="en-US" sz="1800" b="1" dirty="0">
                <a:solidFill>
                  <a:srgbClr val="0F4C5C"/>
                </a:solidFill>
              </a:rPr>
              <a:t>利用者の言葉を入れる</a:t>
            </a:r>
            <a:endParaRPr lang="en-US" sz="1800" dirty="0"/>
          </a:p>
        </p:txBody>
      </p:sp>
      <p:sp>
        <p:nvSpPr>
          <p:cNvPr id="8" name="Text 5"/>
          <p:cNvSpPr txBox="1"/>
          <p:nvPr/>
        </p:nvSpPr>
        <p:spPr>
          <a:xfrm>
            <a:off x="777240" y="2103120"/>
            <a:ext cx="2110664" cy="397764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「議事録」「会議メモ」「打合せ記録」など言い換えも</a:t>
            </a:r>
            <a:endParaRPr lang="en-US" sz="1800" dirty="0"/>
          </a:p>
        </p:txBody>
      </p:sp>
      <p:sp>
        <p:nvSpPr>
          <p:cNvPr id="9" name="card-2"/>
          <p:cNvSpPr/>
          <p:nvPr/>
        </p:nvSpPr>
        <p:spPr>
          <a:xfrm>
            <a:off x="3390824" y="1325880"/>
            <a:ext cx="2567864" cy="4892040"/>
          </a:xfrm>
          <a:prstGeom prst="roundRect">
            <a:avLst>
              <a:gd name="adj" fmla="val 4273"/>
            </a:avLst>
          </a:prstGeom>
          <a:solidFill>
            <a:srgbClr val="E6F0F2"/>
          </a:solidFill>
          <a:ln w="12700">
            <a:solidFill>
              <a:srgbClr val="E6F0F2"/>
            </a:solidFill>
            <a:prstDash val="solid"/>
          </a:ln>
        </p:spPr>
      </p:sp>
      <p:sp>
        <p:nvSpPr>
          <p:cNvPr id="10" name="Shape 7"/>
          <p:cNvSpPr/>
          <p:nvPr/>
        </p:nvSpPr>
        <p:spPr>
          <a:xfrm>
            <a:off x="3573704" y="1508760"/>
            <a:ext cx="457200" cy="457200"/>
          </a:xfrm>
          <a:prstGeom prst="ellipse">
            <a:avLst/>
          </a:prstGeom>
          <a:solidFill>
            <a:srgbClr val="E36414"/>
          </a:solidFill>
          <a:ln w="12700">
            <a:solidFill>
              <a:srgbClr val="E36414"/>
            </a:solidFill>
            <a:prstDash val="solid"/>
          </a:ln>
        </p:spPr>
      </p:sp>
      <p:sp>
        <p:nvSpPr>
          <p:cNvPr id="11" name="Text 8"/>
          <p:cNvSpPr txBox="1"/>
          <p:nvPr/>
        </p:nvSpPr>
        <p:spPr>
          <a:xfrm>
            <a:off x="3573704"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4168064" y="1508760"/>
            <a:ext cx="1607744" cy="457200"/>
          </a:xfrm>
          <a:prstGeom prst="rect">
            <a:avLst/>
          </a:prstGeom>
          <a:noFill/>
          <a:ln/>
        </p:spPr>
        <p:txBody>
          <a:bodyPr wrap="square" lIns="0" tIns="0" rIns="0" bIns="0" rtlCol="0" anchor="ctr"/>
          <a:lstStyle/>
          <a:p>
            <a:pPr indent="0" marL="0">
              <a:buNone/>
            </a:pPr>
            <a:r>
              <a:rPr lang="en-US" sz="1800" b="1" dirty="0">
                <a:solidFill>
                  <a:srgbClr val="0F4C5C"/>
                </a:solidFill>
              </a:rPr>
              <a:t>状況でも判断できるように</a:t>
            </a:r>
            <a:endParaRPr lang="en-US" sz="1800" dirty="0"/>
          </a:p>
        </p:txBody>
      </p:sp>
      <p:sp>
        <p:nvSpPr>
          <p:cNvPr id="13" name="Text 10"/>
          <p:cNvSpPr txBox="1"/>
          <p:nvPr/>
        </p:nvSpPr>
        <p:spPr>
          <a:xfrm>
            <a:off x="3619424" y="2103120"/>
            <a:ext cx="2110664" cy="397764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「文字起こしが貼り付けられたとき」など</a:t>
            </a:r>
            <a:endParaRPr lang="en-US" sz="1800" dirty="0"/>
          </a:p>
        </p:txBody>
      </p:sp>
      <p:sp>
        <p:nvSpPr>
          <p:cNvPr id="14" name="card-3"/>
          <p:cNvSpPr/>
          <p:nvPr/>
        </p:nvSpPr>
        <p:spPr>
          <a:xfrm>
            <a:off x="6233008" y="1325880"/>
            <a:ext cx="2567864" cy="4892040"/>
          </a:xfrm>
          <a:prstGeom prst="roundRect">
            <a:avLst>
              <a:gd name="adj" fmla="val 4273"/>
            </a:avLst>
          </a:prstGeom>
          <a:solidFill>
            <a:srgbClr val="E6F0F2"/>
          </a:solidFill>
          <a:ln w="12700">
            <a:solidFill>
              <a:srgbClr val="E6F0F2"/>
            </a:solidFill>
            <a:prstDash val="solid"/>
          </a:ln>
        </p:spPr>
      </p:sp>
      <p:sp>
        <p:nvSpPr>
          <p:cNvPr id="15" name="Shape 12"/>
          <p:cNvSpPr/>
          <p:nvPr/>
        </p:nvSpPr>
        <p:spPr>
          <a:xfrm>
            <a:off x="6415888" y="1508760"/>
            <a:ext cx="457200" cy="457200"/>
          </a:xfrm>
          <a:prstGeom prst="ellipse">
            <a:avLst/>
          </a:prstGeom>
          <a:solidFill>
            <a:srgbClr val="E36414"/>
          </a:solidFill>
          <a:ln w="12700">
            <a:solidFill>
              <a:srgbClr val="E36414"/>
            </a:solidFill>
            <a:prstDash val="solid"/>
          </a:ln>
        </p:spPr>
      </p:sp>
      <p:sp>
        <p:nvSpPr>
          <p:cNvPr id="16" name="Text 13"/>
          <p:cNvSpPr txBox="1"/>
          <p:nvPr/>
        </p:nvSpPr>
        <p:spPr>
          <a:xfrm>
            <a:off x="641588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7010248" y="1508760"/>
            <a:ext cx="1607744" cy="457200"/>
          </a:xfrm>
          <a:prstGeom prst="rect">
            <a:avLst/>
          </a:prstGeom>
          <a:noFill/>
          <a:ln/>
        </p:spPr>
        <p:txBody>
          <a:bodyPr wrap="square" lIns="0" tIns="0" rIns="0" bIns="0" rtlCol="0" anchor="ctr"/>
          <a:lstStyle/>
          <a:p>
            <a:pPr indent="0" marL="0">
              <a:buNone/>
            </a:pPr>
            <a:r>
              <a:rPr lang="en-US" sz="1800" b="1" dirty="0">
                <a:solidFill>
                  <a:srgbClr val="0F4C5C"/>
                </a:solidFill>
              </a:rPr>
              <a:t>少し積極的に書く</a:t>
            </a:r>
            <a:endParaRPr lang="en-US" sz="1800" dirty="0"/>
          </a:p>
        </p:txBody>
      </p:sp>
      <p:sp>
        <p:nvSpPr>
          <p:cNvPr id="18" name="Text 15"/>
          <p:cNvSpPr txBox="1"/>
          <p:nvPr/>
        </p:nvSpPr>
        <p:spPr>
          <a:xfrm>
            <a:off x="6461608" y="2103120"/>
            <a:ext cx="2110664" cy="397764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「〜という言葉がなくても、〜の場合は使う」</a:t>
            </a:r>
            <a:endParaRPr lang="en-US" sz="1800" dirty="0"/>
          </a:p>
        </p:txBody>
      </p:sp>
      <p:sp>
        <p:nvSpPr>
          <p:cNvPr id="19" name="card-4"/>
          <p:cNvSpPr/>
          <p:nvPr/>
        </p:nvSpPr>
        <p:spPr>
          <a:xfrm>
            <a:off x="9075191" y="1325880"/>
            <a:ext cx="2567864" cy="4892040"/>
          </a:xfrm>
          <a:prstGeom prst="roundRect">
            <a:avLst>
              <a:gd name="adj" fmla="val 4273"/>
            </a:avLst>
          </a:prstGeom>
          <a:solidFill>
            <a:srgbClr val="E6F0F2"/>
          </a:solidFill>
          <a:ln w="12700">
            <a:solidFill>
              <a:srgbClr val="E6F0F2"/>
            </a:solidFill>
            <a:prstDash val="solid"/>
          </a:ln>
        </p:spPr>
      </p:sp>
      <p:sp>
        <p:nvSpPr>
          <p:cNvPr id="20" name="Shape 17"/>
          <p:cNvSpPr/>
          <p:nvPr/>
        </p:nvSpPr>
        <p:spPr>
          <a:xfrm>
            <a:off x="9258071" y="1508760"/>
            <a:ext cx="457200" cy="457200"/>
          </a:xfrm>
          <a:prstGeom prst="ellipse">
            <a:avLst/>
          </a:prstGeom>
          <a:solidFill>
            <a:srgbClr val="E36414"/>
          </a:solidFill>
          <a:ln w="12700">
            <a:solidFill>
              <a:srgbClr val="E36414"/>
            </a:solidFill>
            <a:prstDash val="solid"/>
          </a:ln>
        </p:spPr>
      </p:sp>
      <p:sp>
        <p:nvSpPr>
          <p:cNvPr id="21" name="Text 18"/>
          <p:cNvSpPr txBox="1"/>
          <p:nvPr/>
        </p:nvSpPr>
        <p:spPr>
          <a:xfrm>
            <a:off x="9258071"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19"/>
          <p:cNvSpPr txBox="1"/>
          <p:nvPr/>
        </p:nvSpPr>
        <p:spPr>
          <a:xfrm>
            <a:off x="9852431" y="1508760"/>
            <a:ext cx="1607744" cy="457200"/>
          </a:xfrm>
          <a:prstGeom prst="rect">
            <a:avLst/>
          </a:prstGeom>
          <a:noFill/>
          <a:ln/>
        </p:spPr>
        <p:txBody>
          <a:bodyPr wrap="square" lIns="0" tIns="0" rIns="0" bIns="0" rtlCol="0" anchor="ctr"/>
          <a:lstStyle/>
          <a:p>
            <a:pPr indent="0" marL="0">
              <a:buNone/>
            </a:pPr>
            <a:r>
              <a:rPr lang="en-US" sz="1800" b="1" dirty="0">
                <a:solidFill>
                  <a:srgbClr val="0F4C5C"/>
                </a:solidFill>
              </a:rPr>
              <a:t>主語は書かない</a:t>
            </a:r>
            <a:endParaRPr lang="en-US" sz="1800" dirty="0"/>
          </a:p>
        </p:txBody>
      </p:sp>
      <p:sp>
        <p:nvSpPr>
          <p:cNvPr id="23" name="Text 20"/>
          <p:cNvSpPr txBox="1"/>
          <p:nvPr/>
        </p:nvSpPr>
        <p:spPr>
          <a:xfrm>
            <a:off x="9303791" y="2103120"/>
            <a:ext cx="2110664" cy="397764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「〜する。〜のときに使う。」（三人称）</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本文の構成と6つの原則</a:t>
            </a:r>
            <a:endParaRPr lang="en-US" sz="3000" dirty="0"/>
          </a:p>
        </p:txBody>
      </p:sp>
      <p:sp>
        <p:nvSpPr>
          <p:cNvPr id="4" name="Text 1"/>
          <p:cNvSpPr txBox="1"/>
          <p:nvPr/>
        </p:nvSpPr>
        <p:spPr>
          <a:xfrm>
            <a:off x="548640" y="1325880"/>
            <a:ext cx="3291840" cy="365760"/>
          </a:xfrm>
          <a:prstGeom prst="rect">
            <a:avLst/>
          </a:prstGeom>
          <a:noFill/>
          <a:ln/>
        </p:spPr>
        <p:txBody>
          <a:bodyPr wrap="square" lIns="0" tIns="0" rIns="0" bIns="0" rtlCol="0" anchor="t"/>
          <a:lstStyle/>
          <a:p>
            <a:pPr indent="0" marL="0">
              <a:buNone/>
            </a:pPr>
            <a:r>
              <a:rPr lang="en-US" sz="1800" b="1" dirty="0">
                <a:solidFill>
                  <a:srgbClr val="0F4C5C"/>
                </a:solidFill>
              </a:rPr>
              <a:t>本文の構成例</a:t>
            </a:r>
            <a:endParaRPr lang="en-US" sz="1800" dirty="0"/>
          </a:p>
        </p:txBody>
      </p:sp>
      <p:sp>
        <p:nvSpPr>
          <p:cNvPr id="5" name="step-1"/>
          <p:cNvSpPr/>
          <p:nvPr/>
        </p:nvSpPr>
        <p:spPr>
          <a:xfrm>
            <a:off x="548640" y="1783080"/>
            <a:ext cx="1889699" cy="1325880"/>
          </a:xfrm>
          <a:prstGeom prst="roundRect">
            <a:avLst>
              <a:gd name="adj" fmla="val 8276"/>
            </a:avLst>
          </a:prstGeom>
          <a:solidFill>
            <a:srgbClr val="E6F0F2"/>
          </a:solidFill>
          <a:ln w="12700">
            <a:solidFill>
              <a:srgbClr val="E6F0F2"/>
            </a:solidFill>
            <a:prstDash val="solid"/>
          </a:ln>
        </p:spPr>
      </p:sp>
      <p:sp>
        <p:nvSpPr>
          <p:cNvPr id="6" name="Shape 3"/>
          <p:cNvSpPr/>
          <p:nvPr/>
        </p:nvSpPr>
        <p:spPr>
          <a:xfrm>
            <a:off x="731520" y="1965960"/>
            <a:ext cx="457200" cy="457200"/>
          </a:xfrm>
          <a:prstGeom prst="ellipse">
            <a:avLst/>
          </a:prstGeom>
          <a:solidFill>
            <a:srgbClr val="0F4C5C"/>
          </a:solidFill>
          <a:ln w="12700">
            <a:solidFill>
              <a:srgbClr val="0F4C5C"/>
            </a:solidFill>
            <a:prstDash val="solid"/>
          </a:ln>
        </p:spPr>
      </p:sp>
      <p:sp>
        <p:nvSpPr>
          <p:cNvPr id="7" name="Text 4"/>
          <p:cNvSpPr txBox="1"/>
          <p:nvPr/>
        </p:nvSpPr>
        <p:spPr>
          <a:xfrm>
            <a:off x="73152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5"/>
          <p:cNvSpPr txBox="1"/>
          <p:nvPr/>
        </p:nvSpPr>
        <p:spPr>
          <a:xfrm>
            <a:off x="731520" y="25603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目的</a:t>
            </a:r>
            <a:endParaRPr lang="en-US" sz="1700" dirty="0"/>
          </a:p>
        </p:txBody>
      </p:sp>
      <p:sp>
        <p:nvSpPr>
          <p:cNvPr id="9" name="Shape 6"/>
          <p:cNvSpPr/>
          <p:nvPr/>
        </p:nvSpPr>
        <p:spPr>
          <a:xfrm>
            <a:off x="2502347" y="2299716"/>
            <a:ext cx="283464" cy="292608"/>
          </a:xfrm>
          <a:prstGeom prst="rightArrow">
            <a:avLst/>
          </a:prstGeom>
          <a:solidFill>
            <a:srgbClr val="E36414"/>
          </a:solidFill>
          <a:ln w="12700">
            <a:solidFill>
              <a:srgbClr val="E36414"/>
            </a:solidFill>
            <a:prstDash val="solid"/>
          </a:ln>
        </p:spPr>
      </p:sp>
      <p:sp>
        <p:nvSpPr>
          <p:cNvPr id="10" name="step-2"/>
          <p:cNvSpPr/>
          <p:nvPr/>
        </p:nvSpPr>
        <p:spPr>
          <a:xfrm>
            <a:off x="2849819" y="1783080"/>
            <a:ext cx="1889699" cy="1325880"/>
          </a:xfrm>
          <a:prstGeom prst="roundRect">
            <a:avLst>
              <a:gd name="adj" fmla="val 8276"/>
            </a:avLst>
          </a:prstGeom>
          <a:solidFill>
            <a:srgbClr val="E6F0F2"/>
          </a:solidFill>
          <a:ln w="12700">
            <a:solidFill>
              <a:srgbClr val="E6F0F2"/>
            </a:solidFill>
            <a:prstDash val="solid"/>
          </a:ln>
        </p:spPr>
      </p:sp>
      <p:sp>
        <p:nvSpPr>
          <p:cNvPr id="11" name="Shape 8"/>
          <p:cNvSpPr/>
          <p:nvPr/>
        </p:nvSpPr>
        <p:spPr>
          <a:xfrm>
            <a:off x="3032699" y="1965960"/>
            <a:ext cx="457200" cy="457200"/>
          </a:xfrm>
          <a:prstGeom prst="ellipse">
            <a:avLst/>
          </a:prstGeom>
          <a:solidFill>
            <a:srgbClr val="0F4C5C"/>
          </a:solidFill>
          <a:ln w="12700">
            <a:solidFill>
              <a:srgbClr val="0F4C5C"/>
            </a:solidFill>
            <a:prstDash val="solid"/>
          </a:ln>
        </p:spPr>
      </p:sp>
      <p:sp>
        <p:nvSpPr>
          <p:cNvPr id="12" name="Text 9"/>
          <p:cNvSpPr txBox="1"/>
          <p:nvPr/>
        </p:nvSpPr>
        <p:spPr>
          <a:xfrm>
            <a:off x="3032699"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3032699" y="25603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手順</a:t>
            </a:r>
            <a:endParaRPr lang="en-US" sz="1700" dirty="0"/>
          </a:p>
        </p:txBody>
      </p:sp>
      <p:sp>
        <p:nvSpPr>
          <p:cNvPr id="14" name="Shape 11"/>
          <p:cNvSpPr/>
          <p:nvPr/>
        </p:nvSpPr>
        <p:spPr>
          <a:xfrm>
            <a:off x="4803526" y="2299716"/>
            <a:ext cx="283464" cy="292608"/>
          </a:xfrm>
          <a:prstGeom prst="rightArrow">
            <a:avLst/>
          </a:prstGeom>
          <a:solidFill>
            <a:srgbClr val="E36414"/>
          </a:solidFill>
          <a:ln w="12700">
            <a:solidFill>
              <a:srgbClr val="E36414"/>
            </a:solidFill>
            <a:prstDash val="solid"/>
          </a:ln>
        </p:spPr>
      </p:sp>
      <p:sp>
        <p:nvSpPr>
          <p:cNvPr id="15" name="step-3"/>
          <p:cNvSpPr/>
          <p:nvPr/>
        </p:nvSpPr>
        <p:spPr>
          <a:xfrm>
            <a:off x="5150998" y="1783080"/>
            <a:ext cx="1889699" cy="1325880"/>
          </a:xfrm>
          <a:prstGeom prst="roundRect">
            <a:avLst>
              <a:gd name="adj" fmla="val 8276"/>
            </a:avLst>
          </a:prstGeom>
          <a:solidFill>
            <a:srgbClr val="E6F0F2"/>
          </a:solidFill>
          <a:ln w="12700">
            <a:solidFill>
              <a:srgbClr val="E6F0F2"/>
            </a:solidFill>
            <a:prstDash val="solid"/>
          </a:ln>
        </p:spPr>
      </p:sp>
      <p:sp>
        <p:nvSpPr>
          <p:cNvPr id="16" name="Shape 13"/>
          <p:cNvSpPr/>
          <p:nvPr/>
        </p:nvSpPr>
        <p:spPr>
          <a:xfrm>
            <a:off x="5333878" y="1965960"/>
            <a:ext cx="457200" cy="457200"/>
          </a:xfrm>
          <a:prstGeom prst="ellipse">
            <a:avLst/>
          </a:prstGeom>
          <a:solidFill>
            <a:srgbClr val="0F4C5C"/>
          </a:solidFill>
          <a:ln w="12700">
            <a:solidFill>
              <a:srgbClr val="0F4C5C"/>
            </a:solidFill>
            <a:prstDash val="solid"/>
          </a:ln>
        </p:spPr>
      </p:sp>
      <p:sp>
        <p:nvSpPr>
          <p:cNvPr id="17" name="Text 14"/>
          <p:cNvSpPr txBox="1"/>
          <p:nvPr/>
        </p:nvSpPr>
        <p:spPr>
          <a:xfrm>
            <a:off x="5333878"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5"/>
          <p:cNvSpPr txBox="1"/>
          <p:nvPr/>
        </p:nvSpPr>
        <p:spPr>
          <a:xfrm>
            <a:off x="5333878" y="25603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判断のルール</a:t>
            </a:r>
            <a:endParaRPr lang="en-US" sz="1700" dirty="0"/>
          </a:p>
        </p:txBody>
      </p:sp>
      <p:sp>
        <p:nvSpPr>
          <p:cNvPr id="19" name="Shape 16"/>
          <p:cNvSpPr/>
          <p:nvPr/>
        </p:nvSpPr>
        <p:spPr>
          <a:xfrm>
            <a:off x="7104705" y="2299716"/>
            <a:ext cx="283464" cy="292608"/>
          </a:xfrm>
          <a:prstGeom prst="rightArrow">
            <a:avLst/>
          </a:prstGeom>
          <a:solidFill>
            <a:srgbClr val="E36414"/>
          </a:solidFill>
          <a:ln w="12700">
            <a:solidFill>
              <a:srgbClr val="E36414"/>
            </a:solidFill>
            <a:prstDash val="solid"/>
          </a:ln>
        </p:spPr>
      </p:sp>
      <p:sp>
        <p:nvSpPr>
          <p:cNvPr id="20" name="step-4"/>
          <p:cNvSpPr/>
          <p:nvPr/>
        </p:nvSpPr>
        <p:spPr>
          <a:xfrm>
            <a:off x="7452177" y="1783080"/>
            <a:ext cx="1889699" cy="1325880"/>
          </a:xfrm>
          <a:prstGeom prst="roundRect">
            <a:avLst>
              <a:gd name="adj" fmla="val 8276"/>
            </a:avLst>
          </a:prstGeom>
          <a:solidFill>
            <a:srgbClr val="E6F0F2"/>
          </a:solidFill>
          <a:ln w="12700">
            <a:solidFill>
              <a:srgbClr val="E6F0F2"/>
            </a:solidFill>
            <a:prstDash val="solid"/>
          </a:ln>
        </p:spPr>
      </p:sp>
      <p:sp>
        <p:nvSpPr>
          <p:cNvPr id="21" name="Shape 18"/>
          <p:cNvSpPr/>
          <p:nvPr/>
        </p:nvSpPr>
        <p:spPr>
          <a:xfrm>
            <a:off x="7635057" y="1965960"/>
            <a:ext cx="457200" cy="457200"/>
          </a:xfrm>
          <a:prstGeom prst="ellipse">
            <a:avLst/>
          </a:prstGeom>
          <a:solidFill>
            <a:srgbClr val="0F4C5C"/>
          </a:solidFill>
          <a:ln w="12700">
            <a:solidFill>
              <a:srgbClr val="0F4C5C"/>
            </a:solidFill>
            <a:prstDash val="solid"/>
          </a:ln>
        </p:spPr>
      </p:sp>
      <p:sp>
        <p:nvSpPr>
          <p:cNvPr id="22" name="Text 19"/>
          <p:cNvSpPr txBox="1"/>
          <p:nvPr/>
        </p:nvSpPr>
        <p:spPr>
          <a:xfrm>
            <a:off x="7635057"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3" name="Text 20"/>
          <p:cNvSpPr txBox="1"/>
          <p:nvPr/>
        </p:nvSpPr>
        <p:spPr>
          <a:xfrm>
            <a:off x="7635057" y="25603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出力の形式</a:t>
            </a:r>
            <a:endParaRPr lang="en-US" sz="1700" dirty="0"/>
          </a:p>
        </p:txBody>
      </p:sp>
      <p:sp>
        <p:nvSpPr>
          <p:cNvPr id="24" name="Shape 21"/>
          <p:cNvSpPr/>
          <p:nvPr/>
        </p:nvSpPr>
        <p:spPr>
          <a:xfrm>
            <a:off x="9405884" y="2299716"/>
            <a:ext cx="283464" cy="292608"/>
          </a:xfrm>
          <a:prstGeom prst="rightArrow">
            <a:avLst/>
          </a:prstGeom>
          <a:solidFill>
            <a:srgbClr val="E36414"/>
          </a:solidFill>
          <a:ln w="12700">
            <a:solidFill>
              <a:srgbClr val="E36414"/>
            </a:solidFill>
            <a:prstDash val="solid"/>
          </a:ln>
        </p:spPr>
      </p:sp>
      <p:sp>
        <p:nvSpPr>
          <p:cNvPr id="25" name="step-5"/>
          <p:cNvSpPr/>
          <p:nvPr/>
        </p:nvSpPr>
        <p:spPr>
          <a:xfrm>
            <a:off x="9753356" y="1783080"/>
            <a:ext cx="1889699" cy="1325880"/>
          </a:xfrm>
          <a:prstGeom prst="roundRect">
            <a:avLst>
              <a:gd name="adj" fmla="val 8276"/>
            </a:avLst>
          </a:prstGeom>
          <a:solidFill>
            <a:srgbClr val="E6F0F2"/>
          </a:solidFill>
          <a:ln w="12700">
            <a:solidFill>
              <a:srgbClr val="E6F0F2"/>
            </a:solidFill>
            <a:prstDash val="solid"/>
          </a:ln>
        </p:spPr>
      </p:sp>
      <p:sp>
        <p:nvSpPr>
          <p:cNvPr id="26" name="Shape 23"/>
          <p:cNvSpPr/>
          <p:nvPr/>
        </p:nvSpPr>
        <p:spPr>
          <a:xfrm>
            <a:off x="9936236" y="1965960"/>
            <a:ext cx="457200" cy="457200"/>
          </a:xfrm>
          <a:prstGeom prst="ellipse">
            <a:avLst/>
          </a:prstGeom>
          <a:solidFill>
            <a:srgbClr val="0F4C5C"/>
          </a:solidFill>
          <a:ln w="12700">
            <a:solidFill>
              <a:srgbClr val="0F4C5C"/>
            </a:solidFill>
            <a:prstDash val="solid"/>
          </a:ln>
        </p:spPr>
      </p:sp>
      <p:sp>
        <p:nvSpPr>
          <p:cNvPr id="27" name="Text 24"/>
          <p:cNvSpPr txBox="1"/>
          <p:nvPr/>
        </p:nvSpPr>
        <p:spPr>
          <a:xfrm>
            <a:off x="9936236"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8" name="Text 25"/>
          <p:cNvSpPr txBox="1"/>
          <p:nvPr/>
        </p:nvSpPr>
        <p:spPr>
          <a:xfrm>
            <a:off x="9936236" y="2560320"/>
            <a:ext cx="1523939" cy="685800"/>
          </a:xfrm>
          <a:prstGeom prst="rect">
            <a:avLst/>
          </a:prstGeom>
          <a:noFill/>
          <a:ln/>
        </p:spPr>
        <p:txBody>
          <a:bodyPr wrap="square" lIns="0" tIns="0" rIns="0" bIns="0" rtlCol="0" anchor="t"/>
          <a:lstStyle/>
          <a:p>
            <a:pPr indent="0" marL="0">
              <a:buNone/>
            </a:pPr>
            <a:r>
              <a:rPr lang="en-US" sz="1700" b="1" dirty="0">
                <a:solidFill>
                  <a:srgbClr val="0F4C5C"/>
                </a:solidFill>
              </a:rPr>
              <a:t>例</a:t>
            </a:r>
            <a:endParaRPr lang="en-US" sz="1700" dirty="0"/>
          </a:p>
        </p:txBody>
      </p:sp>
      <p:sp>
        <p:nvSpPr>
          <p:cNvPr id="29" name="card-1"/>
          <p:cNvSpPr/>
          <p:nvPr/>
        </p:nvSpPr>
        <p:spPr>
          <a:xfrm>
            <a:off x="548640" y="3429000"/>
            <a:ext cx="3515258" cy="1211580"/>
          </a:xfrm>
          <a:prstGeom prst="roundRect">
            <a:avLst>
              <a:gd name="adj" fmla="val 9057"/>
            </a:avLst>
          </a:prstGeom>
          <a:solidFill>
            <a:srgbClr val="E6F0F2"/>
          </a:solidFill>
          <a:ln w="12700">
            <a:solidFill>
              <a:srgbClr val="E6F0F2"/>
            </a:solidFill>
            <a:prstDash val="solid"/>
          </a:ln>
        </p:spPr>
      </p:sp>
      <p:sp>
        <p:nvSpPr>
          <p:cNvPr id="30" name="Text 27"/>
          <p:cNvSpPr txBox="1"/>
          <p:nvPr/>
        </p:nvSpPr>
        <p:spPr>
          <a:xfrm>
            <a:off x="777240" y="3611880"/>
            <a:ext cx="3058058" cy="457200"/>
          </a:xfrm>
          <a:prstGeom prst="rect">
            <a:avLst/>
          </a:prstGeom>
          <a:noFill/>
          <a:ln/>
        </p:spPr>
        <p:txBody>
          <a:bodyPr wrap="square" lIns="0" tIns="0" rIns="0" bIns="0" rtlCol="0" anchor="ctr"/>
          <a:lstStyle/>
          <a:p>
            <a:pPr indent="0" marL="0">
              <a:buNone/>
            </a:pPr>
            <a:r>
              <a:rPr lang="en-US" sz="1700" b="1" dirty="0">
                <a:solidFill>
                  <a:srgbClr val="0F4C5C"/>
                </a:solidFill>
              </a:rPr>
              <a:t>AIが知っていることは書かない</a:t>
            </a:r>
            <a:endParaRPr lang="en-US" sz="1700" dirty="0"/>
          </a:p>
        </p:txBody>
      </p:sp>
      <p:sp>
        <p:nvSpPr>
          <p:cNvPr id="31" name="Text 28"/>
          <p:cNvSpPr txBox="1"/>
          <p:nvPr/>
        </p:nvSpPr>
        <p:spPr>
          <a:xfrm>
            <a:off x="777240" y="4206240"/>
            <a:ext cx="3058058" cy="2971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職場のやり方だけを書く</a:t>
            </a:r>
            <a:endParaRPr lang="en-US" sz="1600" dirty="0"/>
          </a:p>
        </p:txBody>
      </p:sp>
      <p:sp>
        <p:nvSpPr>
          <p:cNvPr id="32" name="card-2"/>
          <p:cNvSpPr/>
          <p:nvPr/>
        </p:nvSpPr>
        <p:spPr>
          <a:xfrm>
            <a:off x="4338218" y="3429000"/>
            <a:ext cx="3515258" cy="1211580"/>
          </a:xfrm>
          <a:prstGeom prst="roundRect">
            <a:avLst>
              <a:gd name="adj" fmla="val 9057"/>
            </a:avLst>
          </a:prstGeom>
          <a:solidFill>
            <a:srgbClr val="FFF1E7"/>
          </a:solidFill>
          <a:ln w="12700">
            <a:solidFill>
              <a:srgbClr val="E36414"/>
            </a:solidFill>
            <a:prstDash val="solid"/>
          </a:ln>
        </p:spPr>
      </p:sp>
      <p:sp>
        <p:nvSpPr>
          <p:cNvPr id="33" name="Text 30"/>
          <p:cNvSpPr txBox="1"/>
          <p:nvPr/>
        </p:nvSpPr>
        <p:spPr>
          <a:xfrm>
            <a:off x="4566818" y="3611880"/>
            <a:ext cx="3058058" cy="457200"/>
          </a:xfrm>
          <a:prstGeom prst="rect">
            <a:avLst/>
          </a:prstGeom>
          <a:noFill/>
          <a:ln/>
        </p:spPr>
        <p:txBody>
          <a:bodyPr wrap="square" lIns="0" tIns="0" rIns="0" bIns="0" rtlCol="0" anchor="ctr"/>
          <a:lstStyle/>
          <a:p>
            <a:pPr indent="0" marL="0">
              <a:buNone/>
            </a:pPr>
            <a:r>
              <a:rPr lang="en-US" sz="1700" b="1" dirty="0">
                <a:solidFill>
                  <a:srgbClr val="0F4C5C"/>
                </a:solidFill>
              </a:rPr>
              <a:t>理由を添える</a:t>
            </a:r>
            <a:endParaRPr lang="en-US" sz="1700" dirty="0"/>
          </a:p>
        </p:txBody>
      </p:sp>
      <p:sp>
        <p:nvSpPr>
          <p:cNvPr id="34" name="Text 31"/>
          <p:cNvSpPr txBox="1"/>
          <p:nvPr/>
        </p:nvSpPr>
        <p:spPr>
          <a:xfrm>
            <a:off x="4566818" y="4206240"/>
            <a:ext cx="3058058" cy="2971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「〜する。なぜなら〜」</a:t>
            </a:r>
            <a:endParaRPr lang="en-US" sz="1600" dirty="0"/>
          </a:p>
        </p:txBody>
      </p:sp>
      <p:sp>
        <p:nvSpPr>
          <p:cNvPr id="35" name="card-3"/>
          <p:cNvSpPr/>
          <p:nvPr/>
        </p:nvSpPr>
        <p:spPr>
          <a:xfrm>
            <a:off x="8127797" y="3429000"/>
            <a:ext cx="3515258" cy="1211580"/>
          </a:xfrm>
          <a:prstGeom prst="roundRect">
            <a:avLst>
              <a:gd name="adj" fmla="val 9057"/>
            </a:avLst>
          </a:prstGeom>
          <a:solidFill>
            <a:srgbClr val="E6F0F2"/>
          </a:solidFill>
          <a:ln w="12700">
            <a:solidFill>
              <a:srgbClr val="E6F0F2"/>
            </a:solidFill>
            <a:prstDash val="solid"/>
          </a:ln>
        </p:spPr>
      </p:sp>
      <p:sp>
        <p:nvSpPr>
          <p:cNvPr id="36" name="Text 33"/>
          <p:cNvSpPr txBox="1"/>
          <p:nvPr/>
        </p:nvSpPr>
        <p:spPr>
          <a:xfrm>
            <a:off x="8356397" y="3611880"/>
            <a:ext cx="3058058" cy="457200"/>
          </a:xfrm>
          <a:prstGeom prst="rect">
            <a:avLst/>
          </a:prstGeom>
          <a:noFill/>
          <a:ln/>
        </p:spPr>
        <p:txBody>
          <a:bodyPr wrap="square" lIns="0" tIns="0" rIns="0" bIns="0" rtlCol="0" anchor="ctr"/>
          <a:lstStyle/>
          <a:p>
            <a:pPr indent="0" marL="0">
              <a:buNone/>
            </a:pPr>
            <a:r>
              <a:rPr lang="en-US" sz="1700" b="1" dirty="0">
                <a:solidFill>
                  <a:srgbClr val="0F4C5C"/>
                </a:solidFill>
              </a:rPr>
              <a:t>具体例を入れる</a:t>
            </a:r>
            <a:endParaRPr lang="en-US" sz="1700" dirty="0"/>
          </a:p>
        </p:txBody>
      </p:sp>
      <p:sp>
        <p:nvSpPr>
          <p:cNvPr id="37" name="Text 34"/>
          <p:cNvSpPr txBox="1"/>
          <p:nvPr/>
        </p:nvSpPr>
        <p:spPr>
          <a:xfrm>
            <a:off x="8356397" y="4206240"/>
            <a:ext cx="3058058" cy="2971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入力と出力を1〜3組</a:t>
            </a:r>
            <a:endParaRPr lang="en-US" sz="1600" dirty="0"/>
          </a:p>
        </p:txBody>
      </p:sp>
      <p:sp>
        <p:nvSpPr>
          <p:cNvPr id="38" name="card-4"/>
          <p:cNvSpPr/>
          <p:nvPr/>
        </p:nvSpPr>
        <p:spPr>
          <a:xfrm>
            <a:off x="548640" y="4914900"/>
            <a:ext cx="3515258" cy="1211580"/>
          </a:xfrm>
          <a:prstGeom prst="roundRect">
            <a:avLst>
              <a:gd name="adj" fmla="val 9057"/>
            </a:avLst>
          </a:prstGeom>
          <a:solidFill>
            <a:srgbClr val="E6F0F2"/>
          </a:solidFill>
          <a:ln w="12700">
            <a:solidFill>
              <a:srgbClr val="E6F0F2"/>
            </a:solidFill>
            <a:prstDash val="solid"/>
          </a:ln>
        </p:spPr>
      </p:sp>
      <p:sp>
        <p:nvSpPr>
          <p:cNvPr id="39" name="Text 36"/>
          <p:cNvSpPr txBox="1"/>
          <p:nvPr/>
        </p:nvSpPr>
        <p:spPr>
          <a:xfrm>
            <a:off x="777240" y="5097780"/>
            <a:ext cx="3058058" cy="457200"/>
          </a:xfrm>
          <a:prstGeom prst="rect">
            <a:avLst/>
          </a:prstGeom>
          <a:noFill/>
          <a:ln/>
        </p:spPr>
        <p:txBody>
          <a:bodyPr wrap="square" lIns="0" tIns="0" rIns="0" bIns="0" rtlCol="0" anchor="ctr"/>
          <a:lstStyle/>
          <a:p>
            <a:pPr indent="0" marL="0">
              <a:buNone/>
            </a:pPr>
            <a:r>
              <a:rPr lang="en-US" sz="1700" b="1" dirty="0">
                <a:solidFill>
                  <a:srgbClr val="0F4C5C"/>
                </a:solidFill>
              </a:rPr>
              <a:t>自由度を作業に合わせる</a:t>
            </a:r>
            <a:endParaRPr lang="en-US" sz="1700" dirty="0"/>
          </a:p>
        </p:txBody>
      </p:sp>
      <p:sp>
        <p:nvSpPr>
          <p:cNvPr id="40" name="Text 37"/>
          <p:cNvSpPr txBox="1"/>
          <p:nvPr/>
        </p:nvSpPr>
        <p:spPr>
          <a:xfrm>
            <a:off x="777240" y="5692140"/>
            <a:ext cx="3058058" cy="2971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失敗できない作業ほど細かく</a:t>
            </a:r>
            <a:endParaRPr lang="en-US" sz="1600" dirty="0"/>
          </a:p>
        </p:txBody>
      </p:sp>
      <p:sp>
        <p:nvSpPr>
          <p:cNvPr id="41" name="card-5"/>
          <p:cNvSpPr/>
          <p:nvPr/>
        </p:nvSpPr>
        <p:spPr>
          <a:xfrm>
            <a:off x="4338218" y="4914900"/>
            <a:ext cx="3515258" cy="1211580"/>
          </a:xfrm>
          <a:prstGeom prst="roundRect">
            <a:avLst>
              <a:gd name="adj" fmla="val 9057"/>
            </a:avLst>
          </a:prstGeom>
          <a:solidFill>
            <a:srgbClr val="E6F0F2"/>
          </a:solidFill>
          <a:ln w="12700">
            <a:solidFill>
              <a:srgbClr val="E6F0F2"/>
            </a:solidFill>
            <a:prstDash val="solid"/>
          </a:ln>
        </p:spPr>
      </p:sp>
      <p:sp>
        <p:nvSpPr>
          <p:cNvPr id="42" name="Text 39"/>
          <p:cNvSpPr txBox="1"/>
          <p:nvPr/>
        </p:nvSpPr>
        <p:spPr>
          <a:xfrm>
            <a:off x="4566818" y="5097780"/>
            <a:ext cx="3058058" cy="457200"/>
          </a:xfrm>
          <a:prstGeom prst="rect">
            <a:avLst/>
          </a:prstGeom>
          <a:noFill/>
          <a:ln/>
        </p:spPr>
        <p:txBody>
          <a:bodyPr wrap="square" lIns="0" tIns="0" rIns="0" bIns="0" rtlCol="0" anchor="ctr"/>
          <a:lstStyle/>
          <a:p>
            <a:pPr indent="0" marL="0">
              <a:buNone/>
            </a:pPr>
            <a:r>
              <a:rPr lang="en-US" sz="1700" b="1" dirty="0">
                <a:solidFill>
                  <a:srgbClr val="0F4C5C"/>
                </a:solidFill>
              </a:rPr>
              <a:t>用語をそろえる</a:t>
            </a:r>
            <a:endParaRPr lang="en-US" sz="1700" dirty="0"/>
          </a:p>
        </p:txBody>
      </p:sp>
      <p:sp>
        <p:nvSpPr>
          <p:cNvPr id="43" name="Text 40"/>
          <p:cNvSpPr txBox="1"/>
          <p:nvPr/>
        </p:nvSpPr>
        <p:spPr>
          <a:xfrm>
            <a:off x="4566818" y="5692140"/>
            <a:ext cx="3058058" cy="2971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「宿題」「ToDo」を混ぜない</a:t>
            </a:r>
            <a:endParaRPr lang="en-US" sz="1600" dirty="0"/>
          </a:p>
        </p:txBody>
      </p:sp>
      <p:sp>
        <p:nvSpPr>
          <p:cNvPr id="44" name="card-6"/>
          <p:cNvSpPr/>
          <p:nvPr/>
        </p:nvSpPr>
        <p:spPr>
          <a:xfrm>
            <a:off x="8127797" y="4914900"/>
            <a:ext cx="3515258" cy="1211580"/>
          </a:xfrm>
          <a:prstGeom prst="roundRect">
            <a:avLst>
              <a:gd name="adj" fmla="val 9057"/>
            </a:avLst>
          </a:prstGeom>
          <a:solidFill>
            <a:srgbClr val="E6F0F2"/>
          </a:solidFill>
          <a:ln w="12700">
            <a:solidFill>
              <a:srgbClr val="E6F0F2"/>
            </a:solidFill>
            <a:prstDash val="solid"/>
          </a:ln>
        </p:spPr>
      </p:sp>
      <p:sp>
        <p:nvSpPr>
          <p:cNvPr id="45" name="Text 42"/>
          <p:cNvSpPr txBox="1"/>
          <p:nvPr/>
        </p:nvSpPr>
        <p:spPr>
          <a:xfrm>
            <a:off x="8356397" y="5097780"/>
            <a:ext cx="3058058" cy="457200"/>
          </a:xfrm>
          <a:prstGeom prst="rect">
            <a:avLst/>
          </a:prstGeom>
          <a:noFill/>
          <a:ln/>
        </p:spPr>
        <p:txBody>
          <a:bodyPr wrap="square" lIns="0" tIns="0" rIns="0" bIns="0" rtlCol="0" anchor="ctr"/>
          <a:lstStyle/>
          <a:p>
            <a:pPr indent="0" marL="0">
              <a:buNone/>
            </a:pPr>
            <a:r>
              <a:rPr lang="en-US" sz="1700" b="1" dirty="0">
                <a:solidFill>
                  <a:srgbClr val="0F4C5C"/>
                </a:solidFill>
              </a:rPr>
              <a:t>時期で変わる情報を書かない</a:t>
            </a:r>
            <a:endParaRPr lang="en-US" sz="1700" dirty="0"/>
          </a:p>
        </p:txBody>
      </p:sp>
      <p:sp>
        <p:nvSpPr>
          <p:cNvPr id="46" name="Text 43"/>
          <p:cNvSpPr txBox="1"/>
          <p:nvPr/>
        </p:nvSpPr>
        <p:spPr>
          <a:xfrm>
            <a:off x="8356397" y="5692140"/>
            <a:ext cx="3058058" cy="29718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古い方式は「旧方式」に分ける</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付属ファイルの使い分け</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03120"/>
                <a:gridCol w="2011680"/>
                <a:gridCol w="2651760"/>
                <a:gridCol w="4325112"/>
              </a:tblGrid>
              <a:tr h="457200">
                <a:tc>
                  <a:txBody>
                    <a:bodyPr/>
                    <a:lstStyle/>
                    <a:p>
                      <a:pPr indent="0" marL="0">
                        <a:buNone/>
                      </a:pPr>
                      <a:r>
                        <a:rPr lang="en-US" sz="1600" b="1" dirty="0">
                          <a:solidFill>
                            <a:srgbClr val="0F4C5C"/>
                          </a:solidFill>
                        </a:rPr>
                        <a:t>フォルダ</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600" b="1" dirty="0">
                          <a:solidFill>
                            <a:srgbClr val="0F4C5C"/>
                          </a:solidFill>
                        </a:rPr>
                        <a:t>入れるもの</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600" b="1" dirty="0">
                          <a:solidFill>
                            <a:srgbClr val="0F4C5C"/>
                          </a:solidFill>
                        </a:rPr>
                        <a:t>AIの扱い</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600" b="1" dirty="0">
                          <a:solidFill>
                            <a:srgbClr val="0F4C5C"/>
                          </a:solidFill>
                        </a:rPr>
                        <a:t>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600" dirty="0">
                          <a:solidFill>
                            <a:srgbClr val="1F2933"/>
                          </a:solidFill>
                        </a:rPr>
                        <a:t>references/</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詳しい資料</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必要なときに</a:t>
                      </a:r>
                      <a:r>
                        <a:rPr lang="en-US" sz="1600" b="1" dirty="0">
                          <a:solidFill>
                            <a:srgbClr val="1F2933"/>
                          </a:solidFill>
                        </a:rPr>
                        <a:t>読む</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書式の詳細、用語集、社内規程の抜粋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F2933"/>
                          </a:solidFill>
                        </a:rPr>
                        <a:t>scripts/</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プログラム</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必要なときに</a:t>
                      </a:r>
                      <a:r>
                        <a:rPr lang="en-US" sz="1600" b="1" dirty="0">
                          <a:solidFill>
                            <a:srgbClr val="1F2933"/>
                          </a:solidFill>
                        </a:rPr>
                        <a:t>実行</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集計、ファイル変換、チェック処理</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600" dirty="0">
                          <a:solidFill>
                            <a:srgbClr val="1F2933"/>
                          </a:solidFill>
                        </a:rPr>
                        <a:t>assets/</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素材</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成果物に</a:t>
                      </a:r>
                      <a:r>
                        <a:rPr lang="en-US" sz="1600" b="1" dirty="0">
                          <a:solidFill>
                            <a:srgbClr val="1F2933"/>
                          </a:solidFill>
                        </a:rPr>
                        <a:t>使う</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Word/PowerPointのテンプレート、ロゴ</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3749040"/>
            <a:ext cx="11094415" cy="2011680"/>
          </a:xfrm>
          <a:prstGeom prst="rect">
            <a:avLst/>
          </a:prstGeom>
          <a:noFill/>
          <a:ln/>
        </p:spPr>
        <p:txBody>
          <a:bodyPr wrap="square" lIns="0" tIns="0" rIns="0" bIns="0" rtlCol="0" anchor="t"/>
          <a:lstStyle/>
          <a:p>
            <a:pPr marL="254000" indent="-254000">
              <a:spcAft>
                <a:spcPts val="1000"/>
              </a:spcAft>
              <a:buSzPct val="100000"/>
              <a:buChar char="●"/>
            </a:pPr>
            <a:r>
              <a:rPr lang="en-US" sz="1800" dirty="0">
                <a:solidFill>
                  <a:srgbClr val="1F2933"/>
                </a:solidFill>
              </a:rPr>
              <a:t>SKILL.md から</a:t>
            </a:r>
            <a:r>
              <a:rPr lang="en-US" sz="1800" b="1" dirty="0">
                <a:solidFill>
                  <a:srgbClr val="0F4C5C"/>
                </a:solidFill>
              </a:rPr>
              <a:t>直接</a:t>
            </a:r>
            <a:r>
              <a:rPr lang="en-US" sz="1800" dirty="0">
                <a:solidFill>
                  <a:srgbClr val="1F2933"/>
                </a:solidFill>
              </a:rPr>
              <a:t>リンクする（何段階もたどらせない）</a:t>
            </a:r>
            <a:endParaRPr lang="en-US" sz="1800" dirty="0"/>
          </a:p>
          <a:p>
            <a:pPr marL="254000" indent="-254000">
              <a:spcAft>
                <a:spcPts val="1000"/>
              </a:spcAft>
              <a:buSzPct val="100000"/>
              <a:buChar char="●"/>
            </a:pPr>
            <a:r>
              <a:rPr lang="en-US" sz="1800" dirty="0">
                <a:solidFill>
                  <a:srgbClr val="1F2933"/>
                </a:solidFill>
              </a:rPr>
              <a:t>パスの区切りは </a:t>
            </a:r>
            <a:r>
              <a:rPr lang="en-US" sz="1800" dirty="0">
                <a:solidFill>
                  <a:srgbClr val="1F2933"/>
                </a:solidFill>
                <a:latin typeface="Consolas" pitchFamily="34" charset="0"/>
                <a:ea typeface="メイリオ" pitchFamily="34" charset="-122"/>
                <a:cs typeface="Consolas" pitchFamily="34" charset="-120"/>
              </a:rPr>
              <a:t>/</a:t>
            </a:r>
            <a:r>
              <a:rPr lang="en-US" sz="1800" dirty="0">
                <a:solidFill>
                  <a:srgbClr val="1F2933"/>
                </a:solidFill>
              </a:rPr>
              <a:t>（Windowsの </a:t>
            </a:r>
            <a:r>
              <a:rPr lang="en-US" sz="1800" dirty="0">
                <a:solidFill>
                  <a:srgbClr val="1F2933"/>
                </a:solidFill>
                <a:latin typeface="Consolas" pitchFamily="34" charset="0"/>
                <a:ea typeface="メイリオ" pitchFamily="34" charset="-122"/>
                <a:cs typeface="Consolas" pitchFamily="34" charset="-120"/>
              </a:rPr>
              <a:t>\</a:t>
            </a:r>
            <a:r>
              <a:rPr lang="en-US" sz="1800" dirty="0">
                <a:solidFill>
                  <a:srgbClr val="1F2933"/>
                </a:solidFill>
              </a:rPr>
              <a:t> は他の環境で動かない）</a:t>
            </a:r>
            <a:endParaRPr lang="en-US" sz="1800" dirty="0"/>
          </a:p>
          <a:p>
            <a:pPr marL="254000" indent="-254000">
              <a:spcAft>
                <a:spcPts val="1000"/>
              </a:spcAft>
              <a:buSzPct val="100000"/>
              <a:buChar char="●"/>
            </a:pPr>
            <a:r>
              <a:rPr lang="en-US" sz="1800" dirty="0">
                <a:solidFill>
                  <a:srgbClr val="1F2933"/>
                </a:solidFill>
              </a:rPr>
              <a:t>ファイル名は中身がわかる名前に／100行超の資料には目次</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9. 環境別の登録方法: 比較表</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645920"/>
                <a:gridCol w="2743200"/>
                <a:gridCol w="3108960"/>
                <a:gridCol w="1645920"/>
                <a:gridCol w="1947672"/>
              </a:tblGrid>
              <a:tr h="457200">
                <a:tc>
                  <a:txBody>
                    <a:bodyPr/>
                    <a:lstStyle/>
                    <a:p>
                      <a:pPr indent="0" marL="0">
                        <a:buNone/>
                      </a:pPr>
                      <a:r>
                        <a:rPr lang="en-US" sz="1400" b="1" dirty="0">
                          <a:solidFill>
                            <a:srgbClr val="0F4C5C"/>
                          </a:solidFill>
                        </a:rPr>
                        <a:t>環境</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登録方法</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置き場所</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名前を指定</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確認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Claude.ai</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ZIPアップロード／チャットで作成</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アカウント（クラウド）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自然な言葉で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カスタマイズ &gt; スキル</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ChatGPT</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チャット／エディタ／アップロード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ワークスペース（クラウド）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自然な言葉で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Skills画面（要確認）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Claude Code</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フォルダを置く</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~/.claude/skills/名前/</a:t>
                      </a:r>
                      <a:endParaRPr lang="en-US" sz="1400" dirty="0"/>
                    </a:p>
                    <a:p>
                      <a:pPr indent="0" marL="0">
                        <a:buNone/>
                      </a:pPr>
                      <a:r>
                        <a:rPr lang="en-US" sz="1400" dirty="0">
                          <a:solidFill>
                            <a:srgbClr val="1F2933"/>
                          </a:solidFill>
                        </a:rPr>
                        <a:t>.claude/skills/名前/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/名前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/skills</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Codex</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フォルダを置く</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~/.agents/skills/名前/</a:t>
                      </a:r>
                      <a:endParaRPr lang="en-US" sz="1400" dirty="0"/>
                    </a:p>
                    <a:p>
                      <a:pPr indent="0" marL="0">
                        <a:buNone/>
                      </a:pPr>
                      <a:r>
                        <a:rPr lang="en-US" sz="1400" dirty="0">
                          <a:solidFill>
                            <a:srgbClr val="1F2933"/>
                          </a:solidFill>
                        </a:rPr>
                        <a:t>.agents/skills/名前/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$名前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頼んで確かめる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Copilot</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フォルダを置く／gh skill install</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~/.copilot/skills/ 等</a:t>
                      </a:r>
                      <a:endParaRPr lang="en-US" sz="1400" dirty="0"/>
                    </a:p>
                    <a:p>
                      <a:pPr indent="0" marL="0">
                        <a:buNone/>
                      </a:pPr>
                      <a:r>
                        <a:rPr lang="en-US" sz="1400" dirty="0">
                          <a:solidFill>
                            <a:srgbClr val="1F2933"/>
                          </a:solidFill>
                        </a:rPr>
                        <a:t>.github/skills/ 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/名前（CLI）</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/skills list（CLI）</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Claude.ai と ChatGPT</a:t>
            </a:r>
            <a:endParaRPr lang="en-US" sz="3000" dirty="0"/>
          </a:p>
        </p:txBody>
      </p:sp>
      <p:sp>
        <p:nvSpPr>
          <p:cNvPr id="4" name="card-1"/>
          <p:cNvSpPr/>
          <p:nvPr/>
        </p:nvSpPr>
        <p:spPr>
          <a:xfrm>
            <a:off x="548640" y="1325880"/>
            <a:ext cx="5410048" cy="4892040"/>
          </a:xfrm>
          <a:prstGeom prst="roundRect">
            <a:avLst>
              <a:gd name="adj" fmla="val 2243"/>
            </a:avLst>
          </a:prstGeom>
          <a:solidFill>
            <a:srgbClr val="E6F0F2"/>
          </a:solidFill>
          <a:ln w="12700">
            <a:solidFill>
              <a:srgbClr val="E6F0F2"/>
            </a:solidFill>
            <a:prstDash val="solid"/>
          </a:ln>
        </p:spPr>
      </p:sp>
      <p:sp>
        <p:nvSpPr>
          <p:cNvPr id="5" name="Text 2"/>
          <p:cNvSpPr txBox="1"/>
          <p:nvPr/>
        </p:nvSpPr>
        <p:spPr>
          <a:xfrm>
            <a:off x="777240"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Claude.ai</a:t>
            </a:r>
            <a:endParaRPr lang="en-US" sz="2000" dirty="0"/>
          </a:p>
        </p:txBody>
      </p:sp>
      <p:sp>
        <p:nvSpPr>
          <p:cNvPr id="6" name="Text 3"/>
          <p:cNvSpPr txBox="1"/>
          <p:nvPr/>
        </p:nvSpPr>
        <p:spPr>
          <a:xfrm>
            <a:off x="777240" y="2103120"/>
            <a:ext cx="4952848" cy="397764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F2933"/>
                </a:solidFill>
              </a:rPr>
              <a:t>条件: Free〜Enterprise、「コード実行とファイル作成」が有効</a:t>
            </a:r>
            <a:endParaRPr lang="en-US" sz="1700" dirty="0"/>
          </a:p>
          <a:p>
            <a:pPr marL="203200" indent="-203200">
              <a:spcAft>
                <a:spcPts val="600"/>
              </a:spcAft>
              <a:buSzPct val="100000"/>
              <a:buChar char="●"/>
            </a:pPr>
            <a:r>
              <a:rPr lang="en-US" sz="1700" dirty="0">
                <a:solidFill>
                  <a:srgbClr val="1F2933"/>
                </a:solidFill>
              </a:rPr>
              <a:t>登録: カスタマイズ &gt; スキル &gt;「＋」&gt;「＋ Create skill」&gt;「Upload a skill」</a:t>
            </a:r>
            <a:endParaRPr lang="en-US" sz="1700" dirty="0"/>
          </a:p>
          <a:p>
            <a:pPr marL="203200" indent="-203200">
              <a:spcAft>
                <a:spcPts val="600"/>
              </a:spcAft>
              <a:buSzPct val="100000"/>
              <a:buChar char="●"/>
            </a:pPr>
            <a:r>
              <a:rPr lang="en-US" sz="1700" dirty="0">
                <a:solidFill>
                  <a:srgbClr val="1F2933"/>
                </a:solidFill>
              </a:rPr>
              <a:t>共有（Team/Enterprise）:「Share」で個人・グループへ、「Publish to org」で組織ライブラリへ</a:t>
            </a:r>
            <a:endParaRPr lang="en-US" sz="1700" dirty="0"/>
          </a:p>
          <a:p>
            <a:pPr marL="203200" indent="-203200">
              <a:spcAft>
                <a:spcPts val="600"/>
              </a:spcAft>
              <a:buSzPct val="100000"/>
              <a:buChar char="●"/>
            </a:pPr>
            <a:r>
              <a:rPr lang="en-US" sz="1700" dirty="0">
                <a:solidFill>
                  <a:srgbClr val="1F2933"/>
                </a:solidFill>
              </a:rPr>
              <a:t>Office アドインや Claude Code でも使える</a:t>
            </a:r>
            <a:endParaRPr lang="en-US" sz="1700" dirty="0"/>
          </a:p>
        </p:txBody>
      </p:sp>
      <p:sp>
        <p:nvSpPr>
          <p:cNvPr id="7" name="card-2"/>
          <p:cNvSpPr/>
          <p:nvPr/>
        </p:nvSpPr>
        <p:spPr>
          <a:xfrm>
            <a:off x="6233008" y="1325880"/>
            <a:ext cx="5410048" cy="4892040"/>
          </a:xfrm>
          <a:prstGeom prst="roundRect">
            <a:avLst>
              <a:gd name="adj" fmla="val 2243"/>
            </a:avLst>
          </a:prstGeom>
          <a:solidFill>
            <a:srgbClr val="E6F0F2"/>
          </a:solidFill>
          <a:ln w="12700">
            <a:solidFill>
              <a:srgbClr val="E6F0F2"/>
            </a:solidFill>
            <a:prstDash val="solid"/>
          </a:ln>
        </p:spPr>
      </p:sp>
      <p:sp>
        <p:nvSpPr>
          <p:cNvPr id="8" name="Text 5"/>
          <p:cNvSpPr txBox="1"/>
          <p:nvPr/>
        </p:nvSpPr>
        <p:spPr>
          <a:xfrm>
            <a:off x="6461608"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ChatGPT</a:t>
            </a:r>
            <a:endParaRPr lang="en-US" sz="2000" dirty="0"/>
          </a:p>
        </p:txBody>
      </p:sp>
      <p:sp>
        <p:nvSpPr>
          <p:cNvPr id="9" name="Text 6"/>
          <p:cNvSpPr txBox="1"/>
          <p:nvPr/>
        </p:nvSpPr>
        <p:spPr>
          <a:xfrm>
            <a:off x="6461608" y="2103120"/>
            <a:ext cx="4952848" cy="397764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1F2933"/>
                </a:solidFill>
              </a:rPr>
              <a:t>条件: Business / Enterprise / Healthcare / Edu（個人プランは</a:t>
            </a:r>
            <a:r>
              <a:rPr lang="en-US" sz="1700" b="1" dirty="0">
                <a:solidFill>
                  <a:srgbClr val="0F4C5C"/>
                </a:solidFill>
              </a:rPr>
              <a:t>要確認</a:t>
            </a:r>
            <a:r>
              <a:rPr lang="en-US" sz="1700" dirty="0">
                <a:solidFill>
                  <a:srgbClr val="1F2933"/>
                </a:solidFill>
              </a:rPr>
              <a:t>）</a:t>
            </a:r>
            <a:endParaRPr lang="en-US" sz="1700" dirty="0"/>
          </a:p>
          <a:p>
            <a:pPr marL="203200" indent="-203200">
              <a:spcAft>
                <a:spcPts val="600"/>
              </a:spcAft>
              <a:buSzPct val="100000"/>
              <a:buChar char="●"/>
            </a:pPr>
            <a:r>
              <a:rPr lang="en-US" sz="1700" dirty="0">
                <a:solidFill>
                  <a:srgbClr val="1F2933"/>
                </a:solidFill>
              </a:rPr>
              <a:t>登録: Skills &gt;「Create」&gt; chat / editor / upload</a:t>
            </a:r>
            <a:endParaRPr lang="en-US" sz="1700" dirty="0"/>
          </a:p>
          <a:p>
            <a:pPr marL="203200" indent="-203200">
              <a:spcAft>
                <a:spcPts val="600"/>
              </a:spcAft>
              <a:buSzPct val="100000"/>
              <a:buChar char="●"/>
            </a:pPr>
            <a:r>
              <a:rPr lang="en-US" sz="1700" dirty="0">
                <a:solidFill>
                  <a:srgbClr val="1F2933"/>
                </a:solidFill>
              </a:rPr>
              <a:t>アップロードは安全性チェック後に利用可能</a:t>
            </a:r>
            <a:endParaRPr lang="en-US" sz="1700" dirty="0"/>
          </a:p>
          <a:p>
            <a:pPr marL="203200" indent="-203200">
              <a:spcAft>
                <a:spcPts val="600"/>
              </a:spcAft>
              <a:buSzPct val="100000"/>
              <a:buChar char="●"/>
            </a:pPr>
            <a:r>
              <a:rPr lang="en-US" sz="1700" dirty="0">
                <a:solidFill>
                  <a:srgbClr val="1F2933"/>
                </a:solidFill>
              </a:rPr>
              <a:t>ファイル形式の詳細は</a:t>
            </a:r>
            <a:r>
              <a:rPr lang="en-US" sz="1700" b="1" dirty="0">
                <a:solidFill>
                  <a:srgbClr val="0F4C5C"/>
                </a:solidFill>
              </a:rPr>
              <a:t>要確認</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Claude Code</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364328" cy="914400"/>
        </p:xfrm>
        <a:graphic>
          <a:graphicData uri="http://schemas.openxmlformats.org/drawingml/2006/table">
            <a:tbl>
              <a:tblPr/>
              <a:tblGrid>
                <a:gridCol w="1280160"/>
                <a:gridCol w="2651760"/>
                <a:gridCol w="1435608"/>
              </a:tblGrid>
              <a:tr h="457200">
                <a:tc>
                  <a:txBody>
                    <a:bodyPr/>
                    <a:lstStyle/>
                    <a:p>
                      <a:pPr indent="0" marL="0">
                        <a:buNone/>
                      </a:pPr>
                      <a:r>
                        <a:rPr lang="en-US" sz="1400" b="1" dirty="0">
                          <a:solidFill>
                            <a:srgbClr val="0F4C5C"/>
                          </a:solidFill>
                        </a:rPr>
                        <a:t>範囲</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場所</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使える範囲</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個人</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~/.claude/skills/名前/SKILL.md</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自分のすべてのプロジェクト</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プロジェクト</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.claude/skills/名前/SKILL.md</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そのリポジトリ（コミットで共有）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プラグイン</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プラグイン/skills/名前/SKILL.md</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/プラグイン名:スキル名 で呼ぶ</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278728" y="1325880"/>
            <a:ext cx="5364328" cy="365760"/>
          </a:xfrm>
          <a:prstGeom prst="rect">
            <a:avLst/>
          </a:prstGeom>
          <a:noFill/>
          <a:ln/>
        </p:spPr>
        <p:txBody>
          <a:bodyPr wrap="square" lIns="0" tIns="0" rIns="0" bIns="0" rtlCol="0" anchor="t"/>
          <a:lstStyle/>
          <a:p>
            <a:pPr indent="0" marL="0">
              <a:buNone/>
            </a:pPr>
            <a:r>
              <a:rPr lang="en-US" sz="1800" b="1" dirty="0">
                <a:solidFill>
                  <a:srgbClr val="0F4C5C"/>
                </a:solidFill>
              </a:rPr>
              <a:t>使い方と確認</a:t>
            </a:r>
            <a:endParaRPr lang="en-US" sz="1800" dirty="0"/>
          </a:p>
        </p:txBody>
      </p:sp>
      <p:sp>
        <p:nvSpPr>
          <p:cNvPr id="6" name="Text 2"/>
          <p:cNvSpPr txBox="1"/>
          <p:nvPr/>
        </p:nvSpPr>
        <p:spPr>
          <a:xfrm>
            <a:off x="6278728" y="1737360"/>
            <a:ext cx="5364328" cy="1828800"/>
          </a:xfrm>
          <a:prstGeom prst="rect">
            <a:avLst/>
          </a:prstGeom>
          <a:noFill/>
          <a:ln/>
        </p:spPr>
        <p:txBody>
          <a:bodyPr wrap="square" lIns="0" tIns="0" rIns="0" bIns="0" rtlCol="0" anchor="t"/>
          <a:lstStyle/>
          <a:p>
            <a:pPr marL="254000" indent="-254000">
              <a:spcAft>
                <a:spcPts val="1000"/>
              </a:spcAft>
              <a:buSzPct val="100000"/>
              <a:buChar char="●"/>
            </a:pPr>
            <a:r>
              <a:rPr lang="en-US" sz="1500" dirty="0">
                <a:solidFill>
                  <a:srgbClr val="1F2933"/>
                </a:solidFill>
              </a:rPr>
              <a:t>自動: description に合えば読み込む</a:t>
            </a:r>
            <a:endParaRPr lang="en-US" sz="1500" dirty="0"/>
          </a:p>
          <a:p>
            <a:pPr marL="254000" indent="-254000">
              <a:spcAft>
                <a:spcPts val="1000"/>
              </a:spcAft>
              <a:buSzPct val="100000"/>
              <a:buChar char="●"/>
            </a:pPr>
            <a:r>
              <a:rPr lang="en-US" sz="1500" dirty="0">
                <a:solidFill>
                  <a:srgbClr val="1F2933"/>
                </a:solidFill>
              </a:rPr>
              <a:t>手動: メッセージ先頭に </a:t>
            </a:r>
            <a:r>
              <a:rPr lang="en-US" sz="1500" dirty="0">
                <a:solidFill>
                  <a:srgbClr val="1F2933"/>
                </a:solidFill>
                <a:latin typeface="Consolas" pitchFamily="34" charset="0"/>
                <a:ea typeface="メイリオ" pitchFamily="34" charset="-122"/>
                <a:cs typeface="Consolas" pitchFamily="34" charset="-120"/>
              </a:rPr>
              <a:t>/名前</a:t>
            </a:r>
            <a:endParaRPr lang="en-US" sz="1500" dirty="0"/>
          </a:p>
          <a:p>
            <a:pPr marL="254000" indent="-254000">
              <a:spcAft>
                <a:spcPts val="1000"/>
              </a:spcAft>
              <a:buSzPct val="100000"/>
              <a:buChar char="●"/>
            </a:pPr>
            <a:r>
              <a:rPr lang="en-US" sz="1500" dirty="0">
                <a:solidFill>
                  <a:srgbClr val="1F2933"/>
                </a:solidFill>
              </a:rPr>
              <a:t>一覧: </a:t>
            </a:r>
            <a:r>
              <a:rPr lang="en-US" sz="1500" dirty="0">
                <a:solidFill>
                  <a:srgbClr val="1F2933"/>
                </a:solidFill>
                <a:latin typeface="Consolas" pitchFamily="34" charset="0"/>
                <a:ea typeface="メイリオ" pitchFamily="34" charset="-122"/>
                <a:cs typeface="Consolas" pitchFamily="34" charset="-120"/>
              </a:rPr>
              <a:t>/skills</a:t>
            </a:r>
            <a:endParaRPr lang="en-US" sz="1500" dirty="0"/>
          </a:p>
          <a:p>
            <a:pPr marL="254000" indent="-254000">
              <a:spcAft>
                <a:spcPts val="1000"/>
              </a:spcAft>
              <a:buSzPct val="100000"/>
              <a:buChar char="●"/>
            </a:pPr>
            <a:r>
              <a:rPr lang="en-US" sz="1500" dirty="0">
                <a:solidFill>
                  <a:srgbClr val="1F2933"/>
                </a:solidFill>
              </a:rPr>
              <a:t>新しいフォルダを作ったら </a:t>
            </a:r>
            <a:r>
              <a:rPr lang="en-US" sz="1500" dirty="0">
                <a:solidFill>
                  <a:srgbClr val="1F2933"/>
                </a:solidFill>
                <a:latin typeface="Consolas" pitchFamily="34" charset="0"/>
                <a:ea typeface="メイリオ" pitchFamily="34" charset="-122"/>
                <a:cs typeface="Consolas" pitchFamily="34" charset="-120"/>
              </a:rPr>
              <a:t>/reload-skills</a:t>
            </a:r>
            <a:endParaRPr lang="en-US" sz="1500" dirty="0"/>
          </a:p>
        </p:txBody>
      </p:sp>
      <p:sp>
        <p:nvSpPr>
          <p:cNvPr id="7" name="Text 3"/>
          <p:cNvSpPr txBox="1"/>
          <p:nvPr/>
        </p:nvSpPr>
        <p:spPr>
          <a:xfrm>
            <a:off x="6278728" y="3703320"/>
            <a:ext cx="5364328" cy="365760"/>
          </a:xfrm>
          <a:prstGeom prst="rect">
            <a:avLst/>
          </a:prstGeom>
          <a:noFill/>
          <a:ln/>
        </p:spPr>
        <p:txBody>
          <a:bodyPr wrap="square" lIns="0" tIns="0" rIns="0" bIns="0" rtlCol="0" anchor="t"/>
          <a:lstStyle/>
          <a:p>
            <a:pPr indent="0" marL="0">
              <a:buNone/>
            </a:pPr>
            <a:r>
              <a:rPr lang="en-US" sz="1800" b="1" dirty="0">
                <a:solidFill>
                  <a:srgbClr val="0F4C5C"/>
                </a:solidFill>
              </a:rPr>
              <a:t>Claude Code独自の項目</a:t>
            </a:r>
            <a:endParaRPr lang="en-US" sz="1800" dirty="0"/>
          </a:p>
        </p:txBody>
      </p:sp>
      <p:sp>
        <p:nvSpPr>
          <p:cNvPr id="8" name="Text 4"/>
          <p:cNvSpPr txBox="1"/>
          <p:nvPr/>
        </p:nvSpPr>
        <p:spPr>
          <a:xfrm>
            <a:off x="6278728" y="4114800"/>
            <a:ext cx="5364328" cy="2011680"/>
          </a:xfrm>
          <a:prstGeom prst="rect">
            <a:avLst/>
          </a:prstGeom>
          <a:noFill/>
          <a:ln/>
        </p:spPr>
        <p:txBody>
          <a:bodyPr wrap="square" lIns="0" tIns="0" rIns="0" bIns="0" rtlCol="0" anchor="t"/>
          <a:lstStyle/>
          <a:p>
            <a:pPr marL="254000" indent="-254000">
              <a:spcAft>
                <a:spcPts val="1000"/>
              </a:spcAft>
              <a:buSzPct val="100000"/>
              <a:buChar char="●"/>
            </a:pPr>
            <a:r>
              <a:rPr lang="en-US" sz="1400" dirty="0">
                <a:solidFill>
                  <a:srgbClr val="1F2933"/>
                </a:solidFill>
                <a:latin typeface="Consolas" pitchFamily="34" charset="0"/>
                <a:ea typeface="メイリオ" pitchFamily="34" charset="-122"/>
                <a:cs typeface="Consolas" pitchFamily="34" charset="-120"/>
              </a:rPr>
              <a:t>disable-model-invocation</a:t>
            </a:r>
            <a:r>
              <a:rPr lang="en-US" sz="1400" dirty="0">
                <a:solidFill>
                  <a:srgbClr val="1F2933"/>
                </a:solidFill>
              </a:rPr>
              <a:t>: 手動呼び出し専用</a:t>
            </a:r>
            <a:endParaRPr lang="en-US" sz="1400" dirty="0"/>
          </a:p>
          <a:p>
            <a:pPr marL="254000" indent="-254000">
              <a:spcAft>
                <a:spcPts val="1000"/>
              </a:spcAft>
              <a:buSzPct val="100000"/>
              <a:buChar char="●"/>
            </a:pPr>
            <a:r>
              <a:rPr lang="en-US" sz="1400" dirty="0">
                <a:solidFill>
                  <a:srgbClr val="1F2933"/>
                </a:solidFill>
                <a:latin typeface="Consolas" pitchFamily="34" charset="0"/>
                <a:ea typeface="メイリオ" pitchFamily="34" charset="-122"/>
                <a:cs typeface="Consolas" pitchFamily="34" charset="-120"/>
              </a:rPr>
              <a:t>user-invocable: false</a:t>
            </a:r>
            <a:r>
              <a:rPr lang="en-US" sz="1400" dirty="0">
                <a:solidFill>
                  <a:srgbClr val="1F2933"/>
                </a:solidFill>
              </a:rPr>
              <a:t>: メニューに出さない</a:t>
            </a:r>
            <a:endParaRPr lang="en-US" sz="1400" dirty="0"/>
          </a:p>
          <a:p>
            <a:pPr marL="254000" indent="-254000">
              <a:spcAft>
                <a:spcPts val="1000"/>
              </a:spcAft>
              <a:buSzPct val="100000"/>
              <a:buChar char="●"/>
            </a:pPr>
            <a:r>
              <a:rPr lang="en-US" sz="1400" dirty="0">
                <a:solidFill>
                  <a:srgbClr val="1F2933"/>
                </a:solidFill>
                <a:latin typeface="Consolas" pitchFamily="34" charset="0"/>
                <a:ea typeface="メイリオ" pitchFamily="34" charset="-122"/>
                <a:cs typeface="Consolas" pitchFamily="34" charset="-120"/>
              </a:rPr>
              <a:t>$ARGUMENTS</a:t>
            </a:r>
            <a:r>
              <a:rPr lang="en-US" sz="1400" dirty="0">
                <a:solidFill>
                  <a:srgbClr val="1F2933"/>
                </a:solidFill>
              </a:rPr>
              <a:t>: 引数を差し込む</a:t>
            </a:r>
            <a:endParaRPr lang="en-US" sz="1400" dirty="0"/>
          </a:p>
          <a:p>
            <a:pPr marL="254000" indent="-254000">
              <a:spcAft>
                <a:spcPts val="1000"/>
              </a:spcAft>
              <a:buSzPct val="100000"/>
              <a:buChar char="●"/>
            </a:pPr>
            <a:r>
              <a:rPr lang="en-US" sz="1400" dirty="0">
                <a:solidFill>
                  <a:srgbClr val="1F2933"/>
                </a:solidFill>
                <a:latin typeface="Consolas" pitchFamily="34" charset="0"/>
                <a:ea typeface="メイリオ" pitchFamily="34" charset="-122"/>
                <a:cs typeface="Consolas" pitchFamily="34" charset="-120"/>
              </a:rPr>
              <a:t>context: fork</a:t>
            </a:r>
            <a:r>
              <a:rPr lang="en-US" sz="1400" dirty="0">
                <a:solidFill>
                  <a:srgbClr val="1F2933"/>
                </a:solidFill>
              </a:rPr>
              <a:t>: サブエージェントで実行</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OpenAI Codex</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364328" cy="914400"/>
        </p:xfrm>
        <a:graphic>
          <a:graphicData uri="http://schemas.openxmlformats.org/drawingml/2006/table">
            <a:tbl>
              <a:tblPr/>
              <a:tblGrid>
                <a:gridCol w="1371600"/>
                <a:gridCol w="3995928"/>
              </a:tblGrid>
              <a:tr h="457200">
                <a:tc>
                  <a:txBody>
                    <a:bodyPr/>
                    <a:lstStyle/>
                    <a:p>
                      <a:pPr indent="0" marL="0">
                        <a:buNone/>
                      </a:pPr>
                      <a:r>
                        <a:rPr lang="en-US" sz="1400" b="1" dirty="0">
                          <a:solidFill>
                            <a:srgbClr val="0F4C5C"/>
                          </a:solidFill>
                        </a:rPr>
                        <a:t>範囲</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場所</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個人</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$HOME/.agents/skills/名前/（旧 ~/.codex/skills/ も互換）</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リポジトリ</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作業フォルダ〜ルートの各階層の .agents/skills/</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管理者</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/etc/codex/skills/</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システム</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Codexに同梱（skill-creator など）</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5" name="Text 1"/>
          <p:cNvSpPr txBox="1"/>
          <p:nvPr/>
        </p:nvSpPr>
        <p:spPr>
          <a:xfrm>
            <a:off x="6278728" y="1325880"/>
            <a:ext cx="5364328" cy="365760"/>
          </a:xfrm>
          <a:prstGeom prst="rect">
            <a:avLst/>
          </a:prstGeom>
          <a:noFill/>
          <a:ln/>
        </p:spPr>
        <p:txBody>
          <a:bodyPr wrap="square" lIns="0" tIns="0" rIns="0" bIns="0" rtlCol="0" anchor="t"/>
          <a:lstStyle/>
          <a:p>
            <a:pPr indent="0" marL="0">
              <a:buNone/>
            </a:pPr>
            <a:r>
              <a:rPr lang="en-US" sz="1800" b="1" dirty="0">
                <a:solidFill>
                  <a:srgbClr val="0F4C5C"/>
                </a:solidFill>
              </a:rPr>
              <a:t>使い方</a:t>
            </a:r>
            <a:endParaRPr lang="en-US" sz="1800" dirty="0"/>
          </a:p>
        </p:txBody>
      </p:sp>
      <p:sp>
        <p:nvSpPr>
          <p:cNvPr id="6" name="Text 2"/>
          <p:cNvSpPr txBox="1"/>
          <p:nvPr/>
        </p:nvSpPr>
        <p:spPr>
          <a:xfrm>
            <a:off x="6278728" y="1737360"/>
            <a:ext cx="5364328" cy="548640"/>
          </a:xfrm>
          <a:prstGeom prst="rect">
            <a:avLst/>
          </a:prstGeom>
          <a:noFill/>
          <a:ln/>
        </p:spPr>
        <p:txBody>
          <a:bodyPr wrap="square" lIns="0" tIns="0" rIns="0" bIns="0" rtlCol="0" anchor="t"/>
          <a:lstStyle/>
          <a:p>
            <a:pPr marL="254000" indent="-254000">
              <a:spcAft>
                <a:spcPts val="1000"/>
              </a:spcAft>
              <a:buSzPct val="100000"/>
              <a:buChar char="●"/>
            </a:pPr>
            <a:r>
              <a:rPr lang="en-US" sz="1500" dirty="0">
                <a:solidFill>
                  <a:srgbClr val="1F2933"/>
                </a:solidFill>
              </a:rPr>
              <a:t>自動、または </a:t>
            </a:r>
            <a:r>
              <a:rPr lang="en-US" sz="1500" dirty="0">
                <a:solidFill>
                  <a:srgbClr val="1F2933"/>
                </a:solidFill>
                <a:latin typeface="Consolas" pitchFamily="34" charset="0"/>
                <a:ea typeface="メイリオ" pitchFamily="34" charset="-122"/>
                <a:cs typeface="Consolas" pitchFamily="34" charset="-120"/>
              </a:rPr>
              <a:t>$meeting-minutes で議事録にして</a:t>
            </a:r>
            <a:endParaRPr lang="en-US" sz="1500" dirty="0"/>
          </a:p>
        </p:txBody>
      </p:sp>
      <p:sp>
        <p:nvSpPr>
          <p:cNvPr id="7" name="Text 3"/>
          <p:cNvSpPr txBox="1"/>
          <p:nvPr/>
        </p:nvSpPr>
        <p:spPr>
          <a:xfrm>
            <a:off x="6278728" y="2423160"/>
            <a:ext cx="5364328" cy="365760"/>
          </a:xfrm>
          <a:prstGeom prst="rect">
            <a:avLst/>
          </a:prstGeom>
          <a:noFill/>
          <a:ln/>
        </p:spPr>
        <p:txBody>
          <a:bodyPr wrap="square" lIns="0" tIns="0" rIns="0" bIns="0" rtlCol="0" anchor="t"/>
          <a:lstStyle/>
          <a:p>
            <a:pPr indent="0" marL="0">
              <a:buNone/>
            </a:pPr>
            <a:r>
              <a:rPr lang="en-US" sz="1800" b="1" dirty="0">
                <a:solidFill>
                  <a:srgbClr val="0F4C5C"/>
                </a:solidFill>
              </a:rPr>
              <a:t>独自の表示設定 agents/openai.yaml（任意）</a:t>
            </a:r>
            <a:endParaRPr lang="en-US" sz="1800" dirty="0"/>
          </a:p>
        </p:txBody>
      </p:sp>
      <p:sp>
        <p:nvSpPr>
          <p:cNvPr id="8" name="Shape 4"/>
          <p:cNvSpPr/>
          <p:nvPr/>
        </p:nvSpPr>
        <p:spPr>
          <a:xfrm>
            <a:off x="6278728" y="2834640"/>
            <a:ext cx="5364328" cy="1554480"/>
          </a:xfrm>
          <a:prstGeom prst="roundRect">
            <a:avLst>
              <a:gd name="adj" fmla="val 4706"/>
            </a:avLst>
          </a:prstGeom>
          <a:solidFill>
            <a:srgbClr val="F3F5F6"/>
          </a:solidFill>
          <a:ln w="9525">
            <a:solidFill>
              <a:srgbClr val="B8C7CC"/>
            </a:solidFill>
            <a:prstDash val="solid"/>
          </a:ln>
        </p:spPr>
      </p:sp>
      <p:sp>
        <p:nvSpPr>
          <p:cNvPr id="9" name="Text 5"/>
          <p:cNvSpPr txBox="1"/>
          <p:nvPr/>
        </p:nvSpPr>
        <p:spPr>
          <a:xfrm>
            <a:off x="6461608" y="2971800"/>
            <a:ext cx="4998568" cy="1280160"/>
          </a:xfrm>
          <a:prstGeom prst="rect">
            <a:avLst/>
          </a:prstGeom>
          <a:noFill/>
          <a:ln/>
        </p:spPr>
        <p:txBody>
          <a:bodyPr wrap="square" lIns="0" tIns="0" rIns="0" bIns="0" rtlCol="0" anchor="t"/>
          <a:lstStyle/>
          <a:p>
            <a:pPr indent="0" marL="0">
              <a:buNone/>
            </a:pPr>
            <a:r>
              <a:rPr lang="en-US" sz="1400" dirty="0">
                <a:solidFill>
                  <a:srgbClr val="1F2933"/>
                </a:solidFill>
                <a:latin typeface="Consolas" pitchFamily="34" charset="0"/>
                <a:ea typeface="メイリオ" pitchFamily="34" charset="-122"/>
                <a:cs typeface="Consolas" pitchFamily="34" charset="-120"/>
              </a:rPr>
              <a:t>interface:</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display_name: "議事録作成"</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short_description: "会議メモから議事録を作成"</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default_prompt: "$meeting-minutes で…"</a:t>
            </a:r>
            <a:endParaRPr lang="en-US" sz="1400" dirty="0"/>
          </a:p>
        </p:txBody>
      </p:sp>
      <p:sp>
        <p:nvSpPr>
          <p:cNvPr id="10" name="Shape 6"/>
          <p:cNvSpPr/>
          <p:nvPr/>
        </p:nvSpPr>
        <p:spPr>
          <a:xfrm>
            <a:off x="548640" y="5120640"/>
            <a:ext cx="11094415" cy="640080"/>
          </a:xfrm>
          <a:prstGeom prst="roundRect">
            <a:avLst>
              <a:gd name="adj" fmla="val 14286"/>
            </a:avLst>
          </a:prstGeom>
          <a:solidFill>
            <a:srgbClr val="FFF1E7"/>
          </a:solidFill>
          <a:ln w="12700">
            <a:solidFill>
              <a:srgbClr val="E36414"/>
            </a:solidFill>
            <a:prstDash val="solid"/>
          </a:ln>
        </p:spPr>
      </p:sp>
      <p:sp>
        <p:nvSpPr>
          <p:cNvPr id="11" name="Text 7"/>
          <p:cNvSpPr txBox="1"/>
          <p:nvPr/>
        </p:nvSpPr>
        <p:spPr>
          <a:xfrm>
            <a:off x="777240" y="512064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置き場所は検索結果とソース変更履歴で確認（公式ページ本体は</a:t>
            </a:r>
            <a:r>
              <a:rPr lang="en-US" sz="1800" b="1" dirty="0">
                <a:solidFill>
                  <a:srgbClr val="E36414"/>
                </a:solidFill>
              </a:rPr>
              <a:t>要確認</a:t>
            </a:r>
            <a:r>
              <a:rPr lang="en-US" sz="1800" dirty="0">
                <a:solidFill>
                  <a:srgbClr val="1F2933"/>
                </a:solidFill>
              </a:rPr>
              <a:t>）</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GitHub Copilot</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364328" cy="914400"/>
        </p:xfrm>
        <a:graphic>
          <a:graphicData uri="http://schemas.openxmlformats.org/drawingml/2006/table">
            <a:tbl>
              <a:tblPr/>
              <a:tblGrid>
                <a:gridCol w="1371600"/>
                <a:gridCol w="3995928"/>
              </a:tblGrid>
              <a:tr h="457200">
                <a:tc>
                  <a:txBody>
                    <a:bodyPr/>
                    <a:lstStyle/>
                    <a:p>
                      <a:pPr indent="0" marL="0">
                        <a:buNone/>
                      </a:pPr>
                      <a:r>
                        <a:rPr lang="en-US" sz="1400" b="1" dirty="0">
                          <a:solidFill>
                            <a:srgbClr val="0F4C5C"/>
                          </a:solidFill>
                        </a:rPr>
                        <a:t>範囲</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場所</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リポジトリ</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.github/skills/、.claude/skills/、.agents/skills/</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個人</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~/.copilot/skills/ または ~/.agents/skills/</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6278728" y="1325880"/>
          <a:ext cx="5364328" cy="914400"/>
        </p:xfrm>
        <a:graphic>
          <a:graphicData uri="http://schemas.openxmlformats.org/drawingml/2006/table">
            <a:tbl>
              <a:tblPr/>
              <a:tblGrid>
                <a:gridCol w="2011680"/>
                <a:gridCol w="3355848"/>
              </a:tblGrid>
              <a:tr h="457200">
                <a:tc>
                  <a:txBody>
                    <a:bodyPr/>
                    <a:lstStyle/>
                    <a:p>
                      <a:pPr indent="0" marL="0">
                        <a:buNone/>
                      </a:pPr>
                      <a:r>
                        <a:rPr lang="en-US" sz="1400" b="1" dirty="0">
                          <a:solidFill>
                            <a:srgbClr val="0F4C5C"/>
                          </a:solidFill>
                        </a:rPr>
                        <a:t>操作（CLI）</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コマンド</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一覧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/skills list</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詳細・置き場所</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/skills info 名前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再読み込み</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/skills reload</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名前を指定</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「/名前 スキルを使って〜」</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6" name="Shape 1"/>
          <p:cNvSpPr/>
          <p:nvPr/>
        </p:nvSpPr>
        <p:spPr>
          <a:xfrm>
            <a:off x="548640" y="4206240"/>
            <a:ext cx="11094415" cy="640080"/>
          </a:xfrm>
          <a:prstGeom prst="roundRect">
            <a:avLst>
              <a:gd name="adj" fmla="val 14286"/>
            </a:avLst>
          </a:prstGeom>
          <a:solidFill>
            <a:srgbClr val="FFF1E7"/>
          </a:solidFill>
          <a:ln w="12700">
            <a:solidFill>
              <a:srgbClr val="E36414"/>
            </a:solidFill>
            <a:prstDash val="solid"/>
          </a:ln>
        </p:spPr>
      </p:sp>
      <p:sp>
        <p:nvSpPr>
          <p:cNvPr id="7" name="Text 2"/>
          <p:cNvSpPr txBox="1"/>
          <p:nvPr/>
        </p:nvSpPr>
        <p:spPr>
          <a:xfrm>
            <a:off x="777240" y="420624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他人のSkillは </a:t>
            </a:r>
            <a:r>
              <a:rPr lang="en-US" sz="1800" dirty="0">
                <a:solidFill>
                  <a:srgbClr val="1F2933"/>
                </a:solidFill>
                <a:latin typeface="Consolas" pitchFamily="34" charset="0"/>
                <a:ea typeface="メイリオ" pitchFamily="34" charset="-122"/>
                <a:cs typeface="Consolas" pitchFamily="34" charset="-120"/>
              </a:rPr>
              <a:t>gh skill preview</a:t>
            </a:r>
            <a:r>
              <a:rPr lang="en-US" sz="1800" dirty="0">
                <a:solidFill>
                  <a:srgbClr val="1F2933"/>
                </a:solidFill>
              </a:rPr>
              <a:t> で</a:t>
            </a:r>
            <a:r>
              <a:rPr lang="en-US" sz="1800" b="1" dirty="0">
                <a:solidFill>
                  <a:srgbClr val="E36414"/>
                </a:solidFill>
              </a:rPr>
              <a:t>中身を確認してから</a:t>
            </a:r>
            <a:r>
              <a:rPr lang="en-US" sz="1800" dirty="0">
                <a:solidFill>
                  <a:srgbClr val="1F2933"/>
                </a:solidFill>
              </a:rPr>
              <a:t> </a:t>
            </a:r>
            <a:r>
              <a:rPr lang="en-US" sz="1800" dirty="0">
                <a:solidFill>
                  <a:srgbClr val="1F2933"/>
                </a:solidFill>
                <a:latin typeface="Consolas" pitchFamily="34" charset="0"/>
                <a:ea typeface="メイリオ" pitchFamily="34" charset="-122"/>
                <a:cs typeface="Consolas" pitchFamily="34" charset="-120"/>
              </a:rPr>
              <a:t>gh skill install</a:t>
            </a:r>
            <a:r>
              <a:rPr lang="en-US" sz="1800" dirty="0">
                <a:solidFill>
                  <a:srgbClr val="1F2933"/>
                </a:solidFill>
              </a:rPr>
              <a:t>（GitHubの警告）</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10. テストは2種類</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94560"/>
                <a:gridCol w="6035040"/>
                <a:gridCol w="2862072"/>
              </a:tblGrid>
              <a:tr h="457200">
                <a:tc>
                  <a:txBody>
                    <a:bodyPr/>
                    <a:lstStyle/>
                    <a:p>
                      <a:pPr indent="0" marL="0">
                        <a:buNone/>
                      </a:pPr>
                      <a:r>
                        <a:rPr lang="en-US" sz="1500" b="1" dirty="0">
                          <a:solidFill>
                            <a:srgbClr val="0F4C5C"/>
                          </a:solidFill>
                        </a:rPr>
                        <a:t>種類</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例（議事録Skill）</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期待</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500" dirty="0">
                          <a:solidFill>
                            <a:srgbClr val="1F2933"/>
                          </a:solidFill>
                        </a:rPr>
                        <a:t>明示的な依頼</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「このメモを議事録にして」</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使われる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言い換え</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「さっきの打合せ、決まったことを整理しておいて」</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使われる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状況だけ</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文字起こしを貼って「まとめて」</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使われる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紛らわしい依頼</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「議事録をうまく書くコツを教えて」</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b="1" dirty="0">
                          <a:solidFill>
                            <a:srgbClr val="1F2933"/>
                          </a:solidFill>
                        </a:rPr>
                        <a:t>使われない</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紛らわしい依頼</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「この議事録を英訳して」</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b="1" dirty="0">
                          <a:solidFill>
                            <a:srgbClr val="1F2933"/>
                          </a:solidFill>
                        </a:rPr>
                        <a:t>使われない</a:t>
                      </a:r>
                      <a:r>
                        <a:rPr lang="en-US" sz="1500" dirty="0">
                          <a:solidFill>
                            <a:srgbClr val="1F2933"/>
                          </a:solidFill>
                        </a:rPr>
                        <a:t>（翻訳のみ）</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84632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4846320"/>
            <a:ext cx="10637215" cy="640080"/>
          </a:xfrm>
          <a:prstGeom prst="rect">
            <a:avLst/>
          </a:prstGeom>
          <a:noFill/>
          <a:ln/>
        </p:spPr>
        <p:txBody>
          <a:bodyPr wrap="square" lIns="0" tIns="0" rIns="0" bIns="0" rtlCol="0" anchor="ctr"/>
          <a:lstStyle/>
          <a:p>
            <a:pPr indent="0" marL="0">
              <a:buNone/>
            </a:pPr>
            <a:r>
              <a:rPr lang="en-US" sz="1800" b="1" dirty="0">
                <a:solidFill>
                  <a:srgbClr val="E36414"/>
                </a:solidFill>
              </a:rPr>
              <a:t>発動テスト</a:t>
            </a:r>
            <a:r>
              <a:rPr lang="en-US" sz="1800" dirty="0">
                <a:solidFill>
                  <a:srgbClr val="1F2933"/>
                </a:solidFill>
              </a:rPr>
              <a:t>＋</a:t>
            </a:r>
            <a:r>
              <a:rPr lang="en-US" sz="1800" b="1" dirty="0">
                <a:solidFill>
                  <a:srgbClr val="E36414"/>
                </a:solidFill>
              </a:rPr>
              <a:t>出力テスト</a:t>
            </a:r>
            <a:r>
              <a:rPr lang="en-US" sz="1800" dirty="0">
                <a:solidFill>
                  <a:srgbClr val="1F2933"/>
                </a:solidFill>
              </a:rPr>
              <a:t>。どちらも必ず</a:t>
            </a:r>
            <a:r>
              <a:rPr lang="en-US" sz="1800" b="1" dirty="0">
                <a:solidFill>
                  <a:srgbClr val="E36414"/>
                </a:solidFill>
              </a:rPr>
              <a:t>新しい会話</a:t>
            </a:r>
            <a:r>
              <a:rPr lang="en-US" sz="1800" dirty="0">
                <a:solidFill>
                  <a:srgbClr val="1F2933"/>
                </a:solidFill>
              </a:rPr>
              <a:t>で試す</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改善のサイクル</a:t>
            </a:r>
            <a:endParaRPr lang="en-US" sz="3000" dirty="0"/>
          </a:p>
        </p:txBody>
      </p:sp>
      <p:sp>
        <p:nvSpPr>
          <p:cNvPr id="4" name="step-1"/>
          <p:cNvSpPr/>
          <p:nvPr/>
        </p:nvSpPr>
        <p:spPr>
          <a:xfrm>
            <a:off x="548640" y="1325880"/>
            <a:ext cx="1889699" cy="1188720"/>
          </a:xfrm>
          <a:prstGeom prst="roundRect">
            <a:avLst>
              <a:gd name="adj" fmla="val 923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0F4C5C"/>
          </a:solidFill>
          <a:ln w="12700">
            <a:solidFill>
              <a:srgbClr val="0F4C5C"/>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31520" y="2103120"/>
            <a:ext cx="1523939" cy="685800"/>
          </a:xfrm>
          <a:prstGeom prst="rect">
            <a:avLst/>
          </a:prstGeom>
          <a:noFill/>
          <a:ln/>
        </p:spPr>
        <p:txBody>
          <a:bodyPr wrap="square" lIns="0" tIns="0" rIns="0" bIns="0" rtlCol="0" anchor="t"/>
          <a:lstStyle/>
          <a:p>
            <a:pPr indent="0" marL="0">
              <a:buNone/>
            </a:pPr>
            <a:r>
              <a:rPr lang="en-US" sz="1800" b="1" dirty="0">
                <a:solidFill>
                  <a:srgbClr val="0F4C5C"/>
                </a:solidFill>
              </a:rPr>
              <a:t>試す</a:t>
            </a:r>
            <a:endParaRPr lang="en-US" sz="1800" dirty="0"/>
          </a:p>
        </p:txBody>
      </p:sp>
      <p:sp>
        <p:nvSpPr>
          <p:cNvPr id="8" name="Shape 5"/>
          <p:cNvSpPr/>
          <p:nvPr/>
        </p:nvSpPr>
        <p:spPr>
          <a:xfrm>
            <a:off x="2502347" y="1773936"/>
            <a:ext cx="283464" cy="292608"/>
          </a:xfrm>
          <a:prstGeom prst="rightArrow">
            <a:avLst/>
          </a:prstGeom>
          <a:solidFill>
            <a:srgbClr val="E36414"/>
          </a:solidFill>
          <a:ln w="12700">
            <a:solidFill>
              <a:srgbClr val="E36414"/>
            </a:solidFill>
            <a:prstDash val="solid"/>
          </a:ln>
        </p:spPr>
      </p:sp>
      <p:sp>
        <p:nvSpPr>
          <p:cNvPr id="9" name="step-2"/>
          <p:cNvSpPr/>
          <p:nvPr/>
        </p:nvSpPr>
        <p:spPr>
          <a:xfrm>
            <a:off x="2849819" y="1325880"/>
            <a:ext cx="1889699" cy="1188720"/>
          </a:xfrm>
          <a:prstGeom prst="roundRect">
            <a:avLst>
              <a:gd name="adj" fmla="val 9231"/>
            </a:avLst>
          </a:prstGeom>
          <a:solidFill>
            <a:srgbClr val="E6F0F2"/>
          </a:solidFill>
          <a:ln w="12700">
            <a:solidFill>
              <a:srgbClr val="E6F0F2"/>
            </a:solidFill>
            <a:prstDash val="solid"/>
          </a:ln>
        </p:spPr>
      </p:sp>
      <p:sp>
        <p:nvSpPr>
          <p:cNvPr id="10" name="Shape 7"/>
          <p:cNvSpPr/>
          <p:nvPr/>
        </p:nvSpPr>
        <p:spPr>
          <a:xfrm>
            <a:off x="3032699" y="1508760"/>
            <a:ext cx="457200" cy="457200"/>
          </a:xfrm>
          <a:prstGeom prst="ellipse">
            <a:avLst/>
          </a:prstGeom>
          <a:solidFill>
            <a:srgbClr val="0F4C5C"/>
          </a:solidFill>
          <a:ln w="12700">
            <a:solidFill>
              <a:srgbClr val="0F4C5C"/>
            </a:solidFill>
            <a:prstDash val="solid"/>
          </a:ln>
        </p:spPr>
      </p:sp>
      <p:sp>
        <p:nvSpPr>
          <p:cNvPr id="11" name="Text 8"/>
          <p:cNvSpPr txBox="1"/>
          <p:nvPr/>
        </p:nvSpPr>
        <p:spPr>
          <a:xfrm>
            <a:off x="3032699"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3032699" y="2103120"/>
            <a:ext cx="1523939" cy="685800"/>
          </a:xfrm>
          <a:prstGeom prst="rect">
            <a:avLst/>
          </a:prstGeom>
          <a:noFill/>
          <a:ln/>
        </p:spPr>
        <p:txBody>
          <a:bodyPr wrap="square" lIns="0" tIns="0" rIns="0" bIns="0" rtlCol="0" anchor="t"/>
          <a:lstStyle/>
          <a:p>
            <a:pPr indent="0" marL="0">
              <a:buNone/>
            </a:pPr>
            <a:r>
              <a:rPr lang="en-US" sz="1800" b="1" dirty="0">
                <a:solidFill>
                  <a:srgbClr val="0F4C5C"/>
                </a:solidFill>
              </a:rPr>
              <a:t>結果を見る</a:t>
            </a:r>
            <a:endParaRPr lang="en-US" sz="1800" dirty="0"/>
          </a:p>
        </p:txBody>
      </p:sp>
      <p:sp>
        <p:nvSpPr>
          <p:cNvPr id="13" name="Shape 10"/>
          <p:cNvSpPr/>
          <p:nvPr/>
        </p:nvSpPr>
        <p:spPr>
          <a:xfrm>
            <a:off x="4803526" y="1773936"/>
            <a:ext cx="283464" cy="292608"/>
          </a:xfrm>
          <a:prstGeom prst="rightArrow">
            <a:avLst/>
          </a:prstGeom>
          <a:solidFill>
            <a:srgbClr val="E36414"/>
          </a:solidFill>
          <a:ln w="12700">
            <a:solidFill>
              <a:srgbClr val="E36414"/>
            </a:solidFill>
            <a:prstDash val="solid"/>
          </a:ln>
        </p:spPr>
      </p:sp>
      <p:sp>
        <p:nvSpPr>
          <p:cNvPr id="14" name="step-3"/>
          <p:cNvSpPr/>
          <p:nvPr/>
        </p:nvSpPr>
        <p:spPr>
          <a:xfrm>
            <a:off x="5150998" y="1325880"/>
            <a:ext cx="1889699" cy="1188720"/>
          </a:xfrm>
          <a:prstGeom prst="roundRect">
            <a:avLst>
              <a:gd name="adj" fmla="val 9231"/>
            </a:avLst>
          </a:prstGeom>
          <a:solidFill>
            <a:srgbClr val="FFF1E7"/>
          </a:solidFill>
          <a:ln w="12700">
            <a:solidFill>
              <a:srgbClr val="E36414"/>
            </a:solidFill>
            <a:prstDash val="solid"/>
          </a:ln>
        </p:spPr>
      </p:sp>
      <p:sp>
        <p:nvSpPr>
          <p:cNvPr id="15" name="Shape 12"/>
          <p:cNvSpPr/>
          <p:nvPr/>
        </p:nvSpPr>
        <p:spPr>
          <a:xfrm>
            <a:off x="5333878" y="1508760"/>
            <a:ext cx="457200" cy="457200"/>
          </a:xfrm>
          <a:prstGeom prst="ellipse">
            <a:avLst/>
          </a:prstGeom>
          <a:solidFill>
            <a:srgbClr val="0F4C5C"/>
          </a:solidFill>
          <a:ln w="12700">
            <a:solidFill>
              <a:srgbClr val="0F4C5C"/>
            </a:solidFill>
            <a:prstDash val="solid"/>
          </a:ln>
        </p:spPr>
      </p:sp>
      <p:sp>
        <p:nvSpPr>
          <p:cNvPr id="16" name="Text 13"/>
          <p:cNvSpPr txBox="1"/>
          <p:nvPr/>
        </p:nvSpPr>
        <p:spPr>
          <a:xfrm>
            <a:off x="533387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5333878" y="2103120"/>
            <a:ext cx="1523939" cy="685800"/>
          </a:xfrm>
          <a:prstGeom prst="rect">
            <a:avLst/>
          </a:prstGeom>
          <a:noFill/>
          <a:ln/>
        </p:spPr>
        <p:txBody>
          <a:bodyPr wrap="square" lIns="0" tIns="0" rIns="0" bIns="0" rtlCol="0" anchor="t"/>
          <a:lstStyle/>
          <a:p>
            <a:pPr indent="0" marL="0">
              <a:buNone/>
            </a:pPr>
            <a:r>
              <a:rPr lang="en-US" sz="1800" b="1" dirty="0">
                <a:solidFill>
                  <a:srgbClr val="0F4C5C"/>
                </a:solidFill>
              </a:rPr>
              <a:t>原因を考える</a:t>
            </a:r>
            <a:endParaRPr lang="en-US" sz="1800" dirty="0"/>
          </a:p>
        </p:txBody>
      </p:sp>
      <p:sp>
        <p:nvSpPr>
          <p:cNvPr id="18" name="Shape 15"/>
          <p:cNvSpPr/>
          <p:nvPr/>
        </p:nvSpPr>
        <p:spPr>
          <a:xfrm>
            <a:off x="7104705" y="1773936"/>
            <a:ext cx="283464" cy="292608"/>
          </a:xfrm>
          <a:prstGeom prst="rightArrow">
            <a:avLst/>
          </a:prstGeom>
          <a:solidFill>
            <a:srgbClr val="E36414"/>
          </a:solidFill>
          <a:ln w="12700">
            <a:solidFill>
              <a:srgbClr val="E36414"/>
            </a:solidFill>
            <a:prstDash val="solid"/>
          </a:ln>
        </p:spPr>
      </p:sp>
      <p:sp>
        <p:nvSpPr>
          <p:cNvPr id="19" name="step-4"/>
          <p:cNvSpPr/>
          <p:nvPr/>
        </p:nvSpPr>
        <p:spPr>
          <a:xfrm>
            <a:off x="7452177" y="1325880"/>
            <a:ext cx="1889699" cy="1188720"/>
          </a:xfrm>
          <a:prstGeom prst="roundRect">
            <a:avLst>
              <a:gd name="adj" fmla="val 9231"/>
            </a:avLst>
          </a:prstGeom>
          <a:solidFill>
            <a:srgbClr val="E6F0F2"/>
          </a:solidFill>
          <a:ln w="12700">
            <a:solidFill>
              <a:srgbClr val="E6F0F2"/>
            </a:solidFill>
            <a:prstDash val="solid"/>
          </a:ln>
        </p:spPr>
      </p:sp>
      <p:sp>
        <p:nvSpPr>
          <p:cNvPr id="20" name="Shape 17"/>
          <p:cNvSpPr/>
          <p:nvPr/>
        </p:nvSpPr>
        <p:spPr>
          <a:xfrm>
            <a:off x="7635057" y="1508760"/>
            <a:ext cx="457200" cy="457200"/>
          </a:xfrm>
          <a:prstGeom prst="ellipse">
            <a:avLst/>
          </a:prstGeom>
          <a:solidFill>
            <a:srgbClr val="0F4C5C"/>
          </a:solidFill>
          <a:ln w="12700">
            <a:solidFill>
              <a:srgbClr val="0F4C5C"/>
            </a:solidFill>
            <a:prstDash val="solid"/>
          </a:ln>
        </p:spPr>
      </p:sp>
      <p:sp>
        <p:nvSpPr>
          <p:cNvPr id="21" name="Text 18"/>
          <p:cNvSpPr txBox="1"/>
          <p:nvPr/>
        </p:nvSpPr>
        <p:spPr>
          <a:xfrm>
            <a:off x="7635057"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19"/>
          <p:cNvSpPr txBox="1"/>
          <p:nvPr/>
        </p:nvSpPr>
        <p:spPr>
          <a:xfrm>
            <a:off x="7635057" y="2103120"/>
            <a:ext cx="1523939" cy="685800"/>
          </a:xfrm>
          <a:prstGeom prst="rect">
            <a:avLst/>
          </a:prstGeom>
          <a:noFill/>
          <a:ln/>
        </p:spPr>
        <p:txBody>
          <a:bodyPr wrap="square" lIns="0" tIns="0" rIns="0" bIns="0" rtlCol="0" anchor="t"/>
          <a:lstStyle/>
          <a:p>
            <a:pPr indent="0" marL="0">
              <a:buNone/>
            </a:pPr>
            <a:r>
              <a:rPr lang="en-US" sz="1800" b="1" dirty="0">
                <a:solidFill>
                  <a:srgbClr val="0F4C5C"/>
                </a:solidFill>
              </a:rPr>
              <a:t>直す</a:t>
            </a:r>
            <a:endParaRPr lang="en-US" sz="1800" dirty="0"/>
          </a:p>
        </p:txBody>
      </p:sp>
      <p:sp>
        <p:nvSpPr>
          <p:cNvPr id="23" name="Shape 20"/>
          <p:cNvSpPr/>
          <p:nvPr/>
        </p:nvSpPr>
        <p:spPr>
          <a:xfrm>
            <a:off x="9405884" y="1773936"/>
            <a:ext cx="283464" cy="292608"/>
          </a:xfrm>
          <a:prstGeom prst="rightArrow">
            <a:avLst/>
          </a:prstGeom>
          <a:solidFill>
            <a:srgbClr val="E36414"/>
          </a:solidFill>
          <a:ln w="12700">
            <a:solidFill>
              <a:srgbClr val="E36414"/>
            </a:solidFill>
            <a:prstDash val="solid"/>
          </a:ln>
        </p:spPr>
      </p:sp>
      <p:sp>
        <p:nvSpPr>
          <p:cNvPr id="24" name="step-5"/>
          <p:cNvSpPr/>
          <p:nvPr/>
        </p:nvSpPr>
        <p:spPr>
          <a:xfrm>
            <a:off x="9753356" y="1325880"/>
            <a:ext cx="1889699" cy="1188720"/>
          </a:xfrm>
          <a:prstGeom prst="roundRect">
            <a:avLst>
              <a:gd name="adj" fmla="val 9231"/>
            </a:avLst>
          </a:prstGeom>
          <a:solidFill>
            <a:srgbClr val="E6F0F2"/>
          </a:solidFill>
          <a:ln w="12700">
            <a:solidFill>
              <a:srgbClr val="E6F0F2"/>
            </a:solidFill>
            <a:prstDash val="solid"/>
          </a:ln>
        </p:spPr>
      </p:sp>
      <p:sp>
        <p:nvSpPr>
          <p:cNvPr id="25" name="Shape 22"/>
          <p:cNvSpPr/>
          <p:nvPr/>
        </p:nvSpPr>
        <p:spPr>
          <a:xfrm>
            <a:off x="9936236" y="1508760"/>
            <a:ext cx="457200" cy="457200"/>
          </a:xfrm>
          <a:prstGeom prst="ellipse">
            <a:avLst/>
          </a:prstGeom>
          <a:solidFill>
            <a:srgbClr val="0F4C5C"/>
          </a:solidFill>
          <a:ln w="12700">
            <a:solidFill>
              <a:srgbClr val="0F4C5C"/>
            </a:solidFill>
            <a:prstDash val="solid"/>
          </a:ln>
        </p:spPr>
      </p:sp>
      <p:sp>
        <p:nvSpPr>
          <p:cNvPr id="26" name="Text 23"/>
          <p:cNvSpPr txBox="1"/>
          <p:nvPr/>
        </p:nvSpPr>
        <p:spPr>
          <a:xfrm>
            <a:off x="9936236"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4"/>
          <p:cNvSpPr txBox="1"/>
          <p:nvPr/>
        </p:nvSpPr>
        <p:spPr>
          <a:xfrm>
            <a:off x="9936236" y="2103120"/>
            <a:ext cx="1523939" cy="685800"/>
          </a:xfrm>
          <a:prstGeom prst="rect">
            <a:avLst/>
          </a:prstGeom>
          <a:noFill/>
          <a:ln/>
        </p:spPr>
        <p:txBody>
          <a:bodyPr wrap="square" lIns="0" tIns="0" rIns="0" bIns="0" rtlCol="0" anchor="t"/>
          <a:lstStyle/>
          <a:p>
            <a:pPr indent="0" marL="0">
              <a:buNone/>
            </a:pPr>
            <a:r>
              <a:rPr lang="en-US" sz="1800" b="1" dirty="0">
                <a:solidFill>
                  <a:srgbClr val="0F4C5C"/>
                </a:solidFill>
              </a:rPr>
              <a:t>もう一度試す</a:t>
            </a:r>
            <a:endParaRPr lang="en-US" sz="1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94415" cy="914400"/>
        </p:xfrm>
        <a:graphic>
          <a:graphicData uri="http://schemas.openxmlformats.org/drawingml/2006/table">
            <a:tbl>
              <a:tblPr/>
              <a:tblGrid>
                <a:gridCol w="3291840"/>
                <a:gridCol w="7799832"/>
              </a:tblGrid>
              <a:tr h="457200">
                <a:tc>
                  <a:txBody>
                    <a:bodyPr/>
                    <a:lstStyle/>
                    <a:p>
                      <a:pPr indent="0" marL="0">
                        <a:buNone/>
                      </a:pPr>
                      <a:r>
                        <a:rPr lang="en-US" sz="1500" b="1" dirty="0">
                          <a:solidFill>
                            <a:srgbClr val="0F4C5C"/>
                          </a:solidFill>
                        </a:rPr>
                        <a:t>症状</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直す場所</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500" dirty="0">
                          <a:solidFill>
                            <a:srgbClr val="1F2933"/>
                          </a:solidFill>
                        </a:rPr>
                        <a:t>使われない</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description に頼み方の言葉や状況を足す</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余計な場面で使われる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description に対象を絞る言葉を足す</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使われるが出力が違う</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本文の手順・例・判断のルールを直す</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手順の一部を飛ばす</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その手順の理由を書き足す、チェックリストにする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4415" cy="1097280"/>
          </a:xfrm>
          <a:prstGeom prst="rect">
            <a:avLst/>
          </a:prstGeom>
          <a:noFill/>
          <a:ln/>
        </p:spPr>
        <p:txBody>
          <a:bodyPr wrap="square" lIns="0" tIns="0" rIns="0" bIns="0" rtlCol="0" anchor="b"/>
          <a:lstStyle/>
          <a:p>
            <a:pPr algn="l" indent="0" marL="0">
              <a:buNone/>
            </a:pPr>
            <a:r>
              <a:rPr lang="en-US" sz="4000" b="1" dirty="0">
                <a:solidFill>
                  <a:srgbClr val="FFFFFF"/>
                </a:solidFill>
              </a:rPr>
              <a:t>第3部 応用編</a:t>
            </a:r>
            <a:endParaRPr lang="en-US" sz="4000" dirty="0"/>
          </a:p>
        </p:txBody>
      </p:sp>
      <p:sp>
        <p:nvSpPr>
          <p:cNvPr id="3" name="Text 0"/>
          <p:cNvSpPr/>
          <p:nvPr>
            <p:ph idx="101" type="body" hasCustomPrompt="1"/>
          </p:nvPr>
        </p:nvSpPr>
        <p:spPr>
          <a:xfrm>
            <a:off x="548640" y="2834640"/>
            <a:ext cx="11094415" cy="3108960"/>
          </a:xfrm>
          <a:prstGeom prst="rect">
            <a:avLst/>
          </a:prstGeom>
          <a:noFill/>
          <a:ln/>
        </p:spPr>
        <p:txBody>
          <a:bodyPr wrap="square" lIns="0" tIns="0" rIns="0" bIns="0" rtlCol="0" anchor="t"/>
          <a:lstStyle/>
          <a:p>
            <a:pPr algn="l" indent="0" marL="0">
              <a:spcAft>
                <a:spcPts val="600"/>
              </a:spcAft>
              <a:buNone/>
            </a:pPr>
            <a:r>
              <a:rPr lang="en-US" sz="2200" dirty="0">
                <a:solidFill>
                  <a:srgbClr val="D7E6EA"/>
                </a:solidFill>
              </a:rPr>
              <a:t>11. 複数の環境で使い回すコツ</a:t>
            </a:r>
            <a:endParaRPr lang="en-US" sz="2200" dirty="0"/>
          </a:p>
          <a:p>
            <a:pPr algn="l" indent="0" marL="0">
              <a:spcAft>
                <a:spcPts val="600"/>
              </a:spcAft>
              <a:buNone/>
            </a:pPr>
            <a:r>
              <a:rPr lang="en-US" sz="2200" dirty="0">
                <a:solidFill>
                  <a:srgbClr val="D7E6EA"/>
                </a:solidFill>
              </a:rPr>
              <a:t>12. スクリプト付きSkill</a:t>
            </a:r>
            <a:endParaRPr lang="en-US" sz="2200" dirty="0"/>
          </a:p>
          <a:p>
            <a:pPr algn="l" indent="0" marL="0">
              <a:spcAft>
                <a:spcPts val="600"/>
              </a:spcAft>
              <a:buNone/>
            </a:pPr>
            <a:r>
              <a:rPr lang="en-US" sz="2200" dirty="0">
                <a:solidFill>
                  <a:srgbClr val="D7E6EA"/>
                </a:solidFill>
              </a:rPr>
              <a:t>13. 安全に使うために</a:t>
            </a:r>
            <a:endParaRPr lang="en-US" sz="2200" dirty="0"/>
          </a:p>
          <a:p>
            <a:pPr algn="l" indent="0" marL="0">
              <a:spcAft>
                <a:spcPts val="600"/>
              </a:spcAft>
              <a:buNone/>
            </a:pPr>
            <a:r>
              <a:rPr lang="en-US" sz="2200" dirty="0">
                <a:solidFill>
                  <a:srgbClr val="D7E6EA"/>
                </a:solidFill>
              </a:rPr>
              <a:t>14. よくある失敗と対処</a:t>
            </a:r>
            <a:endParaRPr lang="en-US" sz="2200" dirty="0"/>
          </a:p>
          <a:p>
            <a:pPr algn="l" indent="0" marL="0">
              <a:spcAft>
                <a:spcPts val="600"/>
              </a:spcAft>
              <a:buNone/>
            </a:pPr>
            <a:r>
              <a:rPr lang="en-US" sz="2200" dirty="0">
                <a:solidFill>
                  <a:srgbClr val="D7E6EA"/>
                </a:solidFill>
              </a:rPr>
              <a:t>15. 作成チェックリスト</a:t>
            </a:r>
            <a:endParaRPr lang="en-US"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11. 使い回しの原則: 共通部分だけで書く</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560320"/>
                <a:gridCol w="8531352"/>
              </a:tblGrid>
              <a:tr h="457200">
                <a:tc>
                  <a:txBody>
                    <a:bodyPr/>
                    <a:lstStyle/>
                    <a:p>
                      <a:pPr indent="0" marL="0">
                        <a:buNone/>
                      </a:pPr>
                      <a:r>
                        <a:rPr lang="en-US" sz="1500" b="1" dirty="0">
                          <a:solidFill>
                            <a:srgbClr val="0F4C5C"/>
                          </a:solidFill>
                        </a:rPr>
                        <a:t>項目</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方針</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500" dirty="0">
                          <a:solidFill>
                            <a:srgbClr val="1F2933"/>
                          </a:solidFill>
                        </a:rPr>
                        <a:t>name</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英小文字・数字・ハイフン。「anthropic」「claude」を含めない。フォルダ名と一致</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description</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200文字以内。XMLタグを含めない</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その他の項目</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license、compatibility、metadata だけにとどめる</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環境独自の項目</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必要な環境用のコピーにだけ書く</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本文</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特定製品の機能名（ツール名など）に依存しない書き方</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b="1" dirty="0">
                <a:solidFill>
                  <a:srgbClr val="E36414"/>
                </a:solidFill>
              </a:rPr>
              <a:t>Claude Code独自の項目をClaude.aiにアップロードするとエラー</a:t>
            </a:r>
            <a:r>
              <a:rPr lang="en-US" sz="1800" dirty="0">
                <a:solidFill>
                  <a:srgbClr val="1F2933"/>
                </a:solidFill>
              </a:rPr>
              <a:t>になる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リポジトリでの置き方</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318608" cy="914400"/>
        </p:xfrm>
        <a:graphic>
          <a:graphicData uri="http://schemas.openxmlformats.org/drawingml/2006/table">
            <a:tbl>
              <a:tblPr/>
              <a:tblGrid>
                <a:gridCol w="2011680"/>
                <a:gridCol w="1280160"/>
                <a:gridCol w="1005840"/>
                <a:gridCol w="1024128"/>
              </a:tblGrid>
              <a:tr h="457200">
                <a:tc>
                  <a:txBody>
                    <a:bodyPr/>
                    <a:lstStyle/>
                    <a:p>
                      <a:pPr indent="0" marL="0">
                        <a:buNone/>
                      </a:pPr>
                      <a:r>
                        <a:rPr lang="en-US" sz="1500" b="1" dirty="0">
                          <a:solidFill>
                            <a:srgbClr val="0F4C5C"/>
                          </a:solidFill>
                        </a:rPr>
                        <a:t>置き場所</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Claude Code</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Codex</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500" b="1" dirty="0">
                          <a:solidFill>
                            <a:srgbClr val="0F4C5C"/>
                          </a:solidFill>
                        </a:rPr>
                        <a:t>Copilot</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500" dirty="0">
                          <a:solidFill>
                            <a:srgbClr val="1F2933"/>
                          </a:solidFill>
                        </a:rPr>
                        <a:t>.claude/skills/</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読む</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読む</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F2933"/>
                          </a:solidFill>
                        </a:rPr>
                        <a:t>.agents/skills/</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読む</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500" dirty="0">
                          <a:solidFill>
                            <a:srgbClr val="1F2933"/>
                          </a:solidFill>
                        </a:rPr>
                        <a:t>読む</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500" dirty="0">
                          <a:solidFill>
                            <a:srgbClr val="1F2933"/>
                          </a:solidFill>
                        </a:rPr>
                        <a:t>.github/skills/</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読む</a:t>
                      </a:r>
                      <a:endParaRPr lang="en-US" sz="15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Shape 1"/>
          <p:cNvSpPr/>
          <p:nvPr/>
        </p:nvSpPr>
        <p:spPr>
          <a:xfrm>
            <a:off x="6324448" y="1325880"/>
            <a:ext cx="5318608" cy="2194560"/>
          </a:xfrm>
          <a:prstGeom prst="roundRect">
            <a:avLst>
              <a:gd name="adj" fmla="val 3333"/>
            </a:avLst>
          </a:prstGeom>
          <a:solidFill>
            <a:srgbClr val="F3F5F6"/>
          </a:solidFill>
          <a:ln w="9525">
            <a:solidFill>
              <a:srgbClr val="B8C7CC"/>
            </a:solidFill>
            <a:prstDash val="solid"/>
          </a:ln>
        </p:spPr>
      </p:sp>
      <p:sp>
        <p:nvSpPr>
          <p:cNvPr id="6" name="Text 2"/>
          <p:cNvSpPr txBox="1"/>
          <p:nvPr/>
        </p:nvSpPr>
        <p:spPr>
          <a:xfrm>
            <a:off x="6507328" y="1463040"/>
            <a:ext cx="4952848" cy="1920240"/>
          </a:xfrm>
          <a:prstGeom prst="rect">
            <a:avLst/>
          </a:prstGeom>
          <a:noFill/>
          <a:ln/>
        </p:spPr>
        <p:txBody>
          <a:bodyPr wrap="square" lIns="0" tIns="0" rIns="0" bIns="0" rtlCol="0" anchor="t"/>
          <a:lstStyle/>
          <a:p>
            <a:pPr indent="0" marL="0">
              <a:buNone/>
            </a:pPr>
            <a:r>
              <a:rPr lang="en-US" sz="1400" dirty="0">
                <a:solidFill>
                  <a:srgbClr val="1F2933"/>
                </a:solidFill>
                <a:latin typeface="Consolas" pitchFamily="34" charset="0"/>
                <a:ea typeface="メイリオ" pitchFamily="34" charset="-122"/>
                <a:cs typeface="Consolas" pitchFamily="34" charset="-120"/>
              </a:rPr>
              <a:t>リポジトリ/</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.agents/skills/meeting-minutes/</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 正本（Codex・Copilot）</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.claude/skills/meeting-minutes/</a:t>
            </a:r>
            <a:endParaRPr lang="en-US" sz="1400" dirty="0"/>
          </a:p>
          <a:p>
            <a:pPr indent="0" marL="0">
              <a:buNone/>
            </a:pPr>
            <a:r>
              <a:rPr lang="en-US" sz="1400" dirty="0">
                <a:solidFill>
                  <a:srgbClr val="1F2933"/>
                </a:solidFill>
                <a:latin typeface="Consolas" pitchFamily="34" charset="0"/>
                <a:ea typeface="メイリオ" pitchFamily="34" charset="-122"/>
                <a:cs typeface="Consolas" pitchFamily="34" charset="-120"/>
              </a:rPr>
              <a:t>      ← 正本のコピー（Claude Code）</a:t>
            </a:r>
            <a:endParaRPr lang="en-US" sz="1400" dirty="0"/>
          </a:p>
        </p:txBody>
      </p:sp>
      <p:sp>
        <p:nvSpPr>
          <p:cNvPr id="7" name="Shape 3"/>
          <p:cNvSpPr/>
          <p:nvPr/>
        </p:nvSpPr>
        <p:spPr>
          <a:xfrm>
            <a:off x="548640" y="4206240"/>
            <a:ext cx="11094415" cy="640080"/>
          </a:xfrm>
          <a:prstGeom prst="roundRect">
            <a:avLst>
              <a:gd name="adj" fmla="val 14286"/>
            </a:avLst>
          </a:prstGeom>
          <a:solidFill>
            <a:srgbClr val="FFF1E7"/>
          </a:solidFill>
          <a:ln w="12700">
            <a:solidFill>
              <a:srgbClr val="E36414"/>
            </a:solidFill>
            <a:prstDash val="solid"/>
          </a:ln>
        </p:spPr>
      </p:sp>
      <p:sp>
        <p:nvSpPr>
          <p:cNvPr id="8" name="Text 4"/>
          <p:cNvSpPr txBox="1"/>
          <p:nvPr/>
        </p:nvSpPr>
        <p:spPr>
          <a:xfrm>
            <a:off x="777240" y="420624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確実なのは</a:t>
            </a:r>
            <a:r>
              <a:rPr lang="en-US" sz="1800" b="1" dirty="0">
                <a:solidFill>
                  <a:srgbClr val="E36414"/>
                </a:solidFill>
              </a:rPr>
              <a:t>コピー</a:t>
            </a:r>
            <a:r>
              <a:rPr lang="en-US" sz="1800" dirty="0">
                <a:solidFill>
                  <a:srgbClr val="1F2933"/>
                </a:solidFill>
              </a:rPr>
              <a:t>。正本だけを編集して同期。Claude.ai・ChatGPTには同じフォルダをZIPで</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12. スクリプト付きSkill</a:t>
            </a:r>
            <a:endParaRPr lang="en-US" sz="3000" dirty="0"/>
          </a:p>
        </p:txBody>
      </p:sp>
      <p:sp>
        <p:nvSpPr>
          <p:cNvPr id="4" name="card-1"/>
          <p:cNvSpPr/>
          <p:nvPr/>
        </p:nvSpPr>
        <p:spPr>
          <a:xfrm>
            <a:off x="548640" y="1325880"/>
            <a:ext cx="3515258" cy="3886200"/>
          </a:xfrm>
          <a:prstGeom prst="roundRect">
            <a:avLst>
              <a:gd name="adj" fmla="val 3121"/>
            </a:avLst>
          </a:prstGeom>
          <a:solidFill>
            <a:srgbClr val="E6F0F2"/>
          </a:solidFill>
          <a:ln w="12700">
            <a:solidFill>
              <a:srgbClr val="E6F0F2"/>
            </a:solidFill>
            <a:prstDash val="solid"/>
          </a:ln>
        </p:spPr>
      </p:sp>
      <p:sp>
        <p:nvSpPr>
          <p:cNvPr id="5" name="Text 2"/>
          <p:cNvSpPr txBox="1"/>
          <p:nvPr/>
        </p:nvSpPr>
        <p:spPr>
          <a:xfrm>
            <a:off x="777240"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スクリプトが向く</a:t>
            </a:r>
            <a:endParaRPr lang="en-US" sz="2000" dirty="0"/>
          </a:p>
        </p:txBody>
      </p:sp>
      <p:sp>
        <p:nvSpPr>
          <p:cNvPr id="6" name="Text 3"/>
          <p:cNvSpPr txBox="1"/>
          <p:nvPr/>
        </p:nvSpPr>
        <p:spPr>
          <a:xfrm>
            <a:off x="777240" y="21031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毎回まったく同じ結果が必要（計算、形式チェック）</a:t>
            </a:r>
            <a:endParaRPr lang="en-US" sz="1600" dirty="0"/>
          </a:p>
          <a:p>
            <a:pPr marL="203200" indent="-203200">
              <a:spcAft>
                <a:spcPts val="600"/>
              </a:spcAft>
              <a:buSzPct val="100000"/>
              <a:buChar char="●"/>
            </a:pPr>
            <a:r>
              <a:rPr lang="en-US" sz="1600" dirty="0">
                <a:solidFill>
                  <a:srgbClr val="1F2933"/>
                </a:solidFill>
              </a:rPr>
              <a:t>AIが毎回同じプログラムを書き直している</a:t>
            </a:r>
            <a:endParaRPr lang="en-US" sz="1600" dirty="0"/>
          </a:p>
          <a:p>
            <a:pPr marL="203200" indent="-203200">
              <a:spcAft>
                <a:spcPts val="600"/>
              </a:spcAft>
              <a:buSzPct val="100000"/>
              <a:buChar char="●"/>
            </a:pPr>
            <a:r>
              <a:rPr lang="en-US" sz="1600" dirty="0">
                <a:solidFill>
                  <a:srgbClr val="1F2933"/>
                </a:solidFill>
              </a:rPr>
              <a:t>間違えると困る処理（一括変更など）</a:t>
            </a:r>
            <a:endParaRPr lang="en-US" sz="1600" dirty="0"/>
          </a:p>
        </p:txBody>
      </p:sp>
      <p:sp>
        <p:nvSpPr>
          <p:cNvPr id="7" name="card-2"/>
          <p:cNvSpPr/>
          <p:nvPr/>
        </p:nvSpPr>
        <p:spPr>
          <a:xfrm>
            <a:off x="4338218" y="1325880"/>
            <a:ext cx="3515258" cy="3886200"/>
          </a:xfrm>
          <a:prstGeom prst="roundRect">
            <a:avLst>
              <a:gd name="adj" fmla="val 3121"/>
            </a:avLst>
          </a:prstGeom>
          <a:solidFill>
            <a:srgbClr val="E6F0F2"/>
          </a:solidFill>
          <a:ln w="12700">
            <a:solidFill>
              <a:srgbClr val="E6F0F2"/>
            </a:solidFill>
            <a:prstDash val="solid"/>
          </a:ln>
        </p:spPr>
      </p:sp>
      <p:sp>
        <p:nvSpPr>
          <p:cNvPr id="8" name="Text 5"/>
          <p:cNvSpPr txBox="1"/>
          <p:nvPr/>
        </p:nvSpPr>
        <p:spPr>
          <a:xfrm>
            <a:off x="4566818"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書き方のポイント</a:t>
            </a:r>
            <a:endParaRPr lang="en-US" sz="2000" dirty="0"/>
          </a:p>
        </p:txBody>
      </p:sp>
      <p:sp>
        <p:nvSpPr>
          <p:cNvPr id="9" name="Text 6"/>
          <p:cNvSpPr txBox="1"/>
          <p:nvPr/>
        </p:nvSpPr>
        <p:spPr>
          <a:xfrm>
            <a:off x="4566818" y="21031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600" b="1" dirty="0">
                <a:solidFill>
                  <a:srgbClr val="0F4C5C"/>
                </a:solidFill>
              </a:rPr>
              <a:t>実行するのか、読むのか</a:t>
            </a:r>
            <a:r>
              <a:rPr lang="en-US" sz="1600" dirty="0">
                <a:solidFill>
                  <a:srgbClr val="1F2933"/>
                </a:solidFill>
              </a:rPr>
              <a:t>を明記</a:t>
            </a:r>
            <a:endParaRPr lang="en-US" sz="1600" dirty="0"/>
          </a:p>
          <a:p>
            <a:pPr marL="203200" indent="-203200">
              <a:spcAft>
                <a:spcPts val="600"/>
              </a:spcAft>
              <a:buSzPct val="100000"/>
              <a:buChar char="●"/>
            </a:pPr>
            <a:r>
              <a:rPr lang="en-US" sz="1600" dirty="0">
                <a:solidFill>
                  <a:srgbClr val="1F2933"/>
                </a:solidFill>
              </a:rPr>
              <a:t>必要なソフト・ライブラリを明記</a:t>
            </a:r>
            <a:endParaRPr lang="en-US" sz="1600" dirty="0"/>
          </a:p>
          <a:p>
            <a:pPr marL="203200" indent="-203200">
              <a:spcAft>
                <a:spcPts val="600"/>
              </a:spcAft>
              <a:buSzPct val="100000"/>
              <a:buChar char="●"/>
            </a:pPr>
            <a:r>
              <a:rPr lang="en-US" sz="1600" dirty="0">
                <a:solidFill>
                  <a:srgbClr val="1F2933"/>
                </a:solidFill>
              </a:rPr>
              <a:t>エラー処理とわかりやすいメッセージ</a:t>
            </a:r>
            <a:endParaRPr lang="en-US" sz="1600" dirty="0"/>
          </a:p>
        </p:txBody>
      </p:sp>
      <p:sp>
        <p:nvSpPr>
          <p:cNvPr id="10" name="card-3"/>
          <p:cNvSpPr/>
          <p:nvPr/>
        </p:nvSpPr>
        <p:spPr>
          <a:xfrm>
            <a:off x="8127797" y="1325880"/>
            <a:ext cx="3515258" cy="3886200"/>
          </a:xfrm>
          <a:prstGeom prst="roundRect">
            <a:avLst>
              <a:gd name="adj" fmla="val 3121"/>
            </a:avLst>
          </a:prstGeom>
          <a:solidFill>
            <a:srgbClr val="FFF1E7"/>
          </a:solidFill>
          <a:ln w="12700">
            <a:solidFill>
              <a:srgbClr val="E36414"/>
            </a:solidFill>
            <a:prstDash val="solid"/>
          </a:ln>
        </p:spPr>
      </p:sp>
      <p:sp>
        <p:nvSpPr>
          <p:cNvPr id="11" name="Text 8"/>
          <p:cNvSpPr txBox="1"/>
          <p:nvPr/>
        </p:nvSpPr>
        <p:spPr>
          <a:xfrm>
            <a:off x="8356397"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非プログラマーへ</a:t>
            </a:r>
            <a:endParaRPr lang="en-US" sz="2000" dirty="0"/>
          </a:p>
        </p:txBody>
      </p:sp>
      <p:sp>
        <p:nvSpPr>
          <p:cNvPr id="12" name="Text 9"/>
          <p:cNvSpPr txBox="1"/>
          <p:nvPr/>
        </p:nvSpPr>
        <p:spPr>
          <a:xfrm>
            <a:off x="8356397" y="2103120"/>
            <a:ext cx="3058058" cy="29718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AIに書いてもらってよい</a:t>
            </a:r>
            <a:endParaRPr lang="en-US" sz="1600" dirty="0"/>
          </a:p>
          <a:p>
            <a:pPr marL="203200" indent="-203200">
              <a:spcAft>
                <a:spcPts val="600"/>
              </a:spcAft>
              <a:buSzPct val="100000"/>
              <a:buChar char="●"/>
            </a:pPr>
            <a:r>
              <a:rPr lang="en-US" sz="1600" dirty="0">
                <a:solidFill>
                  <a:srgbClr val="1F2933"/>
                </a:solidFill>
              </a:rPr>
              <a:t>何をするか・何を読み書きするか・ネット接続するかを</a:t>
            </a:r>
            <a:r>
              <a:rPr lang="en-US" sz="1600" b="1" dirty="0">
                <a:solidFill>
                  <a:srgbClr val="0F4C5C"/>
                </a:solidFill>
              </a:rPr>
              <a:t>説明させる</a:t>
            </a:r>
            <a:endParaRPr lang="en-US" sz="1600" dirty="0"/>
          </a:p>
          <a:p>
            <a:pPr marL="203200" indent="-203200">
              <a:spcAft>
                <a:spcPts val="600"/>
              </a:spcAft>
              <a:buSzPct val="100000"/>
              <a:buChar char="●"/>
            </a:pPr>
            <a:r>
              <a:rPr lang="en-US" sz="1600" dirty="0">
                <a:solidFill>
                  <a:srgbClr val="1F2933"/>
                </a:solidFill>
              </a:rPr>
              <a:t>テスト用ファイルで試す。わからない処理は使わない</a:t>
            </a:r>
            <a:endParaRPr lang="en-US" sz="1600" dirty="0"/>
          </a:p>
        </p:txBody>
      </p:sp>
      <p:sp>
        <p:nvSpPr>
          <p:cNvPr id="13" name="Shape 10"/>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14" name="Text 11"/>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latin typeface="Consolas" pitchFamily="34" charset="0"/>
                <a:ea typeface="メイリオ" pitchFamily="34" charset="-122"/>
                <a:cs typeface="Consolas" pitchFamily="34" charset="-120"/>
              </a:rPr>
              <a:t>allowed-tools</a:t>
            </a:r>
            <a:r>
              <a:rPr lang="en-US" sz="1800" dirty="0">
                <a:solidFill>
                  <a:srgbClr val="1F2933"/>
                </a:solidFill>
              </a:rPr>
              <a:t> で shell / bash を事前許可しない（信頼できる作成元のSkillを除く）</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13. 安全に使うために</a:t>
            </a:r>
            <a:endParaRPr lang="en-US" sz="3000" dirty="0"/>
          </a:p>
        </p:txBody>
      </p:sp>
      <p:sp>
        <p:nvSpPr>
          <p:cNvPr id="4" name="card-1"/>
          <p:cNvSpPr/>
          <p:nvPr/>
        </p:nvSpPr>
        <p:spPr>
          <a:xfrm>
            <a:off x="548640" y="1325880"/>
            <a:ext cx="3515258" cy="4892040"/>
          </a:xfrm>
          <a:prstGeom prst="roundRect">
            <a:avLst>
              <a:gd name="adj" fmla="val 3121"/>
            </a:avLst>
          </a:prstGeom>
          <a:solidFill>
            <a:srgbClr val="E6F0F2"/>
          </a:solidFill>
          <a:ln w="12700">
            <a:solidFill>
              <a:srgbClr val="E6F0F2"/>
            </a:solidFill>
            <a:prstDash val="solid"/>
          </a:ln>
        </p:spPr>
      </p:sp>
      <p:sp>
        <p:nvSpPr>
          <p:cNvPr id="5" name="Text 2"/>
          <p:cNvSpPr txBox="1"/>
          <p:nvPr/>
        </p:nvSpPr>
        <p:spPr>
          <a:xfrm>
            <a:off x="777240"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他人のSkillを入れるとき</a:t>
            </a:r>
            <a:endParaRPr lang="en-US" sz="2000" dirty="0"/>
          </a:p>
        </p:txBody>
      </p:sp>
      <p:sp>
        <p:nvSpPr>
          <p:cNvPr id="6" name="Text 3"/>
          <p:cNvSpPr txBox="1"/>
          <p:nvPr/>
        </p:nvSpPr>
        <p:spPr>
          <a:xfrm>
            <a:off x="777240" y="2103120"/>
            <a:ext cx="3058058"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SKILL.md と</a:t>
            </a:r>
            <a:r>
              <a:rPr lang="en-US" sz="1600" b="1" dirty="0">
                <a:solidFill>
                  <a:srgbClr val="0F4C5C"/>
                </a:solidFill>
              </a:rPr>
              <a:t>すべての付属ファイル</a:t>
            </a:r>
            <a:r>
              <a:rPr lang="en-US" sz="1600" dirty="0">
                <a:solidFill>
                  <a:srgbClr val="1F2933"/>
                </a:solidFill>
              </a:rPr>
              <a:t>を読む</a:t>
            </a:r>
            <a:endParaRPr lang="en-US" sz="1600" dirty="0"/>
          </a:p>
          <a:p>
            <a:pPr marL="203200" indent="-203200">
              <a:spcAft>
                <a:spcPts val="600"/>
              </a:spcAft>
              <a:buSzPct val="100000"/>
              <a:buChar char="●"/>
            </a:pPr>
            <a:r>
              <a:rPr lang="en-US" sz="1600" dirty="0">
                <a:solidFill>
                  <a:srgbClr val="1F2933"/>
                </a:solidFill>
              </a:rPr>
              <a:t>読めなければAIに危険な処理がないか説明させる</a:t>
            </a:r>
            <a:endParaRPr lang="en-US" sz="1600" dirty="0"/>
          </a:p>
          <a:p>
            <a:pPr marL="203200" indent="-203200">
              <a:spcAft>
                <a:spcPts val="600"/>
              </a:spcAft>
              <a:buSzPct val="100000"/>
              <a:buChar char="●"/>
            </a:pPr>
            <a:r>
              <a:rPr lang="en-US" sz="1600" dirty="0">
                <a:solidFill>
                  <a:srgbClr val="1F2933"/>
                </a:solidFill>
              </a:rPr>
              <a:t>出所が信頼できるものだけ</a:t>
            </a:r>
            <a:endParaRPr lang="en-US" sz="1600" dirty="0"/>
          </a:p>
          <a:p>
            <a:pPr marL="203200" indent="-203200">
              <a:spcAft>
                <a:spcPts val="600"/>
              </a:spcAft>
              <a:buSzPct val="100000"/>
              <a:buChar char="●"/>
            </a:pPr>
            <a:r>
              <a:rPr lang="en-US" sz="1600" dirty="0">
                <a:solidFill>
                  <a:srgbClr val="1F2933"/>
                </a:solidFill>
              </a:rPr>
              <a:t>社内ルールに従う</a:t>
            </a:r>
            <a:endParaRPr lang="en-US" sz="1600" dirty="0"/>
          </a:p>
        </p:txBody>
      </p:sp>
      <p:sp>
        <p:nvSpPr>
          <p:cNvPr id="7" name="card-2"/>
          <p:cNvSpPr/>
          <p:nvPr/>
        </p:nvSpPr>
        <p:spPr>
          <a:xfrm>
            <a:off x="4338218" y="1325880"/>
            <a:ext cx="3515258" cy="4892040"/>
          </a:xfrm>
          <a:prstGeom prst="roundRect">
            <a:avLst>
              <a:gd name="adj" fmla="val 3121"/>
            </a:avLst>
          </a:prstGeom>
          <a:solidFill>
            <a:srgbClr val="E6F0F2"/>
          </a:solidFill>
          <a:ln w="12700">
            <a:solidFill>
              <a:srgbClr val="E6F0F2"/>
            </a:solidFill>
            <a:prstDash val="solid"/>
          </a:ln>
        </p:spPr>
      </p:sp>
      <p:sp>
        <p:nvSpPr>
          <p:cNvPr id="8" name="Text 5"/>
          <p:cNvSpPr txBox="1"/>
          <p:nvPr/>
        </p:nvSpPr>
        <p:spPr>
          <a:xfrm>
            <a:off x="4566818"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自分で作るとき</a:t>
            </a:r>
            <a:endParaRPr lang="en-US" sz="2000" dirty="0"/>
          </a:p>
        </p:txBody>
      </p:sp>
      <p:sp>
        <p:nvSpPr>
          <p:cNvPr id="9" name="Text 6"/>
          <p:cNvSpPr txBox="1"/>
          <p:nvPr/>
        </p:nvSpPr>
        <p:spPr>
          <a:xfrm>
            <a:off x="4566818" y="2103120"/>
            <a:ext cx="3058058" cy="3977640"/>
          </a:xfrm>
          <a:prstGeom prst="rect">
            <a:avLst/>
          </a:prstGeom>
          <a:noFill/>
          <a:ln/>
        </p:spPr>
        <p:txBody>
          <a:bodyPr wrap="square" lIns="0" tIns="0" rIns="0" bIns="0" rtlCol="0" anchor="t"/>
          <a:lstStyle/>
          <a:p>
            <a:pPr marL="203200" indent="-203200">
              <a:spcAft>
                <a:spcPts val="600"/>
              </a:spcAft>
              <a:buSzPct val="100000"/>
              <a:buChar char="●"/>
            </a:pPr>
            <a:r>
              <a:rPr lang="en-US" sz="1600" b="1" dirty="0">
                <a:solidFill>
                  <a:srgbClr val="0F4C5C"/>
                </a:solidFill>
              </a:rPr>
              <a:t>パスワード・APIキーを書かない</a:t>
            </a:r>
            <a:endParaRPr lang="en-US" sz="1600" dirty="0"/>
          </a:p>
          <a:p>
            <a:pPr marL="203200" indent="-203200">
              <a:spcAft>
                <a:spcPts val="600"/>
              </a:spcAft>
              <a:buSzPct val="100000"/>
              <a:buChar char="●"/>
            </a:pPr>
            <a:r>
              <a:rPr lang="en-US" sz="1600" dirty="0">
                <a:solidFill>
                  <a:srgbClr val="1F2933"/>
                </a:solidFill>
              </a:rPr>
              <a:t>社外秘を書くなら共有範囲を確認</a:t>
            </a:r>
            <a:endParaRPr lang="en-US" sz="1600" dirty="0"/>
          </a:p>
          <a:p>
            <a:pPr marL="203200" indent="-203200">
              <a:spcAft>
                <a:spcPts val="600"/>
              </a:spcAft>
              <a:buSzPct val="100000"/>
              <a:buChar char="●"/>
            </a:pPr>
            <a:r>
              <a:rPr lang="en-US" sz="1600" dirty="0">
                <a:solidFill>
                  <a:srgbClr val="1F2933"/>
                </a:solidFill>
              </a:rPr>
              <a:t>外部連携は正式な接続機能（MCP・コネクタ）で</a:t>
            </a:r>
            <a:endParaRPr lang="en-US" sz="1600" dirty="0"/>
          </a:p>
        </p:txBody>
      </p:sp>
      <p:sp>
        <p:nvSpPr>
          <p:cNvPr id="10" name="card-3"/>
          <p:cNvSpPr/>
          <p:nvPr/>
        </p:nvSpPr>
        <p:spPr>
          <a:xfrm>
            <a:off x="8127797" y="1325880"/>
            <a:ext cx="3515258" cy="4892040"/>
          </a:xfrm>
          <a:prstGeom prst="roundRect">
            <a:avLst>
              <a:gd name="adj" fmla="val 3121"/>
            </a:avLst>
          </a:prstGeom>
          <a:solidFill>
            <a:srgbClr val="E6F0F2"/>
          </a:solidFill>
          <a:ln w="12700">
            <a:solidFill>
              <a:srgbClr val="E6F0F2"/>
            </a:solidFill>
            <a:prstDash val="solid"/>
          </a:ln>
        </p:spPr>
      </p:sp>
      <p:sp>
        <p:nvSpPr>
          <p:cNvPr id="11" name="Text 8"/>
          <p:cNvSpPr txBox="1"/>
          <p:nvPr/>
        </p:nvSpPr>
        <p:spPr>
          <a:xfrm>
            <a:off x="8356397"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更新と版管理</a:t>
            </a:r>
            <a:endParaRPr lang="en-US" sz="2000" dirty="0"/>
          </a:p>
        </p:txBody>
      </p:sp>
      <p:sp>
        <p:nvSpPr>
          <p:cNvPr id="12" name="Text 9"/>
          <p:cNvSpPr txBox="1"/>
          <p:nvPr/>
        </p:nvSpPr>
        <p:spPr>
          <a:xfrm>
            <a:off x="8356397" y="2103120"/>
            <a:ext cx="3058058"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metadata に版数（version: "1.1"）</a:t>
            </a:r>
            <a:endParaRPr lang="en-US" sz="1600" dirty="0"/>
          </a:p>
          <a:p>
            <a:pPr marL="203200" indent="-203200">
              <a:spcAft>
                <a:spcPts val="600"/>
              </a:spcAft>
              <a:buSzPct val="100000"/>
              <a:buChar char="●"/>
            </a:pPr>
            <a:r>
              <a:rPr lang="en-US" sz="1600" dirty="0">
                <a:solidFill>
                  <a:srgbClr val="1F2933"/>
                </a:solidFill>
              </a:rPr>
              <a:t>変更したらテストをやり直す</a:t>
            </a:r>
            <a:endParaRPr lang="en-US" sz="1600" dirty="0"/>
          </a:p>
          <a:p>
            <a:pPr marL="203200" indent="-203200">
              <a:spcAft>
                <a:spcPts val="600"/>
              </a:spcAft>
              <a:buSzPct val="100000"/>
              <a:buChar char="●"/>
            </a:pPr>
            <a:r>
              <a:rPr lang="en-US" sz="1600" dirty="0">
                <a:solidFill>
                  <a:srgbClr val="1F2933"/>
                </a:solidFill>
              </a:rPr>
              <a:t>共有先にも新版が届くので影響が大きい変更は事前に知らせる</a:t>
            </a:r>
            <a:endParaRPr lang="en-US" sz="1600" dirty="0"/>
          </a:p>
          <a:p>
            <a:pPr marL="203200" indent="-203200">
              <a:spcAft>
                <a:spcPts val="600"/>
              </a:spcAft>
              <a:buSzPct val="100000"/>
              <a:buChar char="●"/>
            </a:pPr>
            <a:r>
              <a:rPr lang="en-US" sz="1600" dirty="0">
                <a:solidFill>
                  <a:srgbClr val="1F2933"/>
                </a:solidFill>
              </a:rPr>
              <a:t>リポジトリならGitで履歴管理</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14. よくある失敗と対処</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560320"/>
                <a:gridCol w="4206240"/>
                <a:gridCol w="4325112"/>
              </a:tblGrid>
              <a:tr h="457200">
                <a:tc>
                  <a:txBody>
                    <a:bodyPr/>
                    <a:lstStyle/>
                    <a:p>
                      <a:pPr indent="0" marL="0">
                        <a:buNone/>
                      </a:pPr>
                      <a:r>
                        <a:rPr lang="en-US" sz="1400" b="1" dirty="0">
                          <a:solidFill>
                            <a:srgbClr val="0F4C5C"/>
                          </a:solidFill>
                        </a:rPr>
                        <a:t>症状</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よくある原因</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対処</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一覧に出ない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ファイル名が SKILL.md でない（skill.md.txt）</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拡張子を表示して直す</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一覧に出ない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置き場所の階層・ZIPの構造が違う</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skills/名前/SKILL.md の形に／フォルダ自体を圧縮</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アップロードでエラー</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name に大文字・日本語・空白／使えない項目</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英小文字・数字・ハイフンに／共通の項目だけに</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使われない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description に頼み方の言葉がない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実際の言い方を足す</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余計な場面で使われる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description が広すぎる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対象を絞る。「〜には使わない」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手順を飛ばす</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本文が長すぎる、理由がない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詳細を references/ へ。理由を書く</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付属ファイルが読まれない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リンクがない、階層が深い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SKILL.md から直接リンク</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15. 作成チェックリスト</a:t>
            </a:r>
            <a:endParaRPr lang="en-US" sz="3000" dirty="0"/>
          </a:p>
        </p:txBody>
      </p:sp>
      <p:sp>
        <p:nvSpPr>
          <p:cNvPr id="4" name="card-1"/>
          <p:cNvSpPr/>
          <p:nvPr/>
        </p:nvSpPr>
        <p:spPr>
          <a:xfrm>
            <a:off x="548640" y="1325880"/>
            <a:ext cx="2567864" cy="4892040"/>
          </a:xfrm>
          <a:prstGeom prst="roundRect">
            <a:avLst>
              <a:gd name="adj" fmla="val 4273"/>
            </a:avLst>
          </a:prstGeom>
          <a:solidFill>
            <a:srgbClr val="E6F0F2"/>
          </a:solidFill>
          <a:ln w="12700">
            <a:solidFill>
              <a:srgbClr val="E6F0F2"/>
            </a:solidFill>
            <a:prstDash val="solid"/>
          </a:ln>
        </p:spPr>
      </p:sp>
      <p:sp>
        <p:nvSpPr>
          <p:cNvPr id="5" name="Text 2"/>
          <p:cNvSpPr txBox="1"/>
          <p:nvPr/>
        </p:nvSpPr>
        <p:spPr>
          <a:xfrm>
            <a:off x="777240"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形式</a:t>
            </a:r>
            <a:endParaRPr lang="en-US" sz="2000" dirty="0"/>
          </a:p>
        </p:txBody>
      </p:sp>
      <p:sp>
        <p:nvSpPr>
          <p:cNvPr id="6" name="Text 3"/>
          <p:cNvSpPr txBox="1"/>
          <p:nvPr/>
        </p:nvSpPr>
        <p:spPr>
          <a:xfrm>
            <a:off x="777240"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ファイル名は SKILL.md</a:t>
            </a:r>
            <a:endParaRPr lang="en-US" sz="1600" dirty="0"/>
          </a:p>
          <a:p>
            <a:pPr marL="203200" indent="-203200">
              <a:spcAft>
                <a:spcPts val="600"/>
              </a:spcAft>
              <a:buSzPct val="100000"/>
              <a:buChar char="●"/>
            </a:pPr>
            <a:r>
              <a:rPr lang="en-US" sz="1600" dirty="0">
                <a:solidFill>
                  <a:srgbClr val="1F2933"/>
                </a:solidFill>
              </a:rPr>
              <a:t>1行目が ---</a:t>
            </a:r>
            <a:endParaRPr lang="en-US" sz="1600" dirty="0"/>
          </a:p>
          <a:p>
            <a:pPr marL="203200" indent="-203200">
              <a:spcAft>
                <a:spcPts val="600"/>
              </a:spcAft>
              <a:buSzPct val="100000"/>
              <a:buChar char="●"/>
            </a:pPr>
            <a:r>
              <a:rPr lang="en-US" sz="1600" dirty="0">
                <a:solidFill>
                  <a:srgbClr val="1F2933"/>
                </a:solidFill>
              </a:rPr>
              <a:t>name はフォルダ名と一致</a:t>
            </a:r>
            <a:endParaRPr lang="en-US" sz="1600" dirty="0"/>
          </a:p>
          <a:p>
            <a:pPr marL="203200" indent="-203200">
              <a:spcAft>
                <a:spcPts val="600"/>
              </a:spcAft>
              <a:buSzPct val="100000"/>
              <a:buChar char="●"/>
            </a:pPr>
            <a:r>
              <a:rPr lang="en-US" sz="1600" dirty="0">
                <a:solidFill>
                  <a:srgbClr val="1F2933"/>
                </a:solidFill>
              </a:rPr>
              <a:t>description 200文字以内</a:t>
            </a:r>
            <a:endParaRPr lang="en-US" sz="1600" dirty="0"/>
          </a:p>
        </p:txBody>
      </p:sp>
      <p:sp>
        <p:nvSpPr>
          <p:cNvPr id="7" name="card-2"/>
          <p:cNvSpPr/>
          <p:nvPr/>
        </p:nvSpPr>
        <p:spPr>
          <a:xfrm>
            <a:off x="3390824" y="1325880"/>
            <a:ext cx="2567864" cy="4892040"/>
          </a:xfrm>
          <a:prstGeom prst="roundRect">
            <a:avLst>
              <a:gd name="adj" fmla="val 4273"/>
            </a:avLst>
          </a:prstGeom>
          <a:solidFill>
            <a:srgbClr val="E6F0F2"/>
          </a:solidFill>
          <a:ln w="12700">
            <a:solidFill>
              <a:srgbClr val="E6F0F2"/>
            </a:solidFill>
            <a:prstDash val="solid"/>
          </a:ln>
        </p:spPr>
      </p:sp>
      <p:sp>
        <p:nvSpPr>
          <p:cNvPr id="8" name="Text 5"/>
          <p:cNvSpPr txBox="1"/>
          <p:nvPr/>
        </p:nvSpPr>
        <p:spPr>
          <a:xfrm>
            <a:off x="3619424"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内容</a:t>
            </a:r>
            <a:endParaRPr lang="en-US" sz="2000" dirty="0"/>
          </a:p>
        </p:txBody>
      </p:sp>
      <p:sp>
        <p:nvSpPr>
          <p:cNvPr id="9" name="Text 6"/>
          <p:cNvSpPr txBox="1"/>
          <p:nvPr/>
        </p:nvSpPr>
        <p:spPr>
          <a:xfrm>
            <a:off x="3619424"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何を＋いつ使うか</a:t>
            </a:r>
            <a:endParaRPr lang="en-US" sz="1600" dirty="0"/>
          </a:p>
          <a:p>
            <a:pPr marL="203200" indent="-203200">
              <a:spcAft>
                <a:spcPts val="600"/>
              </a:spcAft>
              <a:buSzPct val="100000"/>
              <a:buChar char="●"/>
            </a:pPr>
            <a:r>
              <a:rPr lang="en-US" sz="1600" dirty="0">
                <a:solidFill>
                  <a:srgbClr val="1F2933"/>
                </a:solidFill>
              </a:rPr>
              <a:t>利用者の言葉が入っている</a:t>
            </a:r>
            <a:endParaRPr lang="en-US" sz="1600" dirty="0"/>
          </a:p>
          <a:p>
            <a:pPr marL="203200" indent="-203200">
              <a:spcAft>
                <a:spcPts val="600"/>
              </a:spcAft>
              <a:buSzPct val="100000"/>
              <a:buChar char="●"/>
            </a:pPr>
            <a:r>
              <a:rPr lang="en-US" sz="1600" dirty="0">
                <a:solidFill>
                  <a:srgbClr val="1F2933"/>
                </a:solidFill>
              </a:rPr>
              <a:t>本文500行以内</a:t>
            </a:r>
            <a:endParaRPr lang="en-US" sz="1600" dirty="0"/>
          </a:p>
          <a:p>
            <a:pPr marL="203200" indent="-203200">
              <a:spcAft>
                <a:spcPts val="600"/>
              </a:spcAft>
              <a:buSzPct val="100000"/>
              <a:buChar char="●"/>
            </a:pPr>
            <a:r>
              <a:rPr lang="en-US" sz="1600" dirty="0">
                <a:solidFill>
                  <a:srgbClr val="1F2933"/>
                </a:solidFill>
              </a:rPr>
              <a:t>理由と具体例がある</a:t>
            </a:r>
            <a:endParaRPr lang="en-US" sz="1600" dirty="0"/>
          </a:p>
        </p:txBody>
      </p:sp>
      <p:sp>
        <p:nvSpPr>
          <p:cNvPr id="10" name="card-3"/>
          <p:cNvSpPr/>
          <p:nvPr/>
        </p:nvSpPr>
        <p:spPr>
          <a:xfrm>
            <a:off x="6233008" y="1325880"/>
            <a:ext cx="2567864" cy="4892040"/>
          </a:xfrm>
          <a:prstGeom prst="roundRect">
            <a:avLst>
              <a:gd name="adj" fmla="val 4273"/>
            </a:avLst>
          </a:prstGeom>
          <a:solidFill>
            <a:srgbClr val="E6F0F2"/>
          </a:solidFill>
          <a:ln w="12700">
            <a:solidFill>
              <a:srgbClr val="E6F0F2"/>
            </a:solidFill>
            <a:prstDash val="solid"/>
          </a:ln>
        </p:spPr>
      </p:sp>
      <p:sp>
        <p:nvSpPr>
          <p:cNvPr id="11" name="Text 8"/>
          <p:cNvSpPr txBox="1"/>
          <p:nvPr/>
        </p:nvSpPr>
        <p:spPr>
          <a:xfrm>
            <a:off x="6461608"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テスト</a:t>
            </a:r>
            <a:endParaRPr lang="en-US" sz="2000" dirty="0"/>
          </a:p>
        </p:txBody>
      </p:sp>
      <p:sp>
        <p:nvSpPr>
          <p:cNvPr id="12" name="Text 9"/>
          <p:cNvSpPr txBox="1"/>
          <p:nvPr/>
        </p:nvSpPr>
        <p:spPr>
          <a:xfrm>
            <a:off x="6461608"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使われるべき頼み方3つ以上</a:t>
            </a:r>
            <a:endParaRPr lang="en-US" sz="1600" dirty="0"/>
          </a:p>
          <a:p>
            <a:pPr marL="203200" indent="-203200">
              <a:spcAft>
                <a:spcPts val="600"/>
              </a:spcAft>
              <a:buSzPct val="100000"/>
              <a:buChar char="●"/>
            </a:pPr>
            <a:r>
              <a:rPr lang="en-US" sz="1600" dirty="0">
                <a:solidFill>
                  <a:srgbClr val="1F2933"/>
                </a:solidFill>
              </a:rPr>
              <a:t>紛らわしい頼み方</a:t>
            </a:r>
            <a:endParaRPr lang="en-US" sz="1600" dirty="0"/>
          </a:p>
          <a:p>
            <a:pPr marL="203200" indent="-203200">
              <a:spcAft>
                <a:spcPts val="600"/>
              </a:spcAft>
              <a:buSzPct val="100000"/>
              <a:buChar char="●"/>
            </a:pPr>
            <a:r>
              <a:rPr lang="en-US" sz="1600" dirty="0">
                <a:solidFill>
                  <a:srgbClr val="1F2933"/>
                </a:solidFill>
              </a:rPr>
              <a:t>成功基準を満たす</a:t>
            </a:r>
            <a:endParaRPr lang="en-US" sz="1600" dirty="0"/>
          </a:p>
          <a:p>
            <a:pPr marL="203200" indent="-203200">
              <a:spcAft>
                <a:spcPts val="600"/>
              </a:spcAft>
              <a:buSzPct val="100000"/>
              <a:buChar char="●"/>
            </a:pPr>
            <a:r>
              <a:rPr lang="en-US" sz="1600" dirty="0">
                <a:solidFill>
                  <a:srgbClr val="1F2933"/>
                </a:solidFill>
              </a:rPr>
              <a:t>使う全環境・モデルで</a:t>
            </a:r>
            <a:endParaRPr lang="en-US" sz="1600" dirty="0"/>
          </a:p>
        </p:txBody>
      </p:sp>
      <p:sp>
        <p:nvSpPr>
          <p:cNvPr id="13" name="card-4"/>
          <p:cNvSpPr/>
          <p:nvPr/>
        </p:nvSpPr>
        <p:spPr>
          <a:xfrm>
            <a:off x="9075191" y="1325880"/>
            <a:ext cx="2567864" cy="4892040"/>
          </a:xfrm>
          <a:prstGeom prst="roundRect">
            <a:avLst>
              <a:gd name="adj" fmla="val 4273"/>
            </a:avLst>
          </a:prstGeom>
          <a:solidFill>
            <a:srgbClr val="FFF1E7"/>
          </a:solidFill>
          <a:ln w="12700">
            <a:solidFill>
              <a:srgbClr val="E36414"/>
            </a:solidFill>
            <a:prstDash val="solid"/>
          </a:ln>
        </p:spPr>
      </p:sp>
      <p:sp>
        <p:nvSpPr>
          <p:cNvPr id="14" name="Text 11"/>
          <p:cNvSpPr txBox="1"/>
          <p:nvPr/>
        </p:nvSpPr>
        <p:spPr>
          <a:xfrm>
            <a:off x="9303791" y="1508760"/>
            <a:ext cx="2110664" cy="457200"/>
          </a:xfrm>
          <a:prstGeom prst="rect">
            <a:avLst/>
          </a:prstGeom>
          <a:noFill/>
          <a:ln/>
        </p:spPr>
        <p:txBody>
          <a:bodyPr wrap="square" lIns="0" tIns="0" rIns="0" bIns="0" rtlCol="0" anchor="ctr"/>
          <a:lstStyle/>
          <a:p>
            <a:pPr indent="0" marL="0">
              <a:buNone/>
            </a:pPr>
            <a:r>
              <a:rPr lang="en-US" sz="2000" b="1" dirty="0">
                <a:solidFill>
                  <a:srgbClr val="0F4C5C"/>
                </a:solidFill>
              </a:rPr>
              <a:t>安全</a:t>
            </a:r>
            <a:endParaRPr lang="en-US" sz="2000" dirty="0"/>
          </a:p>
        </p:txBody>
      </p:sp>
      <p:sp>
        <p:nvSpPr>
          <p:cNvPr id="15" name="Text 12"/>
          <p:cNvSpPr txBox="1"/>
          <p:nvPr/>
        </p:nvSpPr>
        <p:spPr>
          <a:xfrm>
            <a:off x="9303791" y="2103120"/>
            <a:ext cx="2110664"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秘密情報を含まない</a:t>
            </a:r>
            <a:endParaRPr lang="en-US" sz="1600" dirty="0"/>
          </a:p>
          <a:p>
            <a:pPr marL="203200" indent="-203200">
              <a:spcAft>
                <a:spcPts val="600"/>
              </a:spcAft>
              <a:buSzPct val="100000"/>
              <a:buChar char="●"/>
            </a:pPr>
            <a:r>
              <a:rPr lang="en-US" sz="1600" dirty="0">
                <a:solidFill>
                  <a:srgbClr val="1F2933"/>
                </a:solidFill>
              </a:rPr>
              <a:t>スクリプトの動作を理解</a:t>
            </a:r>
            <a:endParaRPr lang="en-US" sz="1600" dirty="0"/>
          </a:p>
          <a:p>
            <a:pPr marL="203200" indent="-203200">
              <a:spcAft>
                <a:spcPts val="600"/>
              </a:spcAft>
              <a:buSzPct val="100000"/>
              <a:buChar char="●"/>
            </a:pPr>
            <a:r>
              <a:rPr lang="en-US" sz="1600" dirty="0">
                <a:solidFill>
                  <a:srgbClr val="1F2933"/>
                </a:solidFill>
              </a:rPr>
              <a:t>共有範囲が適切</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作例: 議事録Skill（meeting-minutes）</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364328" cy="914400"/>
        </p:xfrm>
        <a:graphic>
          <a:graphicData uri="http://schemas.openxmlformats.org/drawingml/2006/table">
            <a:tbl>
              <a:tblPr/>
              <a:tblGrid>
                <a:gridCol w="3108960"/>
                <a:gridCol w="2258568"/>
              </a:tblGrid>
              <a:tr h="457200">
                <a:tc>
                  <a:txBody>
                    <a:bodyPr/>
                    <a:lstStyle/>
                    <a:p>
                      <a:pPr indent="0" marL="0">
                        <a:buNone/>
                      </a:pPr>
                      <a:r>
                        <a:rPr lang="en-US" sz="1400" b="1" dirty="0">
                          <a:solidFill>
                            <a:srgbClr val="0F4C5C"/>
                          </a:solidFill>
                        </a:rPr>
                        <a:t>工夫</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ねらい</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頼み方を複数書く</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言い換えにも反応させる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状況も書く（文字起こしの貼り付け）</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明示的に頼まれなくても使わせる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理由を書く（証拠として読まれるため）</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想定外の場面でも正しく判断させる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不明時は「要確認」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情報の捏造を防ぐ</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書式を references/ に分ける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本文を短く保つ</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共通の項目だけ使う</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どの環境でもそのまま使える</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5" name="Text 1"/>
          <p:cNvSpPr txBox="1"/>
          <p:nvPr/>
        </p:nvSpPr>
        <p:spPr>
          <a:xfrm>
            <a:off x="6278728" y="1325880"/>
            <a:ext cx="5364328" cy="365760"/>
          </a:xfrm>
          <a:prstGeom prst="rect">
            <a:avLst/>
          </a:prstGeom>
          <a:noFill/>
          <a:ln/>
        </p:spPr>
        <p:txBody>
          <a:bodyPr wrap="square" lIns="0" tIns="0" rIns="0" bIns="0" rtlCol="0" anchor="t"/>
          <a:lstStyle/>
          <a:p>
            <a:pPr indent="0" marL="0">
              <a:buNone/>
            </a:pPr>
            <a:r>
              <a:rPr lang="en-US" sz="1800" b="1" dirty="0">
                <a:solidFill>
                  <a:srgbClr val="0F4C5C"/>
                </a:solidFill>
              </a:rPr>
              <a:t>動作確認（Claude Code 2.1.302）</a:t>
            </a:r>
            <a:endParaRPr lang="en-US" sz="1800" dirty="0"/>
          </a:p>
        </p:txBody>
      </p:sp>
      <p:sp>
        <p:nvSpPr>
          <p:cNvPr id="6" name="card-1"/>
          <p:cNvSpPr/>
          <p:nvPr/>
        </p:nvSpPr>
        <p:spPr>
          <a:xfrm>
            <a:off x="6278728" y="1783080"/>
            <a:ext cx="5364328" cy="1127760"/>
          </a:xfrm>
          <a:prstGeom prst="roundRect">
            <a:avLst>
              <a:gd name="adj" fmla="val 9730"/>
            </a:avLst>
          </a:prstGeom>
          <a:solidFill>
            <a:srgbClr val="E6F0F2"/>
          </a:solidFill>
          <a:ln w="12700">
            <a:solidFill>
              <a:srgbClr val="E6F0F2"/>
            </a:solidFill>
            <a:prstDash val="solid"/>
          </a:ln>
        </p:spPr>
      </p:sp>
      <p:sp>
        <p:nvSpPr>
          <p:cNvPr id="7" name="Text 3"/>
          <p:cNvSpPr txBox="1"/>
          <p:nvPr/>
        </p:nvSpPr>
        <p:spPr>
          <a:xfrm>
            <a:off x="6507328" y="1965960"/>
            <a:ext cx="4907128" cy="457200"/>
          </a:xfrm>
          <a:prstGeom prst="rect">
            <a:avLst/>
          </a:prstGeom>
          <a:noFill/>
          <a:ln/>
        </p:spPr>
        <p:txBody>
          <a:bodyPr wrap="square" lIns="0" tIns="0" rIns="0" bIns="0" rtlCol="0" anchor="ctr"/>
          <a:lstStyle/>
          <a:p>
            <a:pPr indent="0" marL="0">
              <a:buNone/>
            </a:pPr>
            <a:r>
              <a:rPr lang="en-US" sz="1700" b="1" dirty="0">
                <a:solidFill>
                  <a:srgbClr val="0F4C5C"/>
                </a:solidFill>
              </a:rPr>
              <a:t>「整理しておいて」＋会議メモ</a:t>
            </a:r>
            <a:endParaRPr lang="en-US" sz="1700" dirty="0"/>
          </a:p>
        </p:txBody>
      </p:sp>
      <p:sp>
        <p:nvSpPr>
          <p:cNvPr id="8" name="Text 4"/>
          <p:cNvSpPr txBox="1"/>
          <p:nvPr/>
        </p:nvSpPr>
        <p:spPr>
          <a:xfrm>
            <a:off x="6507328" y="2560320"/>
            <a:ext cx="4907128" cy="21336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Skillが使われ、書式どおりに出力</a:t>
            </a:r>
            <a:endParaRPr lang="en-US" sz="1600" dirty="0"/>
          </a:p>
        </p:txBody>
      </p:sp>
      <p:sp>
        <p:nvSpPr>
          <p:cNvPr id="9" name="card-2"/>
          <p:cNvSpPr/>
          <p:nvPr/>
        </p:nvSpPr>
        <p:spPr>
          <a:xfrm>
            <a:off x="6278728" y="3185160"/>
            <a:ext cx="5364328" cy="1127760"/>
          </a:xfrm>
          <a:prstGeom prst="roundRect">
            <a:avLst>
              <a:gd name="adj" fmla="val 9730"/>
            </a:avLst>
          </a:prstGeom>
          <a:solidFill>
            <a:srgbClr val="E6F0F2"/>
          </a:solidFill>
          <a:ln w="12700">
            <a:solidFill>
              <a:srgbClr val="E6F0F2"/>
            </a:solidFill>
            <a:prstDash val="solid"/>
          </a:ln>
        </p:spPr>
      </p:sp>
      <p:sp>
        <p:nvSpPr>
          <p:cNvPr id="10" name="Text 6"/>
          <p:cNvSpPr txBox="1"/>
          <p:nvPr/>
        </p:nvSpPr>
        <p:spPr>
          <a:xfrm>
            <a:off x="6507328" y="3368040"/>
            <a:ext cx="4907128" cy="457200"/>
          </a:xfrm>
          <a:prstGeom prst="rect">
            <a:avLst/>
          </a:prstGeom>
          <a:noFill/>
          <a:ln/>
        </p:spPr>
        <p:txBody>
          <a:bodyPr wrap="square" lIns="0" tIns="0" rIns="0" bIns="0" rtlCol="0" anchor="ctr"/>
          <a:lstStyle/>
          <a:p>
            <a:pPr indent="0" marL="0">
              <a:buNone/>
            </a:pPr>
            <a:r>
              <a:rPr lang="en-US" sz="1700" b="1" dirty="0">
                <a:solidFill>
                  <a:srgbClr val="0F4C5C"/>
                </a:solidFill>
              </a:rPr>
              <a:t>「議事録を書くコツを教えて」</a:t>
            </a:r>
            <a:endParaRPr lang="en-US" sz="1700" dirty="0"/>
          </a:p>
        </p:txBody>
      </p:sp>
      <p:sp>
        <p:nvSpPr>
          <p:cNvPr id="11" name="Text 7"/>
          <p:cNvSpPr txBox="1"/>
          <p:nvPr/>
        </p:nvSpPr>
        <p:spPr>
          <a:xfrm>
            <a:off x="6507328" y="3962400"/>
            <a:ext cx="4907128" cy="21336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Skillは使われず、通常の回答（期待どおり）</a:t>
            </a:r>
            <a:endParaRPr lang="en-US" sz="1600" dirty="0"/>
          </a:p>
        </p:txBody>
      </p:sp>
      <p:sp>
        <p:nvSpPr>
          <p:cNvPr id="12" name="card-3"/>
          <p:cNvSpPr/>
          <p:nvPr/>
        </p:nvSpPr>
        <p:spPr>
          <a:xfrm>
            <a:off x="6278728" y="4587240"/>
            <a:ext cx="5364328" cy="1127760"/>
          </a:xfrm>
          <a:prstGeom prst="roundRect">
            <a:avLst>
              <a:gd name="adj" fmla="val 9730"/>
            </a:avLst>
          </a:prstGeom>
          <a:solidFill>
            <a:srgbClr val="FFF1E7"/>
          </a:solidFill>
          <a:ln w="12700">
            <a:solidFill>
              <a:srgbClr val="E36414"/>
            </a:solidFill>
            <a:prstDash val="solid"/>
          </a:ln>
        </p:spPr>
      </p:sp>
      <p:sp>
        <p:nvSpPr>
          <p:cNvPr id="13" name="Text 9"/>
          <p:cNvSpPr txBox="1"/>
          <p:nvPr/>
        </p:nvSpPr>
        <p:spPr>
          <a:xfrm>
            <a:off x="6507328" y="4770120"/>
            <a:ext cx="4907128" cy="457200"/>
          </a:xfrm>
          <a:prstGeom prst="rect">
            <a:avLst/>
          </a:prstGeom>
          <a:noFill/>
          <a:ln/>
        </p:spPr>
        <p:txBody>
          <a:bodyPr wrap="square" lIns="0" tIns="0" rIns="0" bIns="0" rtlCol="0" anchor="ctr"/>
          <a:lstStyle/>
          <a:p>
            <a:pPr indent="0" marL="0">
              <a:buNone/>
            </a:pPr>
            <a:r>
              <a:rPr lang="en-US" sz="1700" b="1" dirty="0">
                <a:solidFill>
                  <a:srgbClr val="0F4C5C"/>
                </a:solidFill>
              </a:rPr>
              <a:t>他の4環境</a:t>
            </a:r>
            <a:endParaRPr lang="en-US" sz="1700" dirty="0"/>
          </a:p>
        </p:txBody>
      </p:sp>
      <p:sp>
        <p:nvSpPr>
          <p:cNvPr id="14" name="Text 10"/>
          <p:cNvSpPr txBox="1"/>
          <p:nvPr/>
        </p:nvSpPr>
        <p:spPr>
          <a:xfrm>
            <a:off x="6507328" y="5364480"/>
            <a:ext cx="4907128" cy="213360"/>
          </a:xfrm>
          <a:prstGeom prst="rect">
            <a:avLst/>
          </a:prstGeom>
          <a:noFill/>
          <a:ln/>
        </p:spPr>
        <p:txBody>
          <a:bodyPr wrap="square" lIns="0" tIns="0" rIns="0" bIns="0" rtlCol="0" anchor="t"/>
          <a:lstStyle/>
          <a:p>
            <a:pPr indent="0" marL="0">
              <a:spcAft>
                <a:spcPts val="600"/>
              </a:spcAft>
              <a:buNone/>
            </a:pPr>
            <a:r>
              <a:rPr lang="en-US" sz="1600" dirty="0">
                <a:solidFill>
                  <a:srgbClr val="1F2933"/>
                </a:solidFill>
              </a:rPr>
              <a:t>未確認</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用語集（抜粋）</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364328" cy="914400"/>
        </p:xfrm>
        <a:graphic>
          <a:graphicData uri="http://schemas.openxmlformats.org/drawingml/2006/table">
            <a:tbl>
              <a:tblPr/>
              <a:tblGrid>
                <a:gridCol w="2011680"/>
                <a:gridCol w="3355848"/>
              </a:tblGrid>
              <a:tr h="457200">
                <a:tc>
                  <a:txBody>
                    <a:bodyPr/>
                    <a:lstStyle/>
                    <a:p>
                      <a:pPr indent="0" marL="0">
                        <a:buNone/>
                      </a:pPr>
                      <a:r>
                        <a:rPr lang="en-US" sz="1400" b="1" dirty="0">
                          <a:solidFill>
                            <a:srgbClr val="0F4C5C"/>
                          </a:solidFill>
                        </a:rPr>
                        <a:t>用語</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意味</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AIエージェント</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道具を使い、目的を達成するまで自分で作業を進めるAI</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Skill / SKILL.md</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AIに渡す業務マニュアル／その本体ファイル</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フロントマター / YAML</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ファイル先頭の --- で囲んだ表紙情報／「項目名: 値」の書き方</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Markdown</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 や - の記号で見出しや箇条書きを表す書き方（.md）</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graphicFrame>
        <p:nvGraphicFramePr>
          <p:cNvPr id="89" name="Table 1"/>
          <p:cNvGraphicFramePr>
            <a:graphicFrameLocks noGrp="1"/>
          </p:cNvGraphicFramePr>
          <p:nvPr>
            <p:extLst>
              <p:ext uri="{D42A27DB-BD31-4B8C-83A1-F6EECF244321}">
                <p14:modId xmlns:p14="http://schemas.microsoft.com/office/powerpoint/2010/main" val="1579011935"/>
              </p:ext>
            </p:extLst>
          </p:nvPr>
        </p:nvGraphicFramePr>
        <p:xfrm>
          <a:off x="6278728" y="1325880"/>
          <a:ext cx="5364328" cy="914400"/>
        </p:xfrm>
        <a:graphic>
          <a:graphicData uri="http://schemas.openxmlformats.org/drawingml/2006/table">
            <a:tbl>
              <a:tblPr/>
              <a:tblGrid>
                <a:gridCol w="2194560"/>
                <a:gridCol w="3172968"/>
              </a:tblGrid>
              <a:tr h="457200">
                <a:tc>
                  <a:txBody>
                    <a:bodyPr/>
                    <a:lstStyle/>
                    <a:p>
                      <a:pPr indent="0" marL="0">
                        <a:buNone/>
                      </a:pPr>
                      <a:r>
                        <a:rPr lang="en-US" sz="1400" b="1" dirty="0">
                          <a:solidFill>
                            <a:srgbClr val="0F4C5C"/>
                          </a:solidFill>
                        </a:rPr>
                        <a:t>用語</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意味</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リポジトリ</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変更履歴ごと管理する保管場所（GitHubなど）</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コンテキスト / トークン</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AIが一度に扱える情報／それを数える単位</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MCP / コネクタ</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AIを外部サービスとつなぐ仕組み</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プロンプトインジェクション</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紛れ込ませた指示でAIに意図しない動作をさせる攻撃</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出典と確認しきれなかった点</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364328" cy="914400"/>
        </p:xfrm>
        <a:graphic>
          <a:graphicData uri="http://schemas.openxmlformats.org/drawingml/2006/table">
            <a:tbl>
              <a:tblPr/>
              <a:tblGrid>
                <a:gridCol w="3566160"/>
                <a:gridCol w="1801368"/>
              </a:tblGrid>
              <a:tr h="457200">
                <a:tc>
                  <a:txBody>
                    <a:bodyPr/>
                    <a:lstStyle/>
                    <a:p>
                      <a:pPr indent="0" marL="0">
                        <a:buNone/>
                      </a:pPr>
                      <a:r>
                        <a:rPr lang="en-US" sz="1400" b="1" dirty="0">
                          <a:solidFill>
                            <a:srgbClr val="0F4C5C"/>
                          </a:solidFill>
                        </a:rPr>
                        <a:t>資料（発行元）</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400" b="1" dirty="0">
                          <a:solidFill>
                            <a:srgbClr val="0F4C5C"/>
                          </a:solidFill>
                        </a:rPr>
                        <a:t>確認方法</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400" dirty="0">
                          <a:solidFill>
                            <a:srgbClr val="1F2933"/>
                          </a:solidFill>
                        </a:rPr>
                        <a:t>Agent Skills 仕様（Agent Skills プロジェクト）</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GitHub上の原稿を閲覧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Use skills in Claude／How to create custom skills（Anthropic）</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直接閲覧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Skill authoring best practices／Claude Code Skills（Anthropic）</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直接閲覧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Agent Skills – Codex（OpenAI）</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検索結果とOpenAIのGitHub資料</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400" dirty="0">
                          <a:solidFill>
                            <a:srgbClr val="1F2933"/>
                          </a:solidFill>
                        </a:rPr>
                        <a:t>Skills in ChatGPT（OpenAI）</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検索結果の抜粋のみ</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3"/>
                          </a:solidFill>
                        </a:rPr>
                        <a:t>About / Adding agent skills（GitHub）</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400" dirty="0">
                          <a:solidFill>
                            <a:srgbClr val="1F2933"/>
                          </a:solidFill>
                        </a:rPr>
                        <a:t>GitHub上の原稿を閲覧</a:t>
                      </a:r>
                      <a:endParaRPr lang="en-US" sz="14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5" name="card-1"/>
          <p:cNvSpPr/>
          <p:nvPr/>
        </p:nvSpPr>
        <p:spPr>
          <a:xfrm>
            <a:off x="6278728" y="1325880"/>
            <a:ext cx="5364328" cy="4892040"/>
          </a:xfrm>
          <a:prstGeom prst="roundRect">
            <a:avLst>
              <a:gd name="adj" fmla="val 2243"/>
            </a:avLst>
          </a:prstGeom>
          <a:solidFill>
            <a:srgbClr val="FFF1E7"/>
          </a:solidFill>
          <a:ln w="12700">
            <a:solidFill>
              <a:srgbClr val="E36414"/>
            </a:solidFill>
            <a:prstDash val="solid"/>
          </a:ln>
        </p:spPr>
      </p:sp>
      <p:sp>
        <p:nvSpPr>
          <p:cNvPr id="6" name="Text 2"/>
          <p:cNvSpPr txBox="1"/>
          <p:nvPr/>
        </p:nvSpPr>
        <p:spPr>
          <a:xfrm>
            <a:off x="6507328" y="1508760"/>
            <a:ext cx="4907128" cy="457200"/>
          </a:xfrm>
          <a:prstGeom prst="rect">
            <a:avLst/>
          </a:prstGeom>
          <a:noFill/>
          <a:ln/>
        </p:spPr>
        <p:txBody>
          <a:bodyPr wrap="square" lIns="0" tIns="0" rIns="0" bIns="0" rtlCol="0" anchor="ctr"/>
          <a:lstStyle/>
          <a:p>
            <a:pPr indent="0" marL="0">
              <a:buNone/>
            </a:pPr>
            <a:r>
              <a:rPr lang="en-US" sz="2000" b="1" dirty="0">
                <a:solidFill>
                  <a:srgbClr val="0F4C5C"/>
                </a:solidFill>
              </a:rPr>
              <a:t>要確認</a:t>
            </a:r>
            <a:endParaRPr lang="en-US" sz="2000" dirty="0"/>
          </a:p>
        </p:txBody>
      </p:sp>
      <p:sp>
        <p:nvSpPr>
          <p:cNvPr id="7" name="Text 3"/>
          <p:cNvSpPr txBox="1"/>
          <p:nvPr/>
        </p:nvSpPr>
        <p:spPr>
          <a:xfrm>
            <a:off x="6507328" y="2103120"/>
            <a:ext cx="4907128" cy="39776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3"/>
                </a:solidFill>
              </a:rPr>
              <a:t>ChatGPT Skillsの対象プラン（Plus/Pro）と画面のメニュー名</a:t>
            </a:r>
            <a:endParaRPr lang="en-US" sz="1600" dirty="0"/>
          </a:p>
          <a:p>
            <a:pPr marL="203200" indent="-203200">
              <a:spcAft>
                <a:spcPts val="600"/>
              </a:spcAft>
              <a:buSzPct val="100000"/>
              <a:buChar char="●"/>
            </a:pPr>
            <a:r>
              <a:rPr lang="en-US" sz="1600" dirty="0">
                <a:solidFill>
                  <a:srgbClr val="1F2933"/>
                </a:solidFill>
              </a:rPr>
              <a:t>ChatGPTにアップロードできるファイル形式</a:t>
            </a:r>
            <a:endParaRPr lang="en-US" sz="1600" dirty="0"/>
          </a:p>
          <a:p>
            <a:pPr marL="203200" indent="-203200">
              <a:spcAft>
                <a:spcPts val="600"/>
              </a:spcAft>
              <a:buSzPct val="100000"/>
              <a:buChar char="●"/>
            </a:pPr>
            <a:r>
              <a:rPr lang="en-US" sz="1600" dirty="0">
                <a:solidFill>
                  <a:srgbClr val="1F2933"/>
                </a:solidFill>
              </a:rPr>
              <a:t>Codex公式ページ本体の記述</a:t>
            </a:r>
            <a:endParaRPr lang="en-US" sz="1600" dirty="0"/>
          </a:p>
          <a:p>
            <a:pPr marL="203200" indent="-203200">
              <a:spcAft>
                <a:spcPts val="600"/>
              </a:spcAft>
              <a:buSzPct val="100000"/>
              <a:buChar char="●"/>
            </a:pPr>
            <a:r>
              <a:rPr lang="en-US" sz="1600" dirty="0">
                <a:solidFill>
                  <a:srgbClr val="1F2933"/>
                </a:solidFill>
              </a:rPr>
              <a:t>Claude.aiの description 上限（200字と1,024字で資料が異なる）</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4415" cy="1097280"/>
          </a:xfrm>
          <a:prstGeom prst="rect">
            <a:avLst/>
          </a:prstGeom>
          <a:noFill/>
          <a:ln/>
        </p:spPr>
        <p:txBody>
          <a:bodyPr wrap="square" lIns="0" tIns="0" rIns="0" bIns="0" rtlCol="0" anchor="b"/>
          <a:lstStyle/>
          <a:p>
            <a:pPr algn="l" indent="0" marL="0">
              <a:buNone/>
            </a:pPr>
            <a:r>
              <a:rPr lang="en-US" sz="4000" b="1" dirty="0">
                <a:solidFill>
                  <a:srgbClr val="FFFFFF"/>
                </a:solidFill>
              </a:rPr>
              <a:t>まずは1つ作ってみる</a:t>
            </a:r>
            <a:endParaRPr lang="en-US" sz="4000" dirty="0"/>
          </a:p>
        </p:txBody>
      </p:sp>
      <p:sp>
        <p:nvSpPr>
          <p:cNvPr id="3" name="Text 0"/>
          <p:cNvSpPr/>
          <p:nvPr>
            <p:ph idx="101" type="body" hasCustomPrompt="1"/>
          </p:nvPr>
        </p:nvSpPr>
        <p:spPr>
          <a:xfrm>
            <a:off x="548640" y="2834640"/>
            <a:ext cx="11094415" cy="3108960"/>
          </a:xfrm>
          <a:prstGeom prst="rect">
            <a:avLst/>
          </a:prstGeom>
          <a:noFill/>
          <a:ln/>
        </p:spPr>
        <p:txBody>
          <a:bodyPr wrap="square" lIns="0" tIns="0" rIns="0" bIns="0" rtlCol="0" anchor="t"/>
          <a:lstStyle/>
          <a:p>
            <a:pPr algn="l" indent="0" marL="0">
              <a:spcAft>
                <a:spcPts val="600"/>
              </a:spcAft>
              <a:buNone/>
            </a:pPr>
            <a:r>
              <a:rPr lang="en-US" sz="2200" dirty="0">
                <a:solidFill>
                  <a:srgbClr val="D7E6EA"/>
                </a:solidFill>
              </a:rPr>
              <a:t>1. 同じ説明を3回以上した作業を1つ選ぶ</a:t>
            </a:r>
            <a:endParaRPr lang="en-US" sz="2200" dirty="0"/>
          </a:p>
          <a:p>
            <a:pPr algn="l" indent="0" marL="0">
              <a:spcAft>
                <a:spcPts val="600"/>
              </a:spcAft>
              <a:buNone/>
            </a:pPr>
            <a:r>
              <a:rPr lang="en-US" sz="2200" dirty="0">
                <a:solidFill>
                  <a:srgbClr val="D7E6EA"/>
                </a:solidFill>
              </a:rPr>
              <a:t>2. Claude.ai か ChatGPT で「Skillを作って」と頼む</a:t>
            </a:r>
            <a:endParaRPr lang="en-US" sz="2200" dirty="0"/>
          </a:p>
          <a:p>
            <a:pPr algn="l" indent="0" marL="0">
              <a:spcAft>
                <a:spcPts val="600"/>
              </a:spcAft>
              <a:buNone/>
            </a:pPr>
            <a:r>
              <a:rPr lang="en-US" sz="2200" dirty="0">
                <a:solidFill>
                  <a:srgbClr val="D7E6EA"/>
                </a:solidFill>
              </a:rPr>
              <a:t>3. 新しい会話で試し、description を直す</a:t>
            </a:r>
            <a:endParaRPr lang="en-US" sz="2200" dirty="0"/>
          </a:p>
          <a:p>
            <a:pPr algn="l" indent="0" marL="0">
              <a:buNone/>
            </a:pPr>
            <a:r>
              <a:rPr lang="en-US" sz="2200" dirty="0">
                <a:solidFill>
                  <a:srgbClr val="D7E6EA"/>
                </a:solidFill>
              </a:rPr>
              <a:t>詳しくは Word版・docs/skill-guide.md を参照</a:t>
            </a:r>
            <a:endParaRPr lang="en-US"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Skill作成ガイド（詳細版）</dc:title>
  <dc:subject>PptxGenJS Presentation</dc:subject>
  <dc:creator>Claude Code</dc:creator>
  <cp:lastModifiedBy>Claude Code</cp:lastModifiedBy>
  <cp:revision>1</cp:revision>
  <dcterms:created xsi:type="dcterms:W3CDTF">2026-10-18T04:53:42Z</dcterms:created>
  <dcterms:modified xsi:type="dcterms:W3CDTF">2026-10-18T04:53:42Z</dcterms:modified>
</cp:coreProperties>
</file>